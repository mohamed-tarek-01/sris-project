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91" r:id="rId5"/>
    <p:sldId id="292"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94" r:id="rId33"/>
    <p:sldId id="285" r:id="rId34"/>
    <p:sldId id="286" r:id="rId35"/>
    <p:sldId id="287" r:id="rId36"/>
    <p:sldId id="288" r:id="rId37"/>
    <p:sldId id="289" r:id="rId38"/>
    <p:sldId id="290" r:id="rId39"/>
    <p:sldId id="293" r:id="rId4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C32"/>
    <a:srgbClr val="050042"/>
    <a:srgbClr val="060058"/>
    <a:srgbClr val="090F4B"/>
    <a:srgbClr val="001454"/>
    <a:srgbClr val="00010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9" autoAdjust="0"/>
    <p:restoredTop sz="94610"/>
  </p:normalViewPr>
  <p:slideViewPr>
    <p:cSldViewPr snapToGrid="0" snapToObjects="1">
      <p:cViewPr varScale="1">
        <p:scale>
          <a:sx n="123" d="100"/>
          <a:sy n="123" d="100"/>
        </p:scale>
        <p:origin x="96" y="1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2359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yourself and your team. Set the stage by emphasizing that SRIS is the first unified AI ecosystem of its kind.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Roads are the arteries of the economy, yet their management is stuck in the past. AI allows us to move from passive observation to active, intelligent management. Our goal: To build a system that sees, analyzes, and reports road conditions in real-time.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Currently, authorities rely heavily on manual inspections or citizen complaints. A pothole is usually only fixed after it damages multiple vehicles. Emergency services only respond to accidents after a bystander calls them. This delay costs lives and money.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Currently, authorities rely heavily on manual inspections or citizen complaints. A pothole is usually only fixed after it damages multiple vehicles. Emergency services only respond to accidents after a bystander calls them. This delay costs lives and money.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41842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automated systems that do exist are entirely disconnected from one another. A city might use an ALPR system for tolling, but that system cannot detect a car crash or a pothole. There is no unified system monitoring all aspects of road health and safety simultaneously.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Hazards: Delayed responses to accidents or fires result in compounding dangers. Economic Cost: Manual road surveying with specialized vehicles is incredibly expensive. Traffic Congestion: Unmanaged accidents and infrastructure damage cause massive bottlenecks.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analyzed existing companies in the road safety and telematics space such as Mobileye and Nexar. While they have strong niche products, they fail to provide a holistic view of the road environment.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Competitors often require the installation of highly expensive, proprietary hardware. They rely on specialized lidar sensors or custom enterprise dashcams. This makes scaling their solutions across a whole city prohibitively expensive.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competitor might specialize purely in telematics or purely in road damage detection. To get a complete picture, a city would need to buy multiple, incompatible software subscriptions and integrate them manually.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SRIS uniquely combines infrastructure health (cracks/potholes), public safety (accidents, fire/smoke), and vehicle tracking (license plates, car damage) into a single unified pipeline.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Agnostic: Our platform works with any standard camera feed — CCTV, cheap dashcams, or smartphone video. Cost Efficiency: By utilizing lightweight YOLO models, we deliver state-of-the-art accuracy on standard GPUs, drastically reducing operational costs.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a dual-architecture platform to handle massive amounts of video data without bottlenecking the user experience. It consists of a Management Dashboard and an independent AI Inference Engine.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user uploads a video of a road segment. The system instantly offloads this heavy video to the AI engine. The AI processes the video frame-by-frame and streams bounding-box data back. The user views an interactive dashboard with real-time AI overlays and generated PDF reports.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our main web server ran the AI models natively, the website would crash during multiple video uploads. By completely isolating the AI into its own microservice, the web app remains lightning-fast. This decoupling ensures we can scale the AI separately during high-traffic events.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on the robust Laravel (PHP) framework. Handles complex business logic and historical data storage. Manages secure user authentication and role-based access — Admins vs. Standard Users.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on FastAPI (Python), a highly optimized, asynchronous microservice. It acts purely as the inference engine. It loads heavy PyTorch models into GPU memory and rapidly processes incoming inference requests from Laravel.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intelligence relies on an impressive suite of 8 distinct, highly specialized AI models. Instead of one giant, slow model, we use specialized models to maintain real-time speed and pinpoint accuracy for each specific task.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YOLO (You Only Look Once) architectures. Unlike older architectures (like Faster R-CNN), YOLO processes the entire image in a single pass. YOLOv11 and v12 represent the absolute cutting edge, balancing incredible processing speed with unmatched accuracy.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 all our models using mAP@0.5 (Mean Average Precision at 50% Intersection over Union). It proves the AI not only correctly identifies what an object is (Precision), but it also draws the bounding box precisely over the object at least 50% perfectly (IoU).</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Instantly identify vehicle collisions on highways and intersections. The Result: Achieved near-perfect accuracy (99.3%). This is crucial for triggering automated emergency dispatch systems without false alarms.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Locate vehicle license plates accurately, even at high speeds or challenging angles. The Result: The model acts as the critical first step before OCR, ensuring the text-recognition engine knows exactly where to look.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Extract the exact alphanumeric characters from the detected plate. The Result: Achieving 98.3% accuracy means the system can reliably log tolling data, track stolen vehicles, and issue automated citations.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Read and understand road infrastructure signs. The Result: The system accurately identifies speed limits, stop signs, and warnings, providing vital context for road surveying and autonomous vehicle mapping.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Identify and classify different types of vehicles (cars, trucks, buses, motorcycles) on the road. The Result: Essential for traffic flow analysis, congestion monitoring, and calculating road wear-and-tear based on heavy vehicle density.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Detect early signs of vehicle fires, forest fires near highways, or environmental hazards. While inherently challenging due to the amorphous nature of smoke, the 74.4% accuracy is highly effective for raising early-warning alerts to operators.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Analyze internal dashcam footage to detect dashboard warning lights (check engine, ABS, seatbelt). The Result: Provides crucial context for fleet management companies and insurance providers regarding driver behavior and vehicle health.</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Identify complex, irregular road surface anomalies like alligator cracking and deep potholes. The Result: Eliminates the need for expensive manual road surveying, allowing cities to dispatch repair crews exactly where they are needed most.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Go beyond just detecting a car — detect the severity and location of damage on the vehicle body. The Architecture: We pair YOLO for object localization with an EfficientNet classification backbone to provide detailed damage assessment for insurance claims.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files are massive. Processing a 5-minute dashcam video frame-by-frame takes significant compute time. If the frontend waits for the entire video to be processed before showing results, the user experiences an unacceptable lag (loading screen of death).</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FastAPI service utilizes hidden, specialized /stream endpoints. We use asynchronous generators to yield AI results frame-by-frame as they happen. These results are streamed to the frontend using application/x-ndjson (Newline Delimited JSON).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Microservice Advantage: If the Laravel application had to run the AI models itself, the entire website would freeze every time a video was uploaded. By isolating the AI into a FastAPI microservice, the Laravel app remains lightning-fast, and the AI service can be scaled independently if traffic increases.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9624725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of the NDJSON streaming, the user doesn't wait. The frontend dashboard begins playing the video immediately and overlays the AI bounding boxes dynamically across the screen in real-time, exactly like a live surveillance feed.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Powered by MySQL 8 with a highly structured schema (sris_db) mapping users to footage and reports. Security (CORS): Strict Cross-Origin Resource Sharing middleware protects the API. The Laravel frontend (port 80) securely talks to the FastAPI backend (port 8001), preventing external hijacking.</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Installing PHP, Python, PyTorch, Nginx, and MySQL manually on a server is a nightmare. To solve this, we orchestrated the entire ecosystem using Docker Compose. This guarantees that if it works on our local machines, it works exactly the same in production.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containers: laravel_app (PHP application), nginx_server (Reverse proxy routing traffic), ml_service (Python/FastAPI), mysql_db (Persistent storage via Docker Volumes), adminer_gui (Admin interface). They communicate over a private internal bridge network (app_network). The database is completely invisible from the outside internet.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Cloud Run / GKE: The FastAPI container scales to zero to save costs, and instantly scales up utilizing Cloud GPUs during massive video upload spikes. Google Cloud Storage (GCS): Heavy video blobs are pushed to GCS buckets. Google Cloud SQL: Replaces the local MySQL container for automated backups and high availability.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SRIS transforms reactive infrastructure management into a proactive, intelligent, and cost-effective process. Future Roadmap: Integration with live city traffic cameras (RTSP feeds), advanced edge-computing deployment, and automated API hooks for emergency dispatchers. Thank you for your time. Any questions?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SRIS transforms reactive infrastructure management into a proactive, intelligent, and cost-effective process. Future Roadmap: Integration with live city traffic cameras (RTSP feeds), advanced edge-computing deployment, and automated API hooks for emergency dispatchers. Thank you for your time. Any questions?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6871210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5.png"/><Relationship Id="rId4"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hyperlink" Target="https://drive.google.com/file/d/1DqW3HT1B8ZU6OsR59JP42z2np5i4WR5Z/view?usp=sharing" TargetMode="External"/><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07142B"/>
          </a:solidFill>
          <a:ln/>
        </p:spPr>
      </p:sp>
      <p:sp>
        <p:nvSpPr>
          <p:cNvPr id="3" name="Shape 1"/>
          <p:cNvSpPr/>
          <p:nvPr/>
        </p:nvSpPr>
        <p:spPr>
          <a:xfrm>
            <a:off x="0" y="0"/>
            <a:ext cx="164592" cy="5143500"/>
          </a:xfrm>
          <a:prstGeom prst="rect">
            <a:avLst/>
          </a:prstGeom>
          <a:solidFill>
            <a:srgbClr val="0D9488"/>
          </a:solidFill>
          <a:ln/>
        </p:spPr>
      </p:sp>
      <p:pic>
        <p:nvPicPr>
          <p:cNvPr id="4" name="Image 0" descr="preencoded.png"/>
          <p:cNvPicPr>
            <a:picLocks noChangeAspect="1"/>
          </p:cNvPicPr>
          <p:nvPr/>
        </p:nvPicPr>
        <p:blipFill>
          <a:blip r:embed="rId3"/>
          <a:stretch>
            <a:fillRect/>
          </a:stretch>
        </p:blipFill>
        <p:spPr>
          <a:xfrm>
            <a:off x="7132320" y="548640"/>
            <a:ext cx="1463040" cy="1463040"/>
          </a:xfrm>
          <a:prstGeom prst="rect">
            <a:avLst/>
          </a:prstGeom>
        </p:spPr>
      </p:pic>
      <p:sp>
        <p:nvSpPr>
          <p:cNvPr id="5" name="Text 2"/>
          <p:cNvSpPr/>
          <p:nvPr/>
        </p:nvSpPr>
        <p:spPr>
          <a:xfrm>
            <a:off x="457200" y="822960"/>
            <a:ext cx="6400800" cy="731520"/>
          </a:xfrm>
          <a:prstGeom prst="rect">
            <a:avLst/>
          </a:prstGeom>
          <a:noFill/>
          <a:ln/>
        </p:spPr>
        <p:txBody>
          <a:bodyPr wrap="square" lIns="0" tIns="0" rIns="0" bIns="0" rtlCol="0" anchor="ctr"/>
          <a:lstStyle/>
          <a:p>
            <a:r>
              <a:rPr lang="en-US" sz="4000" b="1" dirty="0">
                <a:solidFill>
                  <a:srgbClr val="FFFFFF"/>
                </a:solidFill>
                <a:latin typeface="Cambria" pitchFamily="34" charset="0"/>
                <a:ea typeface="Cambria" pitchFamily="34" charset="-122"/>
                <a:cs typeface="Cambria" pitchFamily="34" charset="-120"/>
              </a:rPr>
              <a:t>Intelligent Smart Road Monitoring and Traffic Management System</a:t>
            </a:r>
            <a:endParaRPr lang="en-US" sz="4000" dirty="0"/>
          </a:p>
        </p:txBody>
      </p:sp>
      <p:sp>
        <p:nvSpPr>
          <p:cNvPr id="6" name="Text 3"/>
          <p:cNvSpPr/>
          <p:nvPr/>
        </p:nvSpPr>
        <p:spPr>
          <a:xfrm>
            <a:off x="501116" y="2011680"/>
            <a:ext cx="1601382" cy="640080"/>
          </a:xfrm>
          <a:prstGeom prst="rect">
            <a:avLst/>
          </a:prstGeom>
          <a:noFill/>
          <a:ln/>
        </p:spPr>
        <p:txBody>
          <a:bodyPr wrap="square" lIns="0" tIns="0" rIns="0" bIns="0" rtlCol="0" anchor="ctr"/>
          <a:lstStyle/>
          <a:p>
            <a:pPr marL="0" indent="0" algn="l">
              <a:buNone/>
            </a:pPr>
            <a:r>
              <a:rPr lang="en-US" sz="3800" b="1" kern="0" spc="200" dirty="0" smtClean="0">
                <a:solidFill>
                  <a:srgbClr val="0D9488"/>
                </a:solidFill>
                <a:latin typeface="Cambria" pitchFamily="34" charset="0"/>
                <a:ea typeface="Cambria" pitchFamily="34" charset="-122"/>
                <a:cs typeface="Cambria" pitchFamily="34" charset="-120"/>
              </a:rPr>
              <a:t>(SRIS)</a:t>
            </a:r>
            <a:endParaRPr lang="en-US" sz="3800" dirty="0"/>
          </a:p>
        </p:txBody>
      </p:sp>
      <p:sp>
        <p:nvSpPr>
          <p:cNvPr id="7" name="Text 4"/>
          <p:cNvSpPr/>
          <p:nvPr/>
        </p:nvSpPr>
        <p:spPr>
          <a:xfrm>
            <a:off x="457200" y="2503170"/>
            <a:ext cx="7315200" cy="822960"/>
          </a:xfrm>
          <a:prstGeom prst="rect">
            <a:avLst/>
          </a:prstGeom>
          <a:noFill/>
          <a:ln/>
        </p:spPr>
        <p:txBody>
          <a:bodyPr wrap="square" lIns="0" tIns="0" rIns="0" bIns="0" rtlCol="0" anchor="ctr"/>
          <a:lstStyle/>
          <a:p>
            <a:pPr marL="0" indent="0" algn="l">
              <a:buNone/>
            </a:pPr>
            <a:r>
              <a:rPr lang="en-US" sz="1500" dirty="0">
                <a:solidFill>
                  <a:srgbClr val="94A3B8"/>
                </a:solidFill>
                <a:latin typeface="Calibri" pitchFamily="34" charset="0"/>
                <a:ea typeface="Calibri" pitchFamily="34" charset="-122"/>
                <a:cs typeface="Calibri" pitchFamily="34" charset="-120"/>
              </a:rPr>
              <a:t>A Unified AI Ecosystem for Infrastructure Health,</a:t>
            </a:r>
            <a:endParaRPr lang="en-US" sz="1500" dirty="0"/>
          </a:p>
          <a:p>
            <a:pPr marL="0" indent="0" algn="l">
              <a:buNone/>
            </a:pPr>
            <a:r>
              <a:rPr lang="en-US" sz="1500" dirty="0">
                <a:solidFill>
                  <a:srgbClr val="94A3B8"/>
                </a:solidFill>
                <a:latin typeface="Calibri" pitchFamily="34" charset="0"/>
                <a:ea typeface="Calibri" pitchFamily="34" charset="-122"/>
                <a:cs typeface="Calibri" pitchFamily="34" charset="-120"/>
              </a:rPr>
              <a:t>Public Safety, and Vehicle Tracking</a:t>
            </a:r>
            <a:endParaRPr lang="en-US" sz="1500" dirty="0"/>
          </a:p>
        </p:txBody>
      </p:sp>
      <p:sp>
        <p:nvSpPr>
          <p:cNvPr id="8" name="Shape 5"/>
          <p:cNvSpPr/>
          <p:nvPr/>
        </p:nvSpPr>
        <p:spPr>
          <a:xfrm>
            <a:off x="457200" y="3337560"/>
            <a:ext cx="5486400" cy="36576"/>
          </a:xfrm>
          <a:prstGeom prst="rect">
            <a:avLst/>
          </a:prstGeom>
          <a:solidFill>
            <a:srgbClr val="0D9488"/>
          </a:solidFill>
          <a:ln/>
        </p:spPr>
      </p:sp>
      <p:sp>
        <p:nvSpPr>
          <p:cNvPr id="9" name="Text 6"/>
          <p:cNvSpPr/>
          <p:nvPr/>
        </p:nvSpPr>
        <p:spPr>
          <a:xfrm>
            <a:off x="457200" y="3657600"/>
            <a:ext cx="8229600" cy="274320"/>
          </a:xfrm>
          <a:prstGeom prst="rect">
            <a:avLst/>
          </a:prstGeom>
          <a:noFill/>
          <a:ln/>
        </p:spPr>
        <p:txBody>
          <a:bodyPr wrap="square" lIns="0" tIns="0" rIns="0" bIns="0" rtlCol="0" anchor="ctr"/>
          <a:lstStyle/>
          <a:p>
            <a:pPr marL="0" indent="0" algn="l">
              <a:buNone/>
            </a:pPr>
            <a:r>
              <a:rPr lang="en-US" sz="1100" dirty="0" smtClean="0">
                <a:solidFill>
                  <a:srgbClr val="64748B"/>
                </a:solidFill>
                <a:latin typeface="Calibri" pitchFamily="34" charset="0"/>
                <a:ea typeface="Calibri" pitchFamily="34" charset="-122"/>
                <a:cs typeface="Calibri" pitchFamily="34" charset="-120"/>
              </a:rPr>
              <a:t>SYNRA Team | AI </a:t>
            </a:r>
            <a:r>
              <a:rPr lang="en-US" sz="1100" dirty="0">
                <a:solidFill>
                  <a:srgbClr val="64748B"/>
                </a:solidFill>
                <a:latin typeface="Calibri" pitchFamily="34" charset="0"/>
                <a:ea typeface="Calibri" pitchFamily="34" charset="-122"/>
                <a:cs typeface="Calibri" pitchFamily="34" charset="-120"/>
              </a:rPr>
              <a:t>Infrastructure Division</a:t>
            </a:r>
            <a:endParaRPr lang="en-US" sz="1100" dirty="0"/>
          </a:p>
        </p:txBody>
      </p:sp>
      <p:sp>
        <p:nvSpPr>
          <p:cNvPr id="10" name="Text 7"/>
          <p:cNvSpPr/>
          <p:nvPr/>
        </p:nvSpPr>
        <p:spPr>
          <a:xfrm>
            <a:off x="457200" y="4023360"/>
            <a:ext cx="8229600" cy="228600"/>
          </a:xfrm>
          <a:prstGeom prst="rect">
            <a:avLst/>
          </a:prstGeom>
          <a:noFill/>
          <a:ln/>
        </p:spPr>
        <p:txBody>
          <a:bodyPr wrap="square" lIns="0" tIns="0" rIns="0" bIns="0" rtlCol="0" anchor="ctr"/>
          <a:lstStyle/>
          <a:p>
            <a:pPr marL="0" indent="0" algn="l">
              <a:buNone/>
            </a:pPr>
            <a:endParaRPr lang="en-US" sz="1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1 · INTRODUCTION</a:t>
            </a:r>
            <a:endParaRPr lang="en-US" sz="900" dirty="0"/>
          </a:p>
        </p:txBody>
      </p:sp>
      <p:sp>
        <p:nvSpPr>
          <p:cNvPr id="4" name="Text 2"/>
          <p:cNvSpPr/>
          <p:nvPr/>
        </p:nvSpPr>
        <p:spPr>
          <a:xfrm>
            <a:off x="457200" y="201168"/>
            <a:ext cx="8229600" cy="548640"/>
          </a:xfrm>
          <a:prstGeom prst="rect">
            <a:avLst/>
          </a:prstGeom>
          <a:noFill/>
          <a:ln/>
        </p:spPr>
        <p:txBody>
          <a:bodyPr wrap="square" lIns="0" tIns="0" rIns="0" bIns="0" rtlCol="0" anchor="ctr"/>
          <a:lstStyle/>
          <a:p>
            <a:pPr marL="0" indent="0" algn="l">
              <a:buNone/>
            </a:pPr>
            <a:r>
              <a:rPr lang="en-US" sz="2800" b="1" dirty="0">
                <a:solidFill>
                  <a:srgbClr val="0B1C3F"/>
                </a:solidFill>
                <a:latin typeface="Cambria" pitchFamily="34" charset="0"/>
                <a:ea typeface="Cambria" pitchFamily="34" charset="-122"/>
                <a:cs typeface="Cambria" pitchFamily="34" charset="-120"/>
              </a:rPr>
              <a:t>Modernizing Our Roads</a:t>
            </a:r>
            <a:endParaRPr lang="en-US" sz="2800" dirty="0"/>
          </a:p>
        </p:txBody>
      </p:sp>
      <p:sp>
        <p:nvSpPr>
          <p:cNvPr id="5" name="Shape 3"/>
          <p:cNvSpPr/>
          <p:nvPr/>
        </p:nvSpPr>
        <p:spPr>
          <a:xfrm>
            <a:off x="457200" y="795528"/>
            <a:ext cx="1097280" cy="54864"/>
          </a:xfrm>
          <a:prstGeom prst="rect">
            <a:avLst/>
          </a:prstGeom>
          <a:solidFill>
            <a:srgbClr val="0D9488"/>
          </a:solidFill>
          <a:ln/>
        </p:spPr>
      </p:sp>
      <p:sp>
        <p:nvSpPr>
          <p:cNvPr id="6" name="Shape 4"/>
          <p:cNvSpPr/>
          <p:nvPr/>
        </p:nvSpPr>
        <p:spPr>
          <a:xfrm>
            <a:off x="411480" y="1051560"/>
            <a:ext cx="2651760" cy="3200400"/>
          </a:xfrm>
          <a:prstGeom prst="roundRect">
            <a:avLst>
              <a:gd name="adj" fmla="val 3448"/>
            </a:avLst>
          </a:prstGeom>
          <a:solidFill>
            <a:srgbClr val="FFFFFF"/>
          </a:solidFill>
          <a:ln/>
          <a:effectLst>
            <a:outerShdw blurRad="127000" dist="25400" dir="2700000" algn="bl" rotWithShape="0">
              <a:srgbClr val="000000">
                <a:alpha val="12000"/>
              </a:srgbClr>
            </a:outerShdw>
          </a:effectLst>
        </p:spPr>
      </p:sp>
      <p:sp>
        <p:nvSpPr>
          <p:cNvPr id="7" name="Shape 5"/>
          <p:cNvSpPr/>
          <p:nvPr/>
        </p:nvSpPr>
        <p:spPr>
          <a:xfrm>
            <a:off x="1325880" y="1234440"/>
            <a:ext cx="822960" cy="822960"/>
          </a:xfrm>
          <a:prstGeom prst="line">
            <a:avLst/>
          </a:prstGeom>
          <a:solidFill>
            <a:srgbClr val="0D9488"/>
          </a:solidFill>
          <a:ln/>
        </p:spPr>
      </p:sp>
      <p:pic>
        <p:nvPicPr>
          <p:cNvPr id="8" name="Image 0" descr="preencoded.png"/>
          <p:cNvPicPr>
            <a:picLocks noChangeAspect="1"/>
          </p:cNvPicPr>
          <p:nvPr/>
        </p:nvPicPr>
        <p:blipFill>
          <a:blip r:embed="rId3"/>
          <a:stretch>
            <a:fillRect/>
          </a:stretch>
        </p:blipFill>
        <p:spPr>
          <a:xfrm>
            <a:off x="1417320" y="1325880"/>
            <a:ext cx="640080" cy="640080"/>
          </a:xfrm>
          <a:prstGeom prst="rect">
            <a:avLst/>
          </a:prstGeom>
        </p:spPr>
      </p:pic>
      <p:sp>
        <p:nvSpPr>
          <p:cNvPr id="9" name="Text 6"/>
          <p:cNvSpPr/>
          <p:nvPr/>
        </p:nvSpPr>
        <p:spPr>
          <a:xfrm>
            <a:off x="521208" y="2194560"/>
            <a:ext cx="2423160" cy="411480"/>
          </a:xfrm>
          <a:prstGeom prst="rect">
            <a:avLst/>
          </a:prstGeom>
          <a:noFill/>
          <a:ln/>
        </p:spPr>
        <p:txBody>
          <a:bodyPr wrap="square" lIns="0" tIns="0" rIns="0" bIns="0" rtlCol="0" anchor="ctr"/>
          <a:lstStyle/>
          <a:p>
            <a:pPr marL="0" indent="0" algn="ctr">
              <a:buNone/>
            </a:pPr>
            <a:r>
              <a:rPr lang="en-US" sz="1200" b="1" dirty="0">
                <a:solidFill>
                  <a:srgbClr val="0B1C3F"/>
                </a:solidFill>
                <a:latin typeface="Cambria" pitchFamily="34" charset="0"/>
                <a:ea typeface="Cambria" pitchFamily="34" charset="-122"/>
                <a:cs typeface="Cambria" pitchFamily="34" charset="-120"/>
              </a:rPr>
              <a:t>The Arteries of Commerce</a:t>
            </a:r>
            <a:endParaRPr lang="en-US" sz="1200" dirty="0"/>
          </a:p>
        </p:txBody>
      </p:sp>
      <p:sp>
        <p:nvSpPr>
          <p:cNvPr id="10" name="Text 7"/>
          <p:cNvSpPr/>
          <p:nvPr/>
        </p:nvSpPr>
        <p:spPr>
          <a:xfrm>
            <a:off x="521208" y="2651760"/>
            <a:ext cx="2423160" cy="1417320"/>
          </a:xfrm>
          <a:prstGeom prst="rect">
            <a:avLst/>
          </a:prstGeom>
          <a:noFill/>
          <a:ln/>
        </p:spPr>
        <p:txBody>
          <a:bodyPr wrap="square" lIns="50800" tIns="50800" rIns="50800" bIns="50800" rtlCol="0" anchor="t"/>
          <a:lstStyle/>
          <a:p>
            <a:pPr marL="0" indent="0" algn="ctr">
              <a:buNone/>
            </a:pPr>
            <a:r>
              <a:rPr lang="en-US" sz="1100" dirty="0">
                <a:solidFill>
                  <a:srgbClr val="334155"/>
                </a:solidFill>
                <a:latin typeface="Calibri" pitchFamily="34" charset="0"/>
                <a:ea typeface="Calibri" pitchFamily="34" charset="-122"/>
                <a:cs typeface="Calibri" pitchFamily="34" charset="-120"/>
              </a:rPr>
              <a:t>Roads power the economy. Yet their management remains locked in decades-old, manual processes — reactive rather than proactive.</a:t>
            </a:r>
            <a:endParaRPr lang="en-US" sz="1100" dirty="0"/>
          </a:p>
        </p:txBody>
      </p:sp>
      <p:sp>
        <p:nvSpPr>
          <p:cNvPr id="11" name="Shape 8"/>
          <p:cNvSpPr/>
          <p:nvPr/>
        </p:nvSpPr>
        <p:spPr>
          <a:xfrm>
            <a:off x="3246120" y="1051560"/>
            <a:ext cx="2651760" cy="3200400"/>
          </a:xfrm>
          <a:prstGeom prst="roundRect">
            <a:avLst>
              <a:gd name="adj" fmla="val 3448"/>
            </a:avLst>
          </a:prstGeom>
          <a:solidFill>
            <a:srgbClr val="FFFFFF"/>
          </a:solidFill>
          <a:ln/>
          <a:effectLst>
            <a:outerShdw blurRad="127000" dist="25400" dir="2700000" algn="bl" rotWithShape="0">
              <a:srgbClr val="000000">
                <a:alpha val="12000"/>
              </a:srgbClr>
            </a:outerShdw>
          </a:effectLst>
        </p:spPr>
      </p:sp>
      <p:sp>
        <p:nvSpPr>
          <p:cNvPr id="12" name="Shape 9"/>
          <p:cNvSpPr/>
          <p:nvPr/>
        </p:nvSpPr>
        <p:spPr>
          <a:xfrm>
            <a:off x="4160520" y="1234440"/>
            <a:ext cx="822960" cy="822960"/>
          </a:xfrm>
          <a:prstGeom prst="line">
            <a:avLst/>
          </a:prstGeom>
          <a:solidFill>
            <a:srgbClr val="F97316"/>
          </a:solidFill>
          <a:ln/>
        </p:spPr>
      </p:sp>
      <p:pic>
        <p:nvPicPr>
          <p:cNvPr id="13" name="Image 1" descr="preencoded.png"/>
          <p:cNvPicPr>
            <a:picLocks noChangeAspect="1"/>
          </p:cNvPicPr>
          <p:nvPr/>
        </p:nvPicPr>
        <p:blipFill>
          <a:blip r:embed="rId4"/>
          <a:stretch>
            <a:fillRect/>
          </a:stretch>
        </p:blipFill>
        <p:spPr>
          <a:xfrm>
            <a:off x="4251960" y="1325880"/>
            <a:ext cx="640080" cy="640080"/>
          </a:xfrm>
          <a:prstGeom prst="rect">
            <a:avLst/>
          </a:prstGeom>
        </p:spPr>
      </p:pic>
      <p:sp>
        <p:nvSpPr>
          <p:cNvPr id="14" name="Text 10"/>
          <p:cNvSpPr/>
          <p:nvPr/>
        </p:nvSpPr>
        <p:spPr>
          <a:xfrm>
            <a:off x="3355848" y="2194560"/>
            <a:ext cx="2423160" cy="411480"/>
          </a:xfrm>
          <a:prstGeom prst="rect">
            <a:avLst/>
          </a:prstGeom>
          <a:noFill/>
          <a:ln/>
        </p:spPr>
        <p:txBody>
          <a:bodyPr wrap="square" lIns="0" tIns="0" rIns="0" bIns="0" rtlCol="0" anchor="ctr"/>
          <a:lstStyle/>
          <a:p>
            <a:pPr marL="0" indent="0" algn="ctr">
              <a:buNone/>
            </a:pPr>
            <a:r>
              <a:rPr lang="en-US" sz="1200" b="1" dirty="0">
                <a:solidFill>
                  <a:srgbClr val="0B1C3F"/>
                </a:solidFill>
                <a:latin typeface="Cambria" pitchFamily="34" charset="0"/>
                <a:ea typeface="Cambria" pitchFamily="34" charset="-122"/>
                <a:cs typeface="Cambria" pitchFamily="34" charset="-120"/>
              </a:rPr>
              <a:t>AI as the Catalyst</a:t>
            </a:r>
            <a:endParaRPr lang="en-US" sz="1200" dirty="0"/>
          </a:p>
        </p:txBody>
      </p:sp>
      <p:sp>
        <p:nvSpPr>
          <p:cNvPr id="15" name="Text 11"/>
          <p:cNvSpPr/>
          <p:nvPr/>
        </p:nvSpPr>
        <p:spPr>
          <a:xfrm>
            <a:off x="3355848" y="2651760"/>
            <a:ext cx="2423160" cy="1417320"/>
          </a:xfrm>
          <a:prstGeom prst="rect">
            <a:avLst/>
          </a:prstGeom>
          <a:noFill/>
          <a:ln/>
        </p:spPr>
        <p:txBody>
          <a:bodyPr wrap="square" lIns="50800" tIns="50800" rIns="50800" bIns="50800" rtlCol="0" anchor="t"/>
          <a:lstStyle/>
          <a:p>
            <a:pPr marL="0" indent="0" algn="ctr">
              <a:buNone/>
            </a:pPr>
            <a:r>
              <a:rPr lang="en-US" sz="1100" dirty="0">
                <a:solidFill>
                  <a:srgbClr val="334155"/>
                </a:solidFill>
                <a:latin typeface="Calibri" pitchFamily="34" charset="0"/>
                <a:ea typeface="Calibri" pitchFamily="34" charset="-122"/>
                <a:cs typeface="Calibri" pitchFamily="34" charset="-120"/>
              </a:rPr>
              <a:t>The rise of AI allows us to move from passive observation to active, intelligent management — making roads safer and smarter.</a:t>
            </a:r>
            <a:endParaRPr lang="en-US" sz="1100" dirty="0"/>
          </a:p>
        </p:txBody>
      </p:sp>
      <p:sp>
        <p:nvSpPr>
          <p:cNvPr id="16" name="Shape 12"/>
          <p:cNvSpPr/>
          <p:nvPr/>
        </p:nvSpPr>
        <p:spPr>
          <a:xfrm>
            <a:off x="6080760" y="1051560"/>
            <a:ext cx="2651760" cy="3200400"/>
          </a:xfrm>
          <a:prstGeom prst="roundRect">
            <a:avLst>
              <a:gd name="adj" fmla="val 3448"/>
            </a:avLst>
          </a:prstGeom>
          <a:solidFill>
            <a:srgbClr val="FFFFFF"/>
          </a:solidFill>
          <a:ln/>
          <a:effectLst>
            <a:outerShdw blurRad="127000" dist="25400" dir="2700000" algn="bl" rotWithShape="0">
              <a:srgbClr val="000000">
                <a:alpha val="12000"/>
              </a:srgbClr>
            </a:outerShdw>
          </a:effectLst>
        </p:spPr>
      </p:sp>
      <p:sp>
        <p:nvSpPr>
          <p:cNvPr id="17" name="Shape 13"/>
          <p:cNvSpPr/>
          <p:nvPr/>
        </p:nvSpPr>
        <p:spPr>
          <a:xfrm>
            <a:off x="6995160" y="1234440"/>
            <a:ext cx="822960" cy="822960"/>
          </a:xfrm>
          <a:prstGeom prst="line">
            <a:avLst/>
          </a:prstGeom>
          <a:solidFill>
            <a:srgbClr val="0B1C3F"/>
          </a:solidFill>
          <a:ln/>
        </p:spPr>
      </p:sp>
      <p:pic>
        <p:nvPicPr>
          <p:cNvPr id="18" name="Image 2" descr="preencoded.png"/>
          <p:cNvPicPr>
            <a:picLocks noChangeAspect="1"/>
          </p:cNvPicPr>
          <p:nvPr/>
        </p:nvPicPr>
        <p:blipFill>
          <a:blip r:embed="rId5"/>
          <a:stretch>
            <a:fillRect/>
          </a:stretch>
        </p:blipFill>
        <p:spPr>
          <a:xfrm>
            <a:off x="7086600" y="1325880"/>
            <a:ext cx="640080" cy="640080"/>
          </a:xfrm>
          <a:prstGeom prst="rect">
            <a:avLst/>
          </a:prstGeom>
        </p:spPr>
      </p:pic>
      <p:sp>
        <p:nvSpPr>
          <p:cNvPr id="19" name="Text 14"/>
          <p:cNvSpPr/>
          <p:nvPr/>
        </p:nvSpPr>
        <p:spPr>
          <a:xfrm>
            <a:off x="6190488" y="2194560"/>
            <a:ext cx="2423160" cy="411480"/>
          </a:xfrm>
          <a:prstGeom prst="rect">
            <a:avLst/>
          </a:prstGeom>
          <a:noFill/>
          <a:ln/>
        </p:spPr>
        <p:txBody>
          <a:bodyPr wrap="square" lIns="0" tIns="0" rIns="0" bIns="0" rtlCol="0" anchor="ctr"/>
          <a:lstStyle/>
          <a:p>
            <a:pPr marL="0" indent="0" algn="ctr">
              <a:buNone/>
            </a:pPr>
            <a:r>
              <a:rPr lang="en-US" sz="1200" b="1" dirty="0">
                <a:solidFill>
                  <a:srgbClr val="0B1C3F"/>
                </a:solidFill>
                <a:latin typeface="Cambria" pitchFamily="34" charset="0"/>
                <a:ea typeface="Cambria" pitchFamily="34" charset="-122"/>
                <a:cs typeface="Cambria" pitchFamily="34" charset="-120"/>
              </a:rPr>
              <a:t>Our Vision</a:t>
            </a:r>
            <a:endParaRPr lang="en-US" sz="1200" dirty="0"/>
          </a:p>
        </p:txBody>
      </p:sp>
      <p:sp>
        <p:nvSpPr>
          <p:cNvPr id="20" name="Text 15"/>
          <p:cNvSpPr/>
          <p:nvPr/>
        </p:nvSpPr>
        <p:spPr>
          <a:xfrm>
            <a:off x="6190488" y="2651760"/>
            <a:ext cx="2423160" cy="1417320"/>
          </a:xfrm>
          <a:prstGeom prst="rect">
            <a:avLst/>
          </a:prstGeom>
          <a:noFill/>
          <a:ln/>
        </p:spPr>
        <p:txBody>
          <a:bodyPr wrap="square" lIns="50800" tIns="50800" rIns="50800" bIns="50800" rtlCol="0" anchor="t"/>
          <a:lstStyle/>
          <a:p>
            <a:pPr marL="0" indent="0" algn="ctr">
              <a:buNone/>
            </a:pPr>
            <a:r>
              <a:rPr lang="en-US" sz="1100" dirty="0">
                <a:solidFill>
                  <a:srgbClr val="334155"/>
                </a:solidFill>
                <a:latin typeface="Calibri" pitchFamily="34" charset="0"/>
                <a:ea typeface="Calibri" pitchFamily="34" charset="-122"/>
                <a:cs typeface="Calibri" pitchFamily="34" charset="-120"/>
              </a:rPr>
              <a:t>Build a system that sees, analyzes, and reports road conditions in real-time — continuously, autonomously, and affordably.</a:t>
            </a:r>
            <a:endParaRPr lang="en-US" sz="11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1 · THE PROBLEM</a:t>
            </a:r>
            <a:endParaRPr lang="en-US" sz="900" dirty="0"/>
          </a:p>
        </p:txBody>
      </p:sp>
      <p:sp>
        <p:nvSpPr>
          <p:cNvPr id="4" name="Text 2"/>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The Flaw of Reactive Maintenance</a:t>
            </a:r>
            <a:endParaRPr lang="en-US" sz="3000" dirty="0"/>
          </a:p>
        </p:txBody>
      </p:sp>
      <p:sp>
        <p:nvSpPr>
          <p:cNvPr id="5" name="Shape 3"/>
          <p:cNvSpPr/>
          <p:nvPr/>
        </p:nvSpPr>
        <p:spPr>
          <a:xfrm>
            <a:off x="457200" y="850392"/>
            <a:ext cx="1097280" cy="54864"/>
          </a:xfrm>
          <a:prstGeom prst="rect">
            <a:avLst/>
          </a:prstGeom>
          <a:solidFill>
            <a:srgbClr val="0D9488"/>
          </a:solidFill>
          <a:ln/>
        </p:spPr>
      </p:sp>
      <p:pic>
        <p:nvPicPr>
          <p:cNvPr id="6" name="Image 0" descr="preencoded.png"/>
          <p:cNvPicPr>
            <a:picLocks noChangeAspect="1"/>
          </p:cNvPicPr>
          <p:nvPr/>
        </p:nvPicPr>
        <p:blipFill>
          <a:blip r:embed="rId3"/>
          <a:stretch>
            <a:fillRect/>
          </a:stretch>
        </p:blipFill>
        <p:spPr>
          <a:xfrm>
            <a:off x="457200" y="1051560"/>
            <a:ext cx="2011680" cy="2011680"/>
          </a:xfrm>
          <a:prstGeom prst="rect">
            <a:avLst/>
          </a:prstGeom>
        </p:spPr>
      </p:pic>
      <p:sp>
        <p:nvSpPr>
          <p:cNvPr id="7" name="Shape 4"/>
          <p:cNvSpPr/>
          <p:nvPr/>
        </p:nvSpPr>
        <p:spPr>
          <a:xfrm>
            <a:off x="2834640" y="960120"/>
            <a:ext cx="5760720" cy="1051560"/>
          </a:xfrm>
          <a:prstGeom prst="roundRect">
            <a:avLst>
              <a:gd name="adj" fmla="val 8696"/>
            </a:avLst>
          </a:prstGeom>
          <a:solidFill>
            <a:srgbClr val="12213A"/>
          </a:solidFill>
          <a:ln/>
          <a:effectLst>
            <a:outerShdw blurRad="127000" dist="25400" dir="2700000" algn="bl" rotWithShape="0">
              <a:srgbClr val="000000">
                <a:alpha val="12000"/>
              </a:srgbClr>
            </a:outerShdw>
          </a:effectLst>
        </p:spPr>
      </p:sp>
      <p:sp>
        <p:nvSpPr>
          <p:cNvPr id="8" name="Text 5"/>
          <p:cNvSpPr/>
          <p:nvPr/>
        </p:nvSpPr>
        <p:spPr>
          <a:xfrm>
            <a:off x="2926080" y="1051560"/>
            <a:ext cx="548640" cy="822960"/>
          </a:xfrm>
          <a:prstGeom prst="rect">
            <a:avLst/>
          </a:prstGeom>
          <a:noFill/>
          <a:ln/>
        </p:spPr>
        <p:txBody>
          <a:bodyPr wrap="square" lIns="0" tIns="0" rIns="0" bIns="0" rtlCol="0" anchor="ctr"/>
          <a:lstStyle/>
          <a:p>
            <a:pPr marL="0" indent="0" algn="ctr">
              <a:buNone/>
            </a:pPr>
            <a:r>
              <a:rPr lang="en-US" sz="2800" b="1" dirty="0">
                <a:solidFill>
                  <a:srgbClr val="0D9488"/>
                </a:solidFill>
                <a:latin typeface="Cambria" pitchFamily="34" charset="0"/>
                <a:ea typeface="Cambria" pitchFamily="34" charset="-122"/>
                <a:cs typeface="Cambria" pitchFamily="34" charset="-120"/>
              </a:rPr>
              <a:t>01</a:t>
            </a:r>
            <a:endParaRPr lang="en-US" sz="2800" dirty="0"/>
          </a:p>
        </p:txBody>
      </p:sp>
      <p:sp>
        <p:nvSpPr>
          <p:cNvPr id="9" name="Shape 6"/>
          <p:cNvSpPr/>
          <p:nvPr/>
        </p:nvSpPr>
        <p:spPr>
          <a:xfrm>
            <a:off x="3520440" y="1143000"/>
            <a:ext cx="0" cy="685800"/>
          </a:xfrm>
          <a:prstGeom prst="line">
            <a:avLst/>
          </a:prstGeom>
          <a:noFill/>
          <a:ln w="19050">
            <a:solidFill>
              <a:srgbClr val="1E3A5A"/>
            </a:solidFill>
            <a:prstDash val="solid"/>
          </a:ln>
        </p:spPr>
      </p:sp>
      <p:sp>
        <p:nvSpPr>
          <p:cNvPr id="10" name="Text 7"/>
          <p:cNvSpPr/>
          <p:nvPr/>
        </p:nvSpPr>
        <p:spPr>
          <a:xfrm>
            <a:off x="3657600" y="1069848"/>
            <a:ext cx="4846320" cy="822960"/>
          </a:xfrm>
          <a:prstGeom prst="rect">
            <a:avLst/>
          </a:prstGeom>
          <a:noFill/>
          <a:ln/>
        </p:spPr>
        <p:txBody>
          <a:bodyPr wrap="square" lIns="50800" tIns="50800" rIns="50800" bIns="5080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Authorities rely heavily on manual inspections or citizen complaints — a slow, error-prone chain of reporting.</a:t>
            </a:r>
            <a:endParaRPr lang="en-US" sz="1200" dirty="0"/>
          </a:p>
        </p:txBody>
      </p:sp>
      <p:sp>
        <p:nvSpPr>
          <p:cNvPr id="11" name="Shape 8"/>
          <p:cNvSpPr/>
          <p:nvPr/>
        </p:nvSpPr>
        <p:spPr>
          <a:xfrm>
            <a:off x="2834640" y="2194560"/>
            <a:ext cx="5760720" cy="1051560"/>
          </a:xfrm>
          <a:prstGeom prst="roundRect">
            <a:avLst>
              <a:gd name="adj" fmla="val 8696"/>
            </a:avLst>
          </a:prstGeom>
          <a:solidFill>
            <a:srgbClr val="12213A"/>
          </a:solidFill>
          <a:ln/>
          <a:effectLst>
            <a:outerShdw blurRad="127000" dist="25400" dir="2700000" algn="bl" rotWithShape="0">
              <a:srgbClr val="000000">
                <a:alpha val="12000"/>
              </a:srgbClr>
            </a:outerShdw>
          </a:effectLst>
        </p:spPr>
      </p:sp>
      <p:sp>
        <p:nvSpPr>
          <p:cNvPr id="12" name="Text 9"/>
          <p:cNvSpPr/>
          <p:nvPr/>
        </p:nvSpPr>
        <p:spPr>
          <a:xfrm>
            <a:off x="2926080" y="2286000"/>
            <a:ext cx="548640" cy="822960"/>
          </a:xfrm>
          <a:prstGeom prst="rect">
            <a:avLst/>
          </a:prstGeom>
          <a:noFill/>
          <a:ln/>
        </p:spPr>
        <p:txBody>
          <a:bodyPr wrap="square" lIns="0" tIns="0" rIns="0" bIns="0" rtlCol="0" anchor="ctr"/>
          <a:lstStyle/>
          <a:p>
            <a:pPr marL="0" indent="0" algn="ctr">
              <a:buNone/>
            </a:pPr>
            <a:r>
              <a:rPr lang="en-US" sz="2800" b="1" dirty="0">
                <a:solidFill>
                  <a:srgbClr val="0D9488"/>
                </a:solidFill>
                <a:latin typeface="Cambria" pitchFamily="34" charset="0"/>
                <a:ea typeface="Cambria" pitchFamily="34" charset="-122"/>
                <a:cs typeface="Cambria" pitchFamily="34" charset="-120"/>
              </a:rPr>
              <a:t>02</a:t>
            </a:r>
            <a:endParaRPr lang="en-US" sz="2800" dirty="0"/>
          </a:p>
        </p:txBody>
      </p:sp>
      <p:sp>
        <p:nvSpPr>
          <p:cNvPr id="13" name="Shape 10"/>
          <p:cNvSpPr/>
          <p:nvPr/>
        </p:nvSpPr>
        <p:spPr>
          <a:xfrm>
            <a:off x="3520440" y="2377440"/>
            <a:ext cx="0" cy="685800"/>
          </a:xfrm>
          <a:prstGeom prst="line">
            <a:avLst/>
          </a:prstGeom>
          <a:noFill/>
          <a:ln w="19050">
            <a:solidFill>
              <a:srgbClr val="1E3A5A"/>
            </a:solidFill>
            <a:prstDash val="solid"/>
          </a:ln>
        </p:spPr>
      </p:sp>
      <p:sp>
        <p:nvSpPr>
          <p:cNvPr id="14" name="Text 11"/>
          <p:cNvSpPr/>
          <p:nvPr/>
        </p:nvSpPr>
        <p:spPr>
          <a:xfrm>
            <a:off x="3657600" y="2304288"/>
            <a:ext cx="4846320" cy="822960"/>
          </a:xfrm>
          <a:prstGeom prst="rect">
            <a:avLst/>
          </a:prstGeom>
          <a:noFill/>
          <a:ln/>
        </p:spPr>
        <p:txBody>
          <a:bodyPr wrap="square" lIns="50800" tIns="50800" rIns="50800" bIns="5080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A pothole is usually only fixed after it damages multiple vehicles, compounding costs and hazards.</a:t>
            </a:r>
            <a:endParaRPr lang="en-US" sz="1200" dirty="0"/>
          </a:p>
        </p:txBody>
      </p:sp>
      <p:sp>
        <p:nvSpPr>
          <p:cNvPr id="15" name="Shape 12"/>
          <p:cNvSpPr/>
          <p:nvPr/>
        </p:nvSpPr>
        <p:spPr>
          <a:xfrm>
            <a:off x="2834640" y="3429000"/>
            <a:ext cx="5760720" cy="1051560"/>
          </a:xfrm>
          <a:prstGeom prst="roundRect">
            <a:avLst>
              <a:gd name="adj" fmla="val 8696"/>
            </a:avLst>
          </a:prstGeom>
          <a:solidFill>
            <a:srgbClr val="12213A"/>
          </a:solidFill>
          <a:ln/>
          <a:effectLst>
            <a:outerShdw blurRad="127000" dist="25400" dir="2700000" algn="bl" rotWithShape="0">
              <a:srgbClr val="000000">
                <a:alpha val="12000"/>
              </a:srgbClr>
            </a:outerShdw>
          </a:effectLst>
        </p:spPr>
      </p:sp>
      <p:sp>
        <p:nvSpPr>
          <p:cNvPr id="16" name="Text 13"/>
          <p:cNvSpPr/>
          <p:nvPr/>
        </p:nvSpPr>
        <p:spPr>
          <a:xfrm>
            <a:off x="2926080" y="3520440"/>
            <a:ext cx="548640" cy="822960"/>
          </a:xfrm>
          <a:prstGeom prst="rect">
            <a:avLst/>
          </a:prstGeom>
          <a:noFill/>
          <a:ln/>
        </p:spPr>
        <p:txBody>
          <a:bodyPr wrap="square" lIns="0" tIns="0" rIns="0" bIns="0" rtlCol="0" anchor="ctr"/>
          <a:lstStyle/>
          <a:p>
            <a:pPr marL="0" indent="0" algn="ctr">
              <a:buNone/>
            </a:pPr>
            <a:r>
              <a:rPr lang="en-US" sz="2800" b="1" dirty="0">
                <a:solidFill>
                  <a:srgbClr val="0D9488"/>
                </a:solidFill>
                <a:latin typeface="Cambria" pitchFamily="34" charset="0"/>
                <a:ea typeface="Cambria" pitchFamily="34" charset="-122"/>
                <a:cs typeface="Cambria" pitchFamily="34" charset="-120"/>
              </a:rPr>
              <a:t>03</a:t>
            </a:r>
            <a:endParaRPr lang="en-US" sz="2800" dirty="0"/>
          </a:p>
        </p:txBody>
      </p:sp>
      <p:sp>
        <p:nvSpPr>
          <p:cNvPr id="17" name="Shape 14"/>
          <p:cNvSpPr/>
          <p:nvPr/>
        </p:nvSpPr>
        <p:spPr>
          <a:xfrm>
            <a:off x="3520440" y="3611880"/>
            <a:ext cx="0" cy="685800"/>
          </a:xfrm>
          <a:prstGeom prst="line">
            <a:avLst/>
          </a:prstGeom>
          <a:noFill/>
          <a:ln w="19050">
            <a:solidFill>
              <a:srgbClr val="1E3A5A"/>
            </a:solidFill>
            <a:prstDash val="solid"/>
          </a:ln>
        </p:spPr>
      </p:sp>
      <p:sp>
        <p:nvSpPr>
          <p:cNvPr id="18" name="Text 15"/>
          <p:cNvSpPr/>
          <p:nvPr/>
        </p:nvSpPr>
        <p:spPr>
          <a:xfrm>
            <a:off x="3657600" y="3538728"/>
            <a:ext cx="4846320" cy="822960"/>
          </a:xfrm>
          <a:prstGeom prst="rect">
            <a:avLst/>
          </a:prstGeom>
          <a:noFill/>
          <a:ln/>
        </p:spPr>
        <p:txBody>
          <a:bodyPr wrap="square" lIns="50800" tIns="50800" rIns="50800" bIns="5080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Emergency services only respond to accidents after a bystander calls them. This delay costs lives and money.</a:t>
            </a:r>
            <a:endParaRPr lang="en-US" sz="1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1 · THE PROBLEM</a:t>
            </a:r>
            <a:endParaRPr lang="en-US" sz="900" dirty="0"/>
          </a:p>
        </p:txBody>
      </p:sp>
      <p:pic>
        <p:nvPicPr>
          <p:cNvPr id="19" name="Picture 18"/>
          <p:cNvPicPr>
            <a:picLocks noChangeAspect="1"/>
          </p:cNvPicPr>
          <p:nvPr/>
        </p:nvPicPr>
        <p:blipFill>
          <a:blip r:embed="rId3"/>
          <a:stretch>
            <a:fillRect/>
          </a:stretch>
        </p:blipFill>
        <p:spPr>
          <a:xfrm>
            <a:off x="1647825" y="433387"/>
            <a:ext cx="5848350" cy="4276725"/>
          </a:xfrm>
          <a:prstGeom prst="rect">
            <a:avLst/>
          </a:prstGeom>
        </p:spPr>
      </p:pic>
    </p:spTree>
    <p:extLst>
      <p:ext uri="{BB962C8B-B14F-4D97-AF65-F5344CB8AC3E}">
        <p14:creationId xmlns:p14="http://schemas.microsoft.com/office/powerpoint/2010/main" val="5664741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1 · THE PROBLEM</a:t>
            </a:r>
            <a:endParaRPr lang="en-US" sz="900" dirty="0"/>
          </a:p>
        </p:txBody>
      </p:sp>
      <p:pic>
        <p:nvPicPr>
          <p:cNvPr id="5" name="Picture 4"/>
          <p:cNvPicPr>
            <a:picLocks noChangeAspect="1"/>
          </p:cNvPicPr>
          <p:nvPr/>
        </p:nvPicPr>
        <p:blipFill>
          <a:blip r:embed="rId2"/>
          <a:stretch>
            <a:fillRect/>
          </a:stretch>
        </p:blipFill>
        <p:spPr>
          <a:xfrm>
            <a:off x="1779038" y="690465"/>
            <a:ext cx="4444928" cy="4096065"/>
          </a:xfrm>
          <a:prstGeom prst="rect">
            <a:avLst/>
          </a:prstGeom>
        </p:spPr>
      </p:pic>
    </p:spTree>
    <p:extLst>
      <p:ext uri="{BB962C8B-B14F-4D97-AF65-F5344CB8AC3E}">
        <p14:creationId xmlns:p14="http://schemas.microsoft.com/office/powerpoint/2010/main" val="22065077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1 · THE PROBLEM</a:t>
            </a:r>
            <a:endParaRPr lang="en-US" sz="900" dirty="0"/>
          </a:p>
        </p:txBody>
      </p:sp>
      <p:sp>
        <p:nvSpPr>
          <p:cNvPr id="4" name="Text 2"/>
          <p:cNvSpPr/>
          <p:nvPr/>
        </p:nvSpPr>
        <p:spPr>
          <a:xfrm>
            <a:off x="457200" y="201168"/>
            <a:ext cx="8229600" cy="548640"/>
          </a:xfrm>
          <a:prstGeom prst="rect">
            <a:avLst/>
          </a:prstGeom>
          <a:noFill/>
          <a:ln/>
        </p:spPr>
        <p:txBody>
          <a:bodyPr wrap="square" lIns="0" tIns="0" rIns="0" bIns="0" rtlCol="0" anchor="ctr"/>
          <a:lstStyle/>
          <a:p>
            <a:pPr marL="0" indent="0" algn="l">
              <a:buNone/>
            </a:pPr>
            <a:r>
              <a:rPr lang="en-US" sz="2800" b="1" dirty="0">
                <a:solidFill>
                  <a:srgbClr val="0B1C3F"/>
                </a:solidFill>
                <a:latin typeface="Cambria" pitchFamily="34" charset="0"/>
                <a:ea typeface="Cambria" pitchFamily="34" charset="-122"/>
                <a:cs typeface="Cambria" pitchFamily="34" charset="-120"/>
              </a:rPr>
              <a:t>Disconnected Solutions</a:t>
            </a:r>
            <a:endParaRPr lang="en-US" sz="2800" dirty="0"/>
          </a:p>
        </p:txBody>
      </p:sp>
      <p:sp>
        <p:nvSpPr>
          <p:cNvPr id="5" name="Shape 3"/>
          <p:cNvSpPr/>
          <p:nvPr/>
        </p:nvSpPr>
        <p:spPr>
          <a:xfrm>
            <a:off x="457200" y="795528"/>
            <a:ext cx="1097280" cy="54864"/>
          </a:xfrm>
          <a:prstGeom prst="rect">
            <a:avLst/>
          </a:prstGeom>
          <a:solidFill>
            <a:srgbClr val="0D9488"/>
          </a:solidFill>
          <a:ln/>
        </p:spPr>
      </p:sp>
      <p:sp>
        <p:nvSpPr>
          <p:cNvPr id="6" name="Shape 4"/>
          <p:cNvSpPr/>
          <p:nvPr/>
        </p:nvSpPr>
        <p:spPr>
          <a:xfrm>
            <a:off x="457200" y="1051560"/>
            <a:ext cx="2926080" cy="685800"/>
          </a:xfrm>
          <a:prstGeom prst="roundRect">
            <a:avLst>
              <a:gd name="adj" fmla="val 10667"/>
            </a:avLst>
          </a:prstGeom>
          <a:solidFill>
            <a:srgbClr val="0B1C3F"/>
          </a:solidFill>
          <a:ln/>
        </p:spPr>
      </p:sp>
      <p:sp>
        <p:nvSpPr>
          <p:cNvPr id="7" name="Text 5"/>
          <p:cNvSpPr/>
          <p:nvPr/>
        </p:nvSpPr>
        <p:spPr>
          <a:xfrm>
            <a:off x="457200" y="1051560"/>
            <a:ext cx="2926080"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ALPR / Tolling System</a:t>
            </a:r>
            <a:endParaRPr lang="en-US" sz="1200" dirty="0"/>
          </a:p>
        </p:txBody>
      </p:sp>
      <p:sp>
        <p:nvSpPr>
          <p:cNvPr id="8" name="Shape 6"/>
          <p:cNvSpPr/>
          <p:nvPr/>
        </p:nvSpPr>
        <p:spPr>
          <a:xfrm>
            <a:off x="457200" y="2331720"/>
            <a:ext cx="2926080" cy="685800"/>
          </a:xfrm>
          <a:prstGeom prst="roundRect">
            <a:avLst>
              <a:gd name="adj" fmla="val 10667"/>
            </a:avLst>
          </a:prstGeom>
          <a:solidFill>
            <a:srgbClr val="6B2D2D"/>
          </a:solidFill>
          <a:ln/>
        </p:spPr>
      </p:sp>
      <p:sp>
        <p:nvSpPr>
          <p:cNvPr id="9" name="Text 7"/>
          <p:cNvSpPr/>
          <p:nvPr/>
        </p:nvSpPr>
        <p:spPr>
          <a:xfrm>
            <a:off x="457200" y="2331720"/>
            <a:ext cx="2926080"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Accident Detection</a:t>
            </a:r>
            <a:endParaRPr lang="en-US" sz="1200" dirty="0"/>
          </a:p>
        </p:txBody>
      </p:sp>
      <p:sp>
        <p:nvSpPr>
          <p:cNvPr id="10" name="Shape 8"/>
          <p:cNvSpPr/>
          <p:nvPr/>
        </p:nvSpPr>
        <p:spPr>
          <a:xfrm>
            <a:off x="457200" y="3611880"/>
            <a:ext cx="2926080" cy="685800"/>
          </a:xfrm>
          <a:prstGeom prst="roundRect">
            <a:avLst>
              <a:gd name="adj" fmla="val 10667"/>
            </a:avLst>
          </a:prstGeom>
          <a:solidFill>
            <a:srgbClr val="1E4D2B"/>
          </a:solidFill>
          <a:ln/>
        </p:spPr>
      </p:sp>
      <p:sp>
        <p:nvSpPr>
          <p:cNvPr id="11" name="Text 9"/>
          <p:cNvSpPr/>
          <p:nvPr/>
        </p:nvSpPr>
        <p:spPr>
          <a:xfrm>
            <a:off x="457200" y="3611880"/>
            <a:ext cx="2926080"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Pothole Survey Vehicles</a:t>
            </a:r>
            <a:endParaRPr lang="en-US" sz="1200" dirty="0"/>
          </a:p>
        </p:txBody>
      </p:sp>
      <p:sp>
        <p:nvSpPr>
          <p:cNvPr id="12" name="Shape 10"/>
          <p:cNvSpPr/>
          <p:nvPr/>
        </p:nvSpPr>
        <p:spPr>
          <a:xfrm>
            <a:off x="5029200" y="2286000"/>
            <a:ext cx="2926080" cy="685800"/>
          </a:xfrm>
          <a:prstGeom prst="roundRect">
            <a:avLst>
              <a:gd name="adj" fmla="val 10667"/>
            </a:avLst>
          </a:prstGeom>
          <a:solidFill>
            <a:srgbClr val="4A1D7A"/>
          </a:solidFill>
          <a:ln/>
        </p:spPr>
      </p:sp>
      <p:sp>
        <p:nvSpPr>
          <p:cNvPr id="13" name="Text 11"/>
          <p:cNvSpPr/>
          <p:nvPr/>
        </p:nvSpPr>
        <p:spPr>
          <a:xfrm>
            <a:off x="5029200" y="2286000"/>
            <a:ext cx="2926080"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Traffic Management</a:t>
            </a:r>
            <a:endParaRPr lang="en-US" sz="1200" dirty="0"/>
          </a:p>
        </p:txBody>
      </p:sp>
      <p:sp>
        <p:nvSpPr>
          <p:cNvPr id="14" name="Text 12"/>
          <p:cNvSpPr/>
          <p:nvPr/>
        </p:nvSpPr>
        <p:spPr>
          <a:xfrm>
            <a:off x="3474720" y="1234440"/>
            <a:ext cx="1371600" cy="365760"/>
          </a:xfrm>
          <a:prstGeom prst="rect">
            <a:avLst/>
          </a:prstGeom>
          <a:noFill/>
          <a:ln/>
        </p:spPr>
        <p:txBody>
          <a:bodyPr wrap="square" lIns="0" tIns="0" rIns="0" bIns="0" rtlCol="0" anchor="ctr"/>
          <a:lstStyle/>
          <a:p>
            <a:pPr marL="0" indent="0" algn="ctr">
              <a:buNone/>
            </a:pPr>
            <a:r>
              <a:rPr lang="en-US" sz="2800" b="1" dirty="0">
                <a:solidFill>
                  <a:srgbClr val="EF4444"/>
                </a:solidFill>
              </a:rPr>
              <a:t>✗</a:t>
            </a:r>
            <a:endParaRPr lang="en-US" sz="2800" dirty="0"/>
          </a:p>
        </p:txBody>
      </p:sp>
      <p:sp>
        <p:nvSpPr>
          <p:cNvPr id="15" name="Text 13"/>
          <p:cNvSpPr/>
          <p:nvPr/>
        </p:nvSpPr>
        <p:spPr>
          <a:xfrm>
            <a:off x="3474720" y="2514600"/>
            <a:ext cx="1371600" cy="365760"/>
          </a:xfrm>
          <a:prstGeom prst="rect">
            <a:avLst/>
          </a:prstGeom>
          <a:noFill/>
          <a:ln/>
        </p:spPr>
        <p:txBody>
          <a:bodyPr wrap="square" lIns="0" tIns="0" rIns="0" bIns="0" rtlCol="0" anchor="ctr"/>
          <a:lstStyle/>
          <a:p>
            <a:pPr marL="0" indent="0" algn="ctr">
              <a:buNone/>
            </a:pPr>
            <a:r>
              <a:rPr lang="en-US" sz="2800" b="1" dirty="0">
                <a:solidFill>
                  <a:srgbClr val="EF4444"/>
                </a:solidFill>
              </a:rPr>
              <a:t>✗</a:t>
            </a:r>
            <a:endParaRPr lang="en-US" sz="2800" dirty="0"/>
          </a:p>
        </p:txBody>
      </p:sp>
      <p:sp>
        <p:nvSpPr>
          <p:cNvPr id="16" name="Text 14"/>
          <p:cNvSpPr/>
          <p:nvPr/>
        </p:nvSpPr>
        <p:spPr>
          <a:xfrm>
            <a:off x="3474720" y="3749040"/>
            <a:ext cx="1371600" cy="365760"/>
          </a:xfrm>
          <a:prstGeom prst="rect">
            <a:avLst/>
          </a:prstGeom>
          <a:noFill/>
          <a:ln/>
        </p:spPr>
        <p:txBody>
          <a:bodyPr wrap="square" lIns="0" tIns="0" rIns="0" bIns="0" rtlCol="0" anchor="ctr"/>
          <a:lstStyle/>
          <a:p>
            <a:pPr marL="0" indent="0" algn="ctr">
              <a:buNone/>
            </a:pPr>
            <a:r>
              <a:rPr lang="en-US" sz="2800" b="1" dirty="0">
                <a:solidFill>
                  <a:srgbClr val="EF4444"/>
                </a:solidFill>
              </a:rPr>
              <a:t>✗</a:t>
            </a:r>
            <a:endParaRPr lang="en-US" sz="2800" dirty="0"/>
          </a:p>
        </p:txBody>
      </p:sp>
      <p:sp>
        <p:nvSpPr>
          <p:cNvPr id="17" name="Shape 15"/>
          <p:cNvSpPr/>
          <p:nvPr/>
        </p:nvSpPr>
        <p:spPr>
          <a:xfrm>
            <a:off x="4846320" y="1005840"/>
            <a:ext cx="3840480" cy="3474720"/>
          </a:xfrm>
          <a:prstGeom prst="roundRect">
            <a:avLst>
              <a:gd name="adj" fmla="val 2632"/>
            </a:avLst>
          </a:prstGeom>
          <a:solidFill>
            <a:srgbClr val="FFFFFF"/>
          </a:solidFill>
          <a:ln/>
          <a:effectLst>
            <a:outerShdw blurRad="127000" dist="25400" dir="2700000" algn="bl" rotWithShape="0">
              <a:srgbClr val="000000">
                <a:alpha val="12000"/>
              </a:srgbClr>
            </a:outerShdw>
          </a:effectLst>
        </p:spPr>
      </p:sp>
      <p:sp>
        <p:nvSpPr>
          <p:cNvPr id="18" name="Text 16"/>
          <p:cNvSpPr/>
          <p:nvPr/>
        </p:nvSpPr>
        <p:spPr>
          <a:xfrm>
            <a:off x="5029200" y="1097280"/>
            <a:ext cx="3566160" cy="365760"/>
          </a:xfrm>
          <a:prstGeom prst="rect">
            <a:avLst/>
          </a:prstGeom>
          <a:noFill/>
          <a:ln/>
        </p:spPr>
        <p:txBody>
          <a:bodyPr wrap="square" lIns="0" tIns="0" rIns="0" bIns="0" rtlCol="0" anchor="ctr"/>
          <a:lstStyle/>
          <a:p>
            <a:pPr marL="0" indent="0">
              <a:buNone/>
            </a:pPr>
            <a:r>
              <a:rPr lang="en-US" sz="1400" b="1" dirty="0">
                <a:solidFill>
                  <a:srgbClr val="0B1C3F"/>
                </a:solidFill>
                <a:latin typeface="Cambria" pitchFamily="34" charset="0"/>
                <a:ea typeface="Cambria" pitchFamily="34" charset="-122"/>
                <a:cs typeface="Cambria" pitchFamily="34" charset="-120"/>
              </a:rPr>
              <a:t>Why Fragmentation Fails</a:t>
            </a:r>
            <a:endParaRPr lang="en-US" sz="1400" dirty="0"/>
          </a:p>
        </p:txBody>
      </p:sp>
      <p:sp>
        <p:nvSpPr>
          <p:cNvPr id="19" name="Text 17"/>
          <p:cNvSpPr/>
          <p:nvPr/>
        </p:nvSpPr>
        <p:spPr>
          <a:xfrm>
            <a:off x="5029200" y="1554480"/>
            <a:ext cx="3566160" cy="274320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Automated systems that do exist are entirely disconnected from one another</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A city's ALPR system for tolling cannot detect a car crash or a pothole</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No unified system monitors all aspects of road health and safety simultaneously</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Manual integration of incompatible software subscriptions is costly and error-prone</a:t>
            </a:r>
            <a:endParaRPr lang="en-US" sz="12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smtClean="0">
                <a:solidFill>
                  <a:srgbClr val="FFFFFF"/>
                </a:solidFill>
              </a:rPr>
              <a:t> </a:t>
            </a:r>
            <a:r>
              <a:rPr lang="en-US" sz="900" b="1" dirty="0">
                <a:solidFill>
                  <a:srgbClr val="FFFFFF"/>
                </a:solidFill>
              </a:rPr>
              <a:t>WHY NOW</a:t>
            </a:r>
            <a:endParaRPr lang="en-US" sz="900" dirty="0"/>
          </a:p>
        </p:txBody>
      </p:sp>
      <p:sp>
        <p:nvSpPr>
          <p:cNvPr id="4" name="Text 2"/>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Why This Matters Now</a:t>
            </a:r>
            <a:endParaRPr lang="en-US" sz="3000" dirty="0"/>
          </a:p>
        </p:txBody>
      </p:sp>
      <p:sp>
        <p:nvSpPr>
          <p:cNvPr id="5" name="Shape 3"/>
          <p:cNvSpPr/>
          <p:nvPr/>
        </p:nvSpPr>
        <p:spPr>
          <a:xfrm>
            <a:off x="457200" y="850392"/>
            <a:ext cx="1097280" cy="54864"/>
          </a:xfrm>
          <a:prstGeom prst="rect">
            <a:avLst/>
          </a:prstGeom>
          <a:solidFill>
            <a:srgbClr val="0D9488"/>
          </a:solidFill>
          <a:ln/>
        </p:spPr>
      </p:sp>
      <p:sp>
        <p:nvSpPr>
          <p:cNvPr id="6" name="Shape 4"/>
          <p:cNvSpPr/>
          <p:nvPr/>
        </p:nvSpPr>
        <p:spPr>
          <a:xfrm>
            <a:off x="384048" y="1051560"/>
            <a:ext cx="2743200" cy="3200400"/>
          </a:xfrm>
          <a:prstGeom prst="roundRect">
            <a:avLst>
              <a:gd name="adj" fmla="val 3333"/>
            </a:avLst>
          </a:prstGeom>
          <a:solidFill>
            <a:srgbClr val="0E2140"/>
          </a:solidFill>
          <a:ln/>
          <a:effectLst>
            <a:outerShdw blurRad="127000" dist="25400" dir="2700000" algn="bl" rotWithShape="0">
              <a:srgbClr val="000000">
                <a:alpha val="12000"/>
              </a:srgbClr>
            </a:outerShdw>
          </a:effectLst>
        </p:spPr>
      </p:sp>
      <p:sp>
        <p:nvSpPr>
          <p:cNvPr id="7" name="Shape 5"/>
          <p:cNvSpPr/>
          <p:nvPr/>
        </p:nvSpPr>
        <p:spPr>
          <a:xfrm>
            <a:off x="1298448" y="1216152"/>
            <a:ext cx="914400" cy="914400"/>
          </a:xfrm>
          <a:prstGeom prst="line">
            <a:avLst/>
          </a:prstGeom>
          <a:solidFill>
            <a:srgbClr val="EF4444"/>
          </a:solidFill>
          <a:ln/>
        </p:spPr>
      </p:sp>
      <p:pic>
        <p:nvPicPr>
          <p:cNvPr id="8" name="Image 0" descr="preencoded.png"/>
          <p:cNvPicPr>
            <a:picLocks noChangeAspect="1"/>
          </p:cNvPicPr>
          <p:nvPr/>
        </p:nvPicPr>
        <p:blipFill>
          <a:blip r:embed="rId3"/>
          <a:stretch>
            <a:fillRect/>
          </a:stretch>
        </p:blipFill>
        <p:spPr>
          <a:xfrm>
            <a:off x="1389888" y="1307592"/>
            <a:ext cx="731520" cy="731520"/>
          </a:xfrm>
          <a:prstGeom prst="rect">
            <a:avLst/>
          </a:prstGeom>
        </p:spPr>
      </p:pic>
      <p:sp>
        <p:nvSpPr>
          <p:cNvPr id="9" name="Text 6"/>
          <p:cNvSpPr/>
          <p:nvPr/>
        </p:nvSpPr>
        <p:spPr>
          <a:xfrm>
            <a:off x="475488" y="2286000"/>
            <a:ext cx="25603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Safety Hazards</a:t>
            </a:r>
            <a:endParaRPr lang="en-US" sz="1300" dirty="0"/>
          </a:p>
        </p:txBody>
      </p:sp>
      <p:sp>
        <p:nvSpPr>
          <p:cNvPr id="10" name="Text 7"/>
          <p:cNvSpPr/>
          <p:nvPr/>
        </p:nvSpPr>
        <p:spPr>
          <a:xfrm>
            <a:off x="493776" y="2715768"/>
            <a:ext cx="2523744" cy="1371600"/>
          </a:xfrm>
          <a:prstGeom prst="rect">
            <a:avLst/>
          </a:prstGeom>
          <a:noFill/>
          <a:ln/>
        </p:spPr>
        <p:txBody>
          <a:bodyPr wrap="square" lIns="50800" tIns="50800" rIns="50800" bIns="50800" rtlCol="0" anchor="t"/>
          <a:lstStyle/>
          <a:p>
            <a:pPr marL="0" indent="0" algn="ctr">
              <a:buNone/>
            </a:pPr>
            <a:r>
              <a:rPr lang="en-US" sz="1100" dirty="0">
                <a:solidFill>
                  <a:srgbClr val="94A3B8"/>
                </a:solidFill>
                <a:latin typeface="Calibri" pitchFamily="34" charset="0"/>
                <a:ea typeface="Calibri" pitchFamily="34" charset="-122"/>
                <a:cs typeface="Calibri" pitchFamily="34" charset="-120"/>
              </a:rPr>
              <a:t>Delayed responses to accidents or fires result in compounding dangers — every second counts when lives are at risk.</a:t>
            </a:r>
            <a:endParaRPr lang="en-US" sz="1100" dirty="0"/>
          </a:p>
        </p:txBody>
      </p:sp>
      <p:sp>
        <p:nvSpPr>
          <p:cNvPr id="11" name="Shape 8"/>
          <p:cNvSpPr/>
          <p:nvPr/>
        </p:nvSpPr>
        <p:spPr>
          <a:xfrm>
            <a:off x="3264408" y="1051560"/>
            <a:ext cx="2743200" cy="3200400"/>
          </a:xfrm>
          <a:prstGeom prst="roundRect">
            <a:avLst>
              <a:gd name="adj" fmla="val 3333"/>
            </a:avLst>
          </a:prstGeom>
          <a:solidFill>
            <a:srgbClr val="0E2140"/>
          </a:solidFill>
          <a:ln/>
          <a:effectLst>
            <a:outerShdw blurRad="127000" dist="25400" dir="2700000" algn="bl" rotWithShape="0">
              <a:srgbClr val="000000">
                <a:alpha val="12000"/>
              </a:srgbClr>
            </a:outerShdw>
          </a:effectLst>
        </p:spPr>
      </p:sp>
      <p:sp>
        <p:nvSpPr>
          <p:cNvPr id="12" name="Shape 9"/>
          <p:cNvSpPr/>
          <p:nvPr/>
        </p:nvSpPr>
        <p:spPr>
          <a:xfrm>
            <a:off x="4178808" y="1216152"/>
            <a:ext cx="914400" cy="914400"/>
          </a:xfrm>
          <a:prstGeom prst="line">
            <a:avLst/>
          </a:prstGeom>
          <a:solidFill>
            <a:srgbClr val="FBBF24"/>
          </a:solidFill>
          <a:ln/>
        </p:spPr>
      </p:sp>
      <p:pic>
        <p:nvPicPr>
          <p:cNvPr id="13" name="Image 1" descr="preencoded.png"/>
          <p:cNvPicPr>
            <a:picLocks noChangeAspect="1"/>
          </p:cNvPicPr>
          <p:nvPr/>
        </p:nvPicPr>
        <p:blipFill>
          <a:blip r:embed="rId4"/>
          <a:stretch>
            <a:fillRect/>
          </a:stretch>
        </p:blipFill>
        <p:spPr>
          <a:xfrm>
            <a:off x="4270248" y="1307592"/>
            <a:ext cx="731520" cy="731520"/>
          </a:xfrm>
          <a:prstGeom prst="rect">
            <a:avLst/>
          </a:prstGeom>
        </p:spPr>
      </p:pic>
      <p:sp>
        <p:nvSpPr>
          <p:cNvPr id="14" name="Text 10"/>
          <p:cNvSpPr/>
          <p:nvPr/>
        </p:nvSpPr>
        <p:spPr>
          <a:xfrm>
            <a:off x="3355848" y="2286000"/>
            <a:ext cx="25603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Economic Cost</a:t>
            </a:r>
            <a:endParaRPr lang="en-US" sz="1300" dirty="0"/>
          </a:p>
        </p:txBody>
      </p:sp>
      <p:sp>
        <p:nvSpPr>
          <p:cNvPr id="15" name="Text 11"/>
          <p:cNvSpPr/>
          <p:nvPr/>
        </p:nvSpPr>
        <p:spPr>
          <a:xfrm>
            <a:off x="3374136" y="2715768"/>
            <a:ext cx="2523744" cy="1371600"/>
          </a:xfrm>
          <a:prstGeom prst="rect">
            <a:avLst/>
          </a:prstGeom>
          <a:noFill/>
          <a:ln/>
        </p:spPr>
        <p:txBody>
          <a:bodyPr wrap="square" lIns="50800" tIns="50800" rIns="50800" bIns="50800" rtlCol="0" anchor="t"/>
          <a:lstStyle/>
          <a:p>
            <a:pPr marL="0" indent="0" algn="ctr">
              <a:buNone/>
            </a:pPr>
            <a:r>
              <a:rPr lang="en-US" sz="1100" dirty="0">
                <a:solidFill>
                  <a:srgbClr val="94A3B8"/>
                </a:solidFill>
                <a:latin typeface="Calibri" pitchFamily="34" charset="0"/>
                <a:ea typeface="Calibri" pitchFamily="34" charset="-122"/>
                <a:cs typeface="Calibri" pitchFamily="34" charset="-120"/>
              </a:rPr>
              <a:t>Manual road surveying with specialized vehicles is incredibly expensive and yields infrequent snapshots rather than continuous data.</a:t>
            </a:r>
            <a:endParaRPr lang="en-US" sz="1100" dirty="0"/>
          </a:p>
        </p:txBody>
      </p:sp>
      <p:sp>
        <p:nvSpPr>
          <p:cNvPr id="16" name="Shape 12"/>
          <p:cNvSpPr/>
          <p:nvPr/>
        </p:nvSpPr>
        <p:spPr>
          <a:xfrm>
            <a:off x="6144768" y="1051560"/>
            <a:ext cx="2743200" cy="3200400"/>
          </a:xfrm>
          <a:prstGeom prst="roundRect">
            <a:avLst>
              <a:gd name="adj" fmla="val 3333"/>
            </a:avLst>
          </a:prstGeom>
          <a:solidFill>
            <a:srgbClr val="0E2140"/>
          </a:solidFill>
          <a:ln/>
          <a:effectLst>
            <a:outerShdw blurRad="127000" dist="25400" dir="2700000" algn="bl" rotWithShape="0">
              <a:srgbClr val="000000">
                <a:alpha val="12000"/>
              </a:srgbClr>
            </a:outerShdw>
          </a:effectLst>
        </p:spPr>
      </p:sp>
      <p:sp>
        <p:nvSpPr>
          <p:cNvPr id="17" name="Shape 13"/>
          <p:cNvSpPr/>
          <p:nvPr/>
        </p:nvSpPr>
        <p:spPr>
          <a:xfrm>
            <a:off x="7059168" y="1216152"/>
            <a:ext cx="914400" cy="914400"/>
          </a:xfrm>
          <a:prstGeom prst="line">
            <a:avLst/>
          </a:prstGeom>
          <a:solidFill>
            <a:srgbClr val="F97316"/>
          </a:solidFill>
          <a:ln/>
        </p:spPr>
      </p:sp>
      <p:pic>
        <p:nvPicPr>
          <p:cNvPr id="18" name="Image 2" descr="preencoded.png"/>
          <p:cNvPicPr>
            <a:picLocks noChangeAspect="1"/>
          </p:cNvPicPr>
          <p:nvPr/>
        </p:nvPicPr>
        <p:blipFill>
          <a:blip r:embed="rId5"/>
          <a:stretch>
            <a:fillRect/>
          </a:stretch>
        </p:blipFill>
        <p:spPr>
          <a:xfrm>
            <a:off x="7150608" y="1307592"/>
            <a:ext cx="731520" cy="731520"/>
          </a:xfrm>
          <a:prstGeom prst="rect">
            <a:avLst/>
          </a:prstGeom>
        </p:spPr>
      </p:pic>
      <p:sp>
        <p:nvSpPr>
          <p:cNvPr id="19" name="Text 14"/>
          <p:cNvSpPr/>
          <p:nvPr/>
        </p:nvSpPr>
        <p:spPr>
          <a:xfrm>
            <a:off x="6236208" y="2286000"/>
            <a:ext cx="25603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Traffic Congestion</a:t>
            </a:r>
            <a:endParaRPr lang="en-US" sz="1300" dirty="0"/>
          </a:p>
        </p:txBody>
      </p:sp>
      <p:sp>
        <p:nvSpPr>
          <p:cNvPr id="20" name="Text 15"/>
          <p:cNvSpPr/>
          <p:nvPr/>
        </p:nvSpPr>
        <p:spPr>
          <a:xfrm>
            <a:off x="6254496" y="2715768"/>
            <a:ext cx="2523744" cy="1371600"/>
          </a:xfrm>
          <a:prstGeom prst="rect">
            <a:avLst/>
          </a:prstGeom>
          <a:noFill/>
          <a:ln/>
        </p:spPr>
        <p:txBody>
          <a:bodyPr wrap="square" lIns="50800" tIns="50800" rIns="50800" bIns="50800" rtlCol="0" anchor="t"/>
          <a:lstStyle/>
          <a:p>
            <a:pPr marL="0" indent="0" algn="ctr">
              <a:buNone/>
            </a:pPr>
            <a:r>
              <a:rPr lang="en-US" sz="1100" dirty="0">
                <a:solidFill>
                  <a:srgbClr val="94A3B8"/>
                </a:solidFill>
                <a:latin typeface="Calibri" pitchFamily="34" charset="0"/>
                <a:ea typeface="Calibri" pitchFamily="34" charset="-122"/>
                <a:cs typeface="Calibri" pitchFamily="34" charset="-120"/>
              </a:rPr>
              <a:t>Unmanaged accidents and infrastructure damage cause massive bottlenecks, costing billions in lost productivity annually.</a:t>
            </a:r>
            <a:endParaRPr lang="en-US" sz="11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2 · COMPETITOR ANALYSIS</a:t>
            </a:r>
            <a:endParaRPr lang="en-US" sz="900" dirty="0"/>
          </a:p>
        </p:txBody>
      </p:sp>
      <p:sp>
        <p:nvSpPr>
          <p:cNvPr id="4" name="Text 2"/>
          <p:cNvSpPr/>
          <p:nvPr/>
        </p:nvSpPr>
        <p:spPr>
          <a:xfrm>
            <a:off x="457200" y="201168"/>
            <a:ext cx="8229600" cy="548640"/>
          </a:xfrm>
          <a:prstGeom prst="rect">
            <a:avLst/>
          </a:prstGeom>
          <a:noFill/>
          <a:ln/>
        </p:spPr>
        <p:txBody>
          <a:bodyPr wrap="square" lIns="0" tIns="0" rIns="0" bIns="0" rtlCol="0" anchor="ctr"/>
          <a:lstStyle/>
          <a:p>
            <a:pPr marL="0" indent="0" algn="l">
              <a:buNone/>
            </a:pPr>
            <a:r>
              <a:rPr lang="en-US" sz="2800" b="1" dirty="0">
                <a:solidFill>
                  <a:srgbClr val="0B1C3F"/>
                </a:solidFill>
                <a:latin typeface="Cambria" pitchFamily="34" charset="0"/>
                <a:ea typeface="Cambria" pitchFamily="34" charset="-122"/>
                <a:cs typeface="Cambria" pitchFamily="34" charset="-120"/>
              </a:rPr>
              <a:t>What Does the Market Offer?</a:t>
            </a:r>
            <a:endParaRPr lang="en-US" sz="2800" dirty="0"/>
          </a:p>
        </p:txBody>
      </p:sp>
      <p:sp>
        <p:nvSpPr>
          <p:cNvPr id="5" name="Shape 3"/>
          <p:cNvSpPr/>
          <p:nvPr/>
        </p:nvSpPr>
        <p:spPr>
          <a:xfrm>
            <a:off x="457200" y="795528"/>
            <a:ext cx="1097280" cy="54864"/>
          </a:xfrm>
          <a:prstGeom prst="rect">
            <a:avLst/>
          </a:prstGeom>
          <a:solidFill>
            <a:srgbClr val="0D9488"/>
          </a:solidFill>
          <a:ln/>
        </p:spPr>
      </p:sp>
      <p:sp>
        <p:nvSpPr>
          <p:cNvPr id="6" name="Shape 4"/>
          <p:cNvSpPr/>
          <p:nvPr/>
        </p:nvSpPr>
        <p:spPr>
          <a:xfrm>
            <a:off x="365760" y="1005840"/>
            <a:ext cx="4114800" cy="3749040"/>
          </a:xfrm>
          <a:prstGeom prst="roundRect">
            <a:avLst>
              <a:gd name="adj" fmla="val 2439"/>
            </a:avLst>
          </a:prstGeom>
          <a:solidFill>
            <a:srgbClr val="FFFFFF"/>
          </a:solidFill>
          <a:ln/>
          <a:effectLst>
            <a:outerShdw blurRad="127000" dist="25400" dir="2700000" algn="bl" rotWithShape="0">
              <a:srgbClr val="000000">
                <a:alpha val="12000"/>
              </a:srgbClr>
            </a:outerShdw>
          </a:effectLst>
        </p:spPr>
      </p:sp>
      <p:sp>
        <p:nvSpPr>
          <p:cNvPr id="7" name="Text 5"/>
          <p:cNvSpPr/>
          <p:nvPr/>
        </p:nvSpPr>
        <p:spPr>
          <a:xfrm>
            <a:off x="548640" y="1097280"/>
            <a:ext cx="3657600" cy="365760"/>
          </a:xfrm>
          <a:prstGeom prst="rect">
            <a:avLst/>
          </a:prstGeom>
          <a:noFill/>
          <a:ln/>
        </p:spPr>
        <p:txBody>
          <a:bodyPr wrap="square" lIns="0" tIns="0" rIns="0" bIns="0" rtlCol="0" anchor="ctr"/>
          <a:lstStyle/>
          <a:p>
            <a:pPr marL="0" indent="0">
              <a:buNone/>
            </a:pPr>
            <a:r>
              <a:rPr lang="en-US" sz="1400" b="1" dirty="0">
                <a:solidFill>
                  <a:srgbClr val="0B1C3F"/>
                </a:solidFill>
                <a:latin typeface="Cambria" pitchFamily="34" charset="0"/>
                <a:ea typeface="Cambria" pitchFamily="34" charset="-122"/>
                <a:cs typeface="Cambria" pitchFamily="34" charset="-120"/>
              </a:rPr>
              <a:t>Existing Players</a:t>
            </a:r>
            <a:endParaRPr lang="en-US" sz="1400" dirty="0"/>
          </a:p>
        </p:txBody>
      </p:sp>
      <p:sp>
        <p:nvSpPr>
          <p:cNvPr id="8" name="Text 6"/>
          <p:cNvSpPr/>
          <p:nvPr/>
        </p:nvSpPr>
        <p:spPr>
          <a:xfrm>
            <a:off x="548640" y="1554480"/>
            <a:ext cx="3840480" cy="301752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Mobileye — Advanced driver-assistance &amp; mapping systems</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Nexar — Dashcam telematics &amp; incident detection network</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Specialized Surveying Firms — LiDAR-equipped inspection fleets</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Municipal CCTV Integrators — Fixed camera management platforms</a:t>
            </a:r>
            <a:endParaRPr lang="en-US" sz="1200" dirty="0"/>
          </a:p>
        </p:txBody>
      </p:sp>
      <p:sp>
        <p:nvSpPr>
          <p:cNvPr id="9" name="Shape 7"/>
          <p:cNvSpPr/>
          <p:nvPr/>
        </p:nvSpPr>
        <p:spPr>
          <a:xfrm>
            <a:off x="4754880" y="1005840"/>
            <a:ext cx="3931920" cy="3749040"/>
          </a:xfrm>
          <a:prstGeom prst="roundRect">
            <a:avLst>
              <a:gd name="adj" fmla="val 2439"/>
            </a:avLst>
          </a:prstGeom>
          <a:solidFill>
            <a:srgbClr val="FFFFFF"/>
          </a:solidFill>
          <a:ln/>
          <a:effectLst>
            <a:outerShdw blurRad="127000" dist="25400" dir="2700000" algn="bl" rotWithShape="0">
              <a:srgbClr val="000000">
                <a:alpha val="12000"/>
              </a:srgbClr>
            </a:outerShdw>
          </a:effectLst>
        </p:spPr>
      </p:sp>
      <p:sp>
        <p:nvSpPr>
          <p:cNvPr id="10" name="Text 8"/>
          <p:cNvSpPr/>
          <p:nvPr/>
        </p:nvSpPr>
        <p:spPr>
          <a:xfrm>
            <a:off x="4937760" y="1097280"/>
            <a:ext cx="3657600" cy="365760"/>
          </a:xfrm>
          <a:prstGeom prst="rect">
            <a:avLst/>
          </a:prstGeom>
          <a:noFill/>
          <a:ln/>
        </p:spPr>
        <p:txBody>
          <a:bodyPr wrap="square" lIns="0" tIns="0" rIns="0" bIns="0" rtlCol="0" anchor="ctr"/>
          <a:lstStyle/>
          <a:p>
            <a:pPr marL="0" indent="0">
              <a:buNone/>
            </a:pPr>
            <a:r>
              <a:rPr lang="en-US" sz="1400" b="1" dirty="0">
                <a:solidFill>
                  <a:srgbClr val="0B1C3F"/>
                </a:solidFill>
                <a:latin typeface="Cambria" pitchFamily="34" charset="0"/>
                <a:ea typeface="Cambria" pitchFamily="34" charset="-122"/>
                <a:cs typeface="Cambria" pitchFamily="34" charset="-120"/>
              </a:rPr>
              <a:t>Their Shared Blind Spot</a:t>
            </a:r>
            <a:endParaRPr lang="en-US" sz="1400" dirty="0"/>
          </a:p>
        </p:txBody>
      </p:sp>
      <p:sp>
        <p:nvSpPr>
          <p:cNvPr id="11" name="Text 9"/>
          <p:cNvSpPr/>
          <p:nvPr/>
        </p:nvSpPr>
        <p:spPr>
          <a:xfrm>
            <a:off x="4937760" y="1554480"/>
            <a:ext cx="3611880" cy="1828800"/>
          </a:xfrm>
          <a:prstGeom prst="rect">
            <a:avLst/>
          </a:prstGeom>
          <a:noFill/>
          <a:ln/>
        </p:spPr>
        <p:txBody>
          <a:bodyPr wrap="square" lIns="50800" tIns="50800" rIns="50800" bIns="50800" rtlCol="0" anchor="t"/>
          <a:lstStyle/>
          <a:p>
            <a:pPr marL="0" indent="0">
              <a:buNone/>
            </a:pPr>
            <a:r>
              <a:rPr lang="en-US" sz="1200" dirty="0">
                <a:solidFill>
                  <a:srgbClr val="334155"/>
                </a:solidFill>
                <a:latin typeface="Calibri" pitchFamily="34" charset="0"/>
                <a:ea typeface="Calibri" pitchFamily="34" charset="-122"/>
                <a:cs typeface="Calibri" pitchFamily="34" charset="-120"/>
              </a:rPr>
              <a:t>While they have strong niche products, they fail to provide a holistic view of the road environment. Each solves one piece of the puzzle — leaving cities to stitch together fragmented, incompatible solutions at great cost.</a:t>
            </a:r>
            <a:endParaRPr lang="en-US" sz="1200" dirty="0"/>
          </a:p>
        </p:txBody>
      </p:sp>
      <p:pic>
        <p:nvPicPr>
          <p:cNvPr id="12" name="Image 0" descr="preencoded.png"/>
          <p:cNvPicPr>
            <a:picLocks noChangeAspect="1"/>
          </p:cNvPicPr>
          <p:nvPr/>
        </p:nvPicPr>
        <p:blipFill>
          <a:blip r:embed="rId3"/>
          <a:stretch>
            <a:fillRect/>
          </a:stretch>
        </p:blipFill>
        <p:spPr>
          <a:xfrm>
            <a:off x="5943600" y="3474720"/>
            <a:ext cx="1097280" cy="109728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2 · COMPETITOR LIMITATIONS</a:t>
            </a:r>
            <a:endParaRPr lang="en-US" sz="900" dirty="0"/>
          </a:p>
        </p:txBody>
      </p:sp>
      <p:sp>
        <p:nvSpPr>
          <p:cNvPr id="4" name="Text 2"/>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The Hardware Trap</a:t>
            </a:r>
            <a:endParaRPr lang="en-US" sz="3000" dirty="0"/>
          </a:p>
        </p:txBody>
      </p:sp>
      <p:sp>
        <p:nvSpPr>
          <p:cNvPr id="5" name="Shape 3"/>
          <p:cNvSpPr/>
          <p:nvPr/>
        </p:nvSpPr>
        <p:spPr>
          <a:xfrm>
            <a:off x="457200" y="850392"/>
            <a:ext cx="1097280" cy="54864"/>
          </a:xfrm>
          <a:prstGeom prst="rect">
            <a:avLst/>
          </a:prstGeom>
          <a:solidFill>
            <a:srgbClr val="0D9488"/>
          </a:solidFill>
          <a:ln/>
        </p:spPr>
      </p:sp>
      <p:sp>
        <p:nvSpPr>
          <p:cNvPr id="6" name="Text 4"/>
          <p:cNvSpPr/>
          <p:nvPr/>
        </p:nvSpPr>
        <p:spPr>
          <a:xfrm>
            <a:off x="457200" y="914400"/>
            <a:ext cx="8229600" cy="5029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Competitors require expensive, proprietary hardware that makes city-wide deployment economically impossible.</a:t>
            </a:r>
            <a:endParaRPr lang="en-US" sz="1400" dirty="0"/>
          </a:p>
        </p:txBody>
      </p:sp>
      <p:sp>
        <p:nvSpPr>
          <p:cNvPr id="7" name="Shape 5"/>
          <p:cNvSpPr/>
          <p:nvPr/>
        </p:nvSpPr>
        <p:spPr>
          <a:xfrm>
            <a:off x="457200" y="1600200"/>
            <a:ext cx="8229600" cy="960120"/>
          </a:xfrm>
          <a:prstGeom prst="roundRect">
            <a:avLst>
              <a:gd name="adj" fmla="val 9524"/>
            </a:avLst>
          </a:prstGeom>
          <a:solidFill>
            <a:srgbClr val="0E2140"/>
          </a:solidFill>
          <a:ln/>
          <a:effectLst>
            <a:outerShdw blurRad="127000" dist="25400" dir="2700000" algn="bl" rotWithShape="0">
              <a:srgbClr val="000000">
                <a:alpha val="12000"/>
              </a:srgbClr>
            </a:outerShdw>
          </a:effectLst>
        </p:spPr>
      </p:sp>
      <p:sp>
        <p:nvSpPr>
          <p:cNvPr id="8" name="Text 6"/>
          <p:cNvSpPr/>
          <p:nvPr/>
        </p:nvSpPr>
        <p:spPr>
          <a:xfrm>
            <a:off x="640080" y="1691640"/>
            <a:ext cx="2011680" cy="731520"/>
          </a:xfrm>
          <a:prstGeom prst="rect">
            <a:avLst/>
          </a:prstGeom>
          <a:noFill/>
          <a:ln/>
        </p:spPr>
        <p:txBody>
          <a:bodyPr wrap="square" lIns="50800" tIns="50800" rIns="50800" bIns="5080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LiDAR Sensors</a:t>
            </a:r>
            <a:endParaRPr lang="en-US" sz="1300" dirty="0"/>
          </a:p>
        </p:txBody>
      </p:sp>
      <p:sp>
        <p:nvSpPr>
          <p:cNvPr id="9" name="Shape 7"/>
          <p:cNvSpPr/>
          <p:nvPr/>
        </p:nvSpPr>
        <p:spPr>
          <a:xfrm>
            <a:off x="2697480" y="1783080"/>
            <a:ext cx="1371600" cy="548640"/>
          </a:xfrm>
          <a:prstGeom prst="roundRect">
            <a:avLst>
              <a:gd name="adj" fmla="val 11667"/>
            </a:avLst>
          </a:prstGeom>
          <a:solidFill>
            <a:srgbClr val="EF4444"/>
          </a:solidFill>
          <a:ln/>
        </p:spPr>
      </p:sp>
      <p:sp>
        <p:nvSpPr>
          <p:cNvPr id="10" name="Text 8"/>
          <p:cNvSpPr/>
          <p:nvPr/>
        </p:nvSpPr>
        <p:spPr>
          <a:xfrm>
            <a:off x="2697480" y="1783080"/>
            <a:ext cx="1371600" cy="548640"/>
          </a:xfrm>
          <a:prstGeom prst="rect">
            <a:avLst/>
          </a:prstGeom>
          <a:noFill/>
          <a:ln/>
        </p:spPr>
        <p:txBody>
          <a:bodyPr wrap="square" lIns="0" tIns="0" rIns="0" bIns="0" rtlCol="0" anchor="ctr"/>
          <a:lstStyle/>
          <a:p>
            <a:pPr marL="0" indent="0" algn="ctr">
              <a:buNone/>
            </a:pPr>
            <a:r>
              <a:rPr lang="en-US" sz="1100" b="1" dirty="0">
                <a:solidFill>
                  <a:srgbClr val="FFFFFF"/>
                </a:solidFill>
              </a:rPr>
              <a:t>$5,000–$75,000</a:t>
            </a:r>
            <a:endParaRPr lang="en-US" sz="1100" dirty="0"/>
          </a:p>
        </p:txBody>
      </p:sp>
      <p:sp>
        <p:nvSpPr>
          <p:cNvPr id="11" name="Text 9"/>
          <p:cNvSpPr/>
          <p:nvPr/>
        </p:nvSpPr>
        <p:spPr>
          <a:xfrm>
            <a:off x="4206240" y="1691640"/>
            <a:ext cx="4297680" cy="777240"/>
          </a:xfrm>
          <a:prstGeom prst="rect">
            <a:avLst/>
          </a:prstGeom>
          <a:noFill/>
          <a:ln/>
        </p:spPr>
        <p:txBody>
          <a:bodyPr wrap="square" lIns="50800" tIns="50800" rIns="50800" bIns="5080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Enterprise-grade sensors required per vehicle or installation point. Calibration and maintenance add further cost.</a:t>
            </a:r>
            <a:endParaRPr lang="en-US" sz="1100" dirty="0"/>
          </a:p>
        </p:txBody>
      </p:sp>
      <p:sp>
        <p:nvSpPr>
          <p:cNvPr id="12" name="Shape 10"/>
          <p:cNvSpPr/>
          <p:nvPr/>
        </p:nvSpPr>
        <p:spPr>
          <a:xfrm>
            <a:off x="457200" y="2697480"/>
            <a:ext cx="8229600" cy="960120"/>
          </a:xfrm>
          <a:prstGeom prst="roundRect">
            <a:avLst>
              <a:gd name="adj" fmla="val 9524"/>
            </a:avLst>
          </a:prstGeom>
          <a:solidFill>
            <a:srgbClr val="0E2140"/>
          </a:solidFill>
          <a:ln/>
          <a:effectLst>
            <a:outerShdw blurRad="127000" dist="25400" dir="2700000" algn="bl" rotWithShape="0">
              <a:srgbClr val="000000">
                <a:alpha val="12000"/>
              </a:srgbClr>
            </a:outerShdw>
          </a:effectLst>
        </p:spPr>
      </p:sp>
      <p:sp>
        <p:nvSpPr>
          <p:cNvPr id="13" name="Text 11"/>
          <p:cNvSpPr/>
          <p:nvPr/>
        </p:nvSpPr>
        <p:spPr>
          <a:xfrm>
            <a:off x="640080" y="2788920"/>
            <a:ext cx="2011680" cy="731520"/>
          </a:xfrm>
          <a:prstGeom prst="rect">
            <a:avLst/>
          </a:prstGeom>
          <a:noFill/>
          <a:ln/>
        </p:spPr>
        <p:txBody>
          <a:bodyPr wrap="square" lIns="50800" tIns="50800" rIns="50800" bIns="5080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Custom Dashcams</a:t>
            </a:r>
            <a:endParaRPr lang="en-US" sz="1300" dirty="0"/>
          </a:p>
        </p:txBody>
      </p:sp>
      <p:sp>
        <p:nvSpPr>
          <p:cNvPr id="14" name="Shape 12"/>
          <p:cNvSpPr/>
          <p:nvPr/>
        </p:nvSpPr>
        <p:spPr>
          <a:xfrm>
            <a:off x="2697480" y="2880360"/>
            <a:ext cx="1371600" cy="548640"/>
          </a:xfrm>
          <a:prstGeom prst="roundRect">
            <a:avLst>
              <a:gd name="adj" fmla="val 11667"/>
            </a:avLst>
          </a:prstGeom>
          <a:solidFill>
            <a:srgbClr val="EF4444"/>
          </a:solidFill>
          <a:ln/>
        </p:spPr>
      </p:sp>
      <p:sp>
        <p:nvSpPr>
          <p:cNvPr id="15" name="Text 13"/>
          <p:cNvSpPr/>
          <p:nvPr/>
        </p:nvSpPr>
        <p:spPr>
          <a:xfrm>
            <a:off x="2697480" y="2880360"/>
            <a:ext cx="1371600" cy="548640"/>
          </a:xfrm>
          <a:prstGeom prst="rect">
            <a:avLst/>
          </a:prstGeom>
          <a:noFill/>
          <a:ln/>
        </p:spPr>
        <p:txBody>
          <a:bodyPr wrap="square" lIns="0" tIns="0" rIns="0" bIns="0" rtlCol="0" anchor="ctr"/>
          <a:lstStyle/>
          <a:p>
            <a:pPr marL="0" indent="0" algn="ctr">
              <a:buNone/>
            </a:pPr>
            <a:r>
              <a:rPr lang="en-US" sz="1100" b="1" dirty="0">
                <a:solidFill>
                  <a:srgbClr val="FFFFFF"/>
                </a:solidFill>
              </a:rPr>
              <a:t>$500–$2,000</a:t>
            </a:r>
            <a:endParaRPr lang="en-US" sz="1100" dirty="0"/>
          </a:p>
        </p:txBody>
      </p:sp>
      <p:sp>
        <p:nvSpPr>
          <p:cNvPr id="16" name="Text 14"/>
          <p:cNvSpPr/>
          <p:nvPr/>
        </p:nvSpPr>
        <p:spPr>
          <a:xfrm>
            <a:off x="4206240" y="2788920"/>
            <a:ext cx="4297680" cy="777240"/>
          </a:xfrm>
          <a:prstGeom prst="rect">
            <a:avLst/>
          </a:prstGeom>
          <a:noFill/>
          <a:ln/>
        </p:spPr>
        <p:txBody>
          <a:bodyPr wrap="square" lIns="50800" tIns="50800" rIns="50800" bIns="5080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Proprietary enterprise dashcams locked to vendor ecosystems. Standard consumer devices are incompatible.</a:t>
            </a:r>
            <a:endParaRPr lang="en-US" sz="1100" dirty="0"/>
          </a:p>
        </p:txBody>
      </p:sp>
      <p:sp>
        <p:nvSpPr>
          <p:cNvPr id="17" name="Shape 15"/>
          <p:cNvSpPr/>
          <p:nvPr/>
        </p:nvSpPr>
        <p:spPr>
          <a:xfrm>
            <a:off x="457200" y="3794760"/>
            <a:ext cx="8229600" cy="960120"/>
          </a:xfrm>
          <a:prstGeom prst="roundRect">
            <a:avLst>
              <a:gd name="adj" fmla="val 9524"/>
            </a:avLst>
          </a:prstGeom>
          <a:solidFill>
            <a:srgbClr val="0E2140"/>
          </a:solidFill>
          <a:ln/>
          <a:effectLst>
            <a:outerShdw blurRad="127000" dist="25400" dir="2700000" algn="bl" rotWithShape="0">
              <a:srgbClr val="000000">
                <a:alpha val="12000"/>
              </a:srgbClr>
            </a:outerShdw>
          </a:effectLst>
        </p:spPr>
      </p:sp>
      <p:sp>
        <p:nvSpPr>
          <p:cNvPr id="18" name="Text 16"/>
          <p:cNvSpPr/>
          <p:nvPr/>
        </p:nvSpPr>
        <p:spPr>
          <a:xfrm>
            <a:off x="640080" y="3886200"/>
            <a:ext cx="2011680" cy="731520"/>
          </a:xfrm>
          <a:prstGeom prst="rect">
            <a:avLst/>
          </a:prstGeom>
          <a:noFill/>
          <a:ln/>
        </p:spPr>
        <p:txBody>
          <a:bodyPr wrap="square" lIns="50800" tIns="50800" rIns="50800" bIns="5080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Scaling Penalty</a:t>
            </a:r>
            <a:endParaRPr lang="en-US" sz="1300" dirty="0"/>
          </a:p>
        </p:txBody>
      </p:sp>
      <p:sp>
        <p:nvSpPr>
          <p:cNvPr id="19" name="Shape 17"/>
          <p:cNvSpPr/>
          <p:nvPr/>
        </p:nvSpPr>
        <p:spPr>
          <a:xfrm>
            <a:off x="2697480" y="3977640"/>
            <a:ext cx="1371600" cy="548640"/>
          </a:xfrm>
          <a:prstGeom prst="roundRect">
            <a:avLst>
              <a:gd name="adj" fmla="val 11667"/>
            </a:avLst>
          </a:prstGeom>
          <a:solidFill>
            <a:srgbClr val="EF4444"/>
          </a:solidFill>
          <a:ln/>
        </p:spPr>
      </p:sp>
      <p:sp>
        <p:nvSpPr>
          <p:cNvPr id="20" name="Text 18"/>
          <p:cNvSpPr/>
          <p:nvPr/>
        </p:nvSpPr>
        <p:spPr>
          <a:xfrm>
            <a:off x="2697480" y="3977640"/>
            <a:ext cx="1371600" cy="548640"/>
          </a:xfrm>
          <a:prstGeom prst="rect">
            <a:avLst/>
          </a:prstGeom>
          <a:noFill/>
          <a:ln/>
        </p:spPr>
        <p:txBody>
          <a:bodyPr wrap="square" lIns="0" tIns="0" rIns="0" bIns="0" rtlCol="0" anchor="ctr"/>
          <a:lstStyle/>
          <a:p>
            <a:pPr marL="0" indent="0" algn="ctr">
              <a:buNone/>
            </a:pPr>
            <a:r>
              <a:rPr lang="en-US" sz="1100" b="1" dirty="0">
                <a:solidFill>
                  <a:srgbClr val="FFFFFF"/>
                </a:solidFill>
              </a:rPr>
              <a:t>Prohibitive</a:t>
            </a:r>
            <a:endParaRPr lang="en-US" sz="1100" dirty="0"/>
          </a:p>
        </p:txBody>
      </p:sp>
      <p:sp>
        <p:nvSpPr>
          <p:cNvPr id="21" name="Text 19"/>
          <p:cNvSpPr/>
          <p:nvPr/>
        </p:nvSpPr>
        <p:spPr>
          <a:xfrm>
            <a:off x="4206240" y="3886200"/>
            <a:ext cx="4297680" cy="777240"/>
          </a:xfrm>
          <a:prstGeom prst="rect">
            <a:avLst/>
          </a:prstGeom>
          <a:noFill/>
          <a:ln/>
        </p:spPr>
        <p:txBody>
          <a:bodyPr wrap="square" lIns="50800" tIns="50800" rIns="50800" bIns="5080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Installing specialized hardware across an entire city multiplies costs to tens of millions — inaccessible for most municipalities.</a:t>
            </a:r>
            <a:endParaRPr lang="en-US" sz="11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2 · COMPETITOR LIMITATIONS</a:t>
            </a:r>
            <a:endParaRPr lang="en-US" sz="900" dirty="0"/>
          </a:p>
        </p:txBody>
      </p:sp>
      <p:sp>
        <p:nvSpPr>
          <p:cNvPr id="4" name="Text 2"/>
          <p:cNvSpPr/>
          <p:nvPr/>
        </p:nvSpPr>
        <p:spPr>
          <a:xfrm>
            <a:off x="457200" y="201168"/>
            <a:ext cx="8229600" cy="548640"/>
          </a:xfrm>
          <a:prstGeom prst="rect">
            <a:avLst/>
          </a:prstGeom>
          <a:noFill/>
          <a:ln/>
        </p:spPr>
        <p:txBody>
          <a:bodyPr wrap="square" lIns="0" tIns="0" rIns="0" bIns="0" rtlCol="0" anchor="ctr"/>
          <a:lstStyle/>
          <a:p>
            <a:pPr marL="0" indent="0" algn="l">
              <a:buNone/>
            </a:pPr>
            <a:r>
              <a:rPr lang="en-US" sz="2800" b="1" dirty="0">
                <a:solidFill>
                  <a:srgbClr val="0B1C3F"/>
                </a:solidFill>
                <a:latin typeface="Cambria" pitchFamily="34" charset="0"/>
                <a:ea typeface="Cambria" pitchFamily="34" charset="-122"/>
                <a:cs typeface="Cambria" pitchFamily="34" charset="-120"/>
              </a:rPr>
              <a:t>Solving Only One Problem</a:t>
            </a:r>
            <a:endParaRPr lang="en-US" sz="2800" dirty="0"/>
          </a:p>
        </p:txBody>
      </p:sp>
      <p:sp>
        <p:nvSpPr>
          <p:cNvPr id="5" name="Shape 3"/>
          <p:cNvSpPr/>
          <p:nvPr/>
        </p:nvSpPr>
        <p:spPr>
          <a:xfrm>
            <a:off x="457200" y="795528"/>
            <a:ext cx="1097280" cy="54864"/>
          </a:xfrm>
          <a:prstGeom prst="rect">
            <a:avLst/>
          </a:prstGeom>
          <a:solidFill>
            <a:srgbClr val="0D9488"/>
          </a:solidFill>
          <a:ln/>
        </p:spPr>
      </p:sp>
      <p:sp>
        <p:nvSpPr>
          <p:cNvPr id="6" name="Shape 4"/>
          <p:cNvSpPr/>
          <p:nvPr/>
        </p:nvSpPr>
        <p:spPr>
          <a:xfrm>
            <a:off x="548640" y="1097280"/>
            <a:ext cx="3200400" cy="2743200"/>
          </a:xfrm>
          <a:prstGeom prst="line">
            <a:avLst/>
          </a:prstGeom>
          <a:solidFill>
            <a:srgbClr val="DBEAFE">
              <a:alpha val="80000"/>
            </a:srgbClr>
          </a:solidFill>
          <a:ln/>
        </p:spPr>
      </p:sp>
      <p:sp>
        <p:nvSpPr>
          <p:cNvPr id="7" name="Shape 5"/>
          <p:cNvSpPr/>
          <p:nvPr/>
        </p:nvSpPr>
        <p:spPr>
          <a:xfrm>
            <a:off x="2286000" y="1097280"/>
            <a:ext cx="3200400" cy="2743200"/>
          </a:xfrm>
          <a:prstGeom prst="line">
            <a:avLst/>
          </a:prstGeom>
          <a:solidFill>
            <a:srgbClr val="D1FAE5">
              <a:alpha val="80000"/>
            </a:srgbClr>
          </a:solidFill>
          <a:ln/>
        </p:spPr>
      </p:sp>
      <p:sp>
        <p:nvSpPr>
          <p:cNvPr id="8" name="Shape 6"/>
          <p:cNvSpPr/>
          <p:nvPr/>
        </p:nvSpPr>
        <p:spPr>
          <a:xfrm>
            <a:off x="1417320" y="1828800"/>
            <a:ext cx="3200400" cy="2743200"/>
          </a:xfrm>
          <a:prstGeom prst="line">
            <a:avLst/>
          </a:prstGeom>
          <a:solidFill>
            <a:srgbClr val="FEF3C7">
              <a:alpha val="80000"/>
            </a:srgbClr>
          </a:solidFill>
          <a:ln/>
        </p:spPr>
      </p:sp>
      <p:sp>
        <p:nvSpPr>
          <p:cNvPr id="9" name="Text 7"/>
          <p:cNvSpPr/>
          <p:nvPr/>
        </p:nvSpPr>
        <p:spPr>
          <a:xfrm>
            <a:off x="548640" y="1463040"/>
            <a:ext cx="2011680" cy="365760"/>
          </a:xfrm>
          <a:prstGeom prst="rect">
            <a:avLst/>
          </a:prstGeom>
          <a:noFill/>
          <a:ln/>
        </p:spPr>
        <p:txBody>
          <a:bodyPr wrap="square" lIns="0" tIns="0" rIns="0" bIns="0" rtlCol="0" anchor="ctr"/>
          <a:lstStyle/>
          <a:p>
            <a:pPr marL="0" indent="0" algn="ctr">
              <a:buNone/>
            </a:pPr>
            <a:r>
              <a:rPr lang="en-US" sz="1200" b="1" dirty="0">
                <a:solidFill>
                  <a:srgbClr val="0B1C3F"/>
                </a:solidFill>
                <a:latin typeface="Cambria" pitchFamily="34" charset="0"/>
                <a:ea typeface="Cambria" pitchFamily="34" charset="-122"/>
                <a:cs typeface="Cambria" pitchFamily="34" charset="-120"/>
              </a:rPr>
              <a:t>Telematics</a:t>
            </a:r>
            <a:endParaRPr lang="en-US" sz="1200" dirty="0"/>
          </a:p>
        </p:txBody>
      </p:sp>
      <p:sp>
        <p:nvSpPr>
          <p:cNvPr id="10" name="Text 8"/>
          <p:cNvSpPr/>
          <p:nvPr/>
        </p:nvSpPr>
        <p:spPr>
          <a:xfrm>
            <a:off x="3291840" y="1463040"/>
            <a:ext cx="2011680" cy="457200"/>
          </a:xfrm>
          <a:prstGeom prst="rect">
            <a:avLst/>
          </a:prstGeom>
          <a:noFill/>
          <a:ln/>
        </p:spPr>
        <p:txBody>
          <a:bodyPr wrap="square" lIns="0" tIns="0" rIns="0" bIns="0" rtlCol="0" anchor="ctr"/>
          <a:lstStyle/>
          <a:p>
            <a:pPr marL="0" indent="0" algn="ctr">
              <a:buNone/>
            </a:pPr>
            <a:r>
              <a:rPr lang="en-US" sz="1200" b="1" dirty="0">
                <a:solidFill>
                  <a:srgbClr val="1E4D2B"/>
                </a:solidFill>
                <a:latin typeface="Cambria" pitchFamily="34" charset="0"/>
                <a:ea typeface="Cambria" pitchFamily="34" charset="-122"/>
                <a:cs typeface="Cambria" pitchFamily="34" charset="-120"/>
              </a:rPr>
              <a:t>Road</a:t>
            </a:r>
            <a:endParaRPr lang="en-US" sz="1200" dirty="0"/>
          </a:p>
          <a:p>
            <a:pPr marL="0" indent="0" algn="ctr">
              <a:buNone/>
            </a:pPr>
            <a:r>
              <a:rPr lang="en-US" sz="1200" b="1" dirty="0">
                <a:solidFill>
                  <a:srgbClr val="1E4D2B"/>
                </a:solidFill>
                <a:latin typeface="Cambria" pitchFamily="34" charset="0"/>
                <a:ea typeface="Cambria" pitchFamily="34" charset="-122"/>
                <a:cs typeface="Cambria" pitchFamily="34" charset="-120"/>
              </a:rPr>
              <a:t>Damage</a:t>
            </a:r>
            <a:endParaRPr lang="en-US" sz="1200" dirty="0"/>
          </a:p>
        </p:txBody>
      </p:sp>
      <p:sp>
        <p:nvSpPr>
          <p:cNvPr id="11" name="Text 9"/>
          <p:cNvSpPr/>
          <p:nvPr/>
        </p:nvSpPr>
        <p:spPr>
          <a:xfrm>
            <a:off x="1920240" y="3931920"/>
            <a:ext cx="2011680" cy="457200"/>
          </a:xfrm>
          <a:prstGeom prst="rect">
            <a:avLst/>
          </a:prstGeom>
          <a:noFill/>
          <a:ln/>
        </p:spPr>
        <p:txBody>
          <a:bodyPr wrap="square" lIns="0" tIns="0" rIns="0" bIns="0" rtlCol="0" anchor="ctr"/>
          <a:lstStyle/>
          <a:p>
            <a:pPr marL="0" indent="0" algn="ctr">
              <a:buNone/>
            </a:pPr>
            <a:r>
              <a:rPr lang="en-US" sz="1200" b="1" dirty="0">
                <a:solidFill>
                  <a:srgbClr val="713F12"/>
                </a:solidFill>
                <a:latin typeface="Cambria" pitchFamily="34" charset="0"/>
                <a:ea typeface="Cambria" pitchFamily="34" charset="-122"/>
                <a:cs typeface="Cambria" pitchFamily="34" charset="-120"/>
              </a:rPr>
              <a:t>Safety</a:t>
            </a:r>
            <a:endParaRPr lang="en-US" sz="1200" dirty="0"/>
          </a:p>
          <a:p>
            <a:pPr marL="0" indent="0" algn="ctr">
              <a:buNone/>
            </a:pPr>
            <a:r>
              <a:rPr lang="en-US" sz="1200" b="1" dirty="0">
                <a:solidFill>
                  <a:srgbClr val="713F12"/>
                </a:solidFill>
                <a:latin typeface="Cambria" pitchFamily="34" charset="0"/>
                <a:ea typeface="Cambria" pitchFamily="34" charset="-122"/>
                <a:cs typeface="Cambria" pitchFamily="34" charset="-120"/>
              </a:rPr>
              <a:t>Cameras</a:t>
            </a:r>
            <a:endParaRPr lang="en-US" sz="1200" dirty="0"/>
          </a:p>
        </p:txBody>
      </p:sp>
      <p:sp>
        <p:nvSpPr>
          <p:cNvPr id="12" name="Text 10"/>
          <p:cNvSpPr/>
          <p:nvPr/>
        </p:nvSpPr>
        <p:spPr>
          <a:xfrm>
            <a:off x="2011680" y="2606040"/>
            <a:ext cx="1280160" cy="457200"/>
          </a:xfrm>
          <a:prstGeom prst="rect">
            <a:avLst/>
          </a:prstGeom>
          <a:noFill/>
          <a:ln/>
        </p:spPr>
        <p:txBody>
          <a:bodyPr wrap="square" lIns="0" tIns="0" rIns="0" bIns="0" rtlCol="0" anchor="ctr"/>
          <a:lstStyle/>
          <a:p>
            <a:pPr marL="0" indent="0" algn="ctr">
              <a:buNone/>
            </a:pPr>
            <a:r>
              <a:rPr lang="en-US" sz="3600" b="1" dirty="0">
                <a:solidFill>
                  <a:srgbClr val="EF4444"/>
                </a:solidFill>
              </a:rPr>
              <a:t>?</a:t>
            </a:r>
            <a:endParaRPr lang="en-US" sz="3600" dirty="0"/>
          </a:p>
        </p:txBody>
      </p:sp>
      <p:sp>
        <p:nvSpPr>
          <p:cNvPr id="13" name="Shape 11"/>
          <p:cNvSpPr/>
          <p:nvPr/>
        </p:nvSpPr>
        <p:spPr>
          <a:xfrm>
            <a:off x="5394960" y="1005840"/>
            <a:ext cx="3383280" cy="3749040"/>
          </a:xfrm>
          <a:prstGeom prst="roundRect">
            <a:avLst>
              <a:gd name="adj" fmla="val 2703"/>
            </a:avLst>
          </a:prstGeom>
          <a:solidFill>
            <a:srgbClr val="FFFFFF"/>
          </a:solidFill>
          <a:ln/>
          <a:effectLst>
            <a:outerShdw blurRad="127000" dist="25400" dir="2700000" algn="bl" rotWithShape="0">
              <a:srgbClr val="000000">
                <a:alpha val="12000"/>
              </a:srgbClr>
            </a:outerShdw>
          </a:effectLst>
        </p:spPr>
      </p:sp>
      <p:sp>
        <p:nvSpPr>
          <p:cNvPr id="14" name="Text 12"/>
          <p:cNvSpPr/>
          <p:nvPr/>
        </p:nvSpPr>
        <p:spPr>
          <a:xfrm>
            <a:off x="5577840" y="1097280"/>
            <a:ext cx="3017520" cy="365760"/>
          </a:xfrm>
          <a:prstGeom prst="rect">
            <a:avLst/>
          </a:prstGeom>
          <a:noFill/>
          <a:ln/>
        </p:spPr>
        <p:txBody>
          <a:bodyPr wrap="square" lIns="0" tIns="0" rIns="0" bIns="0" rtlCol="0" anchor="ctr"/>
          <a:lstStyle/>
          <a:p>
            <a:pPr marL="0" indent="0">
              <a:buNone/>
            </a:pPr>
            <a:r>
              <a:rPr lang="en-US" sz="1400" b="1" dirty="0">
                <a:solidFill>
                  <a:srgbClr val="0B1C3F"/>
                </a:solidFill>
                <a:latin typeface="Cambria" pitchFamily="34" charset="0"/>
                <a:ea typeface="Cambria" pitchFamily="34" charset="-122"/>
                <a:cs typeface="Cambria" pitchFamily="34" charset="-120"/>
              </a:rPr>
              <a:t>The Integration Gap</a:t>
            </a:r>
            <a:endParaRPr lang="en-US" sz="1400" dirty="0"/>
          </a:p>
        </p:txBody>
      </p:sp>
      <p:sp>
        <p:nvSpPr>
          <p:cNvPr id="15" name="Text 13"/>
          <p:cNvSpPr/>
          <p:nvPr/>
        </p:nvSpPr>
        <p:spPr>
          <a:xfrm>
            <a:off x="5577840" y="1554480"/>
            <a:ext cx="3108960" cy="3017520"/>
          </a:xfrm>
          <a:prstGeom prst="rect">
            <a:avLst/>
          </a:prstGeom>
          <a:noFill/>
          <a:ln/>
        </p:spPr>
        <p:txBody>
          <a:bodyPr wrap="square" lIns="50800" tIns="50800" rIns="50800" bIns="50800" rtlCol="0" anchor="t"/>
          <a:lstStyle/>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A competitor might specialize purely in telematics (dashboard data) or purely in road damage detection</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To get a complete picture, a city must buy multiple incompatible software subscriptions and integrate them manually</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This creates data silos, vendor lock-in, and a fragmented operator experience</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No single vendor provides a unified, real-time view across all dimensions</a:t>
            </a:r>
            <a:endParaRPr lang="en-US" sz="11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D3B36"/>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2 · OUR SOLUTION</a:t>
            </a:r>
            <a:endParaRPr lang="en-US" sz="900" dirty="0"/>
          </a:p>
        </p:txBody>
      </p:sp>
      <p:sp>
        <p:nvSpPr>
          <p:cNvPr id="4" name="Text 2"/>
          <p:cNvSpPr/>
          <p:nvPr/>
        </p:nvSpPr>
        <p:spPr>
          <a:xfrm>
            <a:off x="457200" y="256032"/>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All-In-One AI Platform</a:t>
            </a:r>
            <a:endParaRPr lang="en-US" sz="3200" dirty="0"/>
          </a:p>
        </p:txBody>
      </p:sp>
      <p:sp>
        <p:nvSpPr>
          <p:cNvPr id="5" name="Shape 3"/>
          <p:cNvSpPr/>
          <p:nvPr/>
        </p:nvSpPr>
        <p:spPr>
          <a:xfrm>
            <a:off x="457200" y="868680"/>
            <a:ext cx="1280160" cy="54864"/>
          </a:xfrm>
          <a:prstGeom prst="rect">
            <a:avLst/>
          </a:prstGeom>
          <a:solidFill>
            <a:srgbClr val="FBBF24"/>
          </a:solidFill>
          <a:ln/>
        </p:spPr>
      </p:sp>
      <p:sp>
        <p:nvSpPr>
          <p:cNvPr id="6" name="Shape 4"/>
          <p:cNvSpPr/>
          <p:nvPr/>
        </p:nvSpPr>
        <p:spPr>
          <a:xfrm>
            <a:off x="457200" y="1097280"/>
            <a:ext cx="2697480" cy="3566160"/>
          </a:xfrm>
          <a:prstGeom prst="roundRect">
            <a:avLst>
              <a:gd name="adj" fmla="val 4068"/>
            </a:avLst>
          </a:prstGeom>
          <a:solidFill>
            <a:srgbClr val="082A26"/>
          </a:solidFill>
          <a:ln/>
        </p:spPr>
      </p:sp>
      <p:sp>
        <p:nvSpPr>
          <p:cNvPr id="7" name="Shape 5"/>
          <p:cNvSpPr/>
          <p:nvPr/>
        </p:nvSpPr>
        <p:spPr>
          <a:xfrm>
            <a:off x="1344168" y="1234440"/>
            <a:ext cx="914400" cy="914400"/>
          </a:xfrm>
          <a:prstGeom prst="line">
            <a:avLst/>
          </a:prstGeom>
          <a:solidFill>
            <a:srgbClr val="0D9488"/>
          </a:solidFill>
          <a:ln/>
        </p:spPr>
      </p:sp>
      <p:pic>
        <p:nvPicPr>
          <p:cNvPr id="8" name="Image 0" descr="preencoded.png"/>
          <p:cNvPicPr>
            <a:picLocks noChangeAspect="1"/>
          </p:cNvPicPr>
          <p:nvPr/>
        </p:nvPicPr>
        <p:blipFill>
          <a:blip r:embed="rId3"/>
          <a:stretch>
            <a:fillRect/>
          </a:stretch>
        </p:blipFill>
        <p:spPr>
          <a:xfrm>
            <a:off x="1435608" y="1325880"/>
            <a:ext cx="731520" cy="731520"/>
          </a:xfrm>
          <a:prstGeom prst="rect">
            <a:avLst/>
          </a:prstGeom>
        </p:spPr>
      </p:pic>
      <p:sp>
        <p:nvSpPr>
          <p:cNvPr id="9" name="Text 6"/>
          <p:cNvSpPr/>
          <p:nvPr/>
        </p:nvSpPr>
        <p:spPr>
          <a:xfrm>
            <a:off x="548640" y="2286000"/>
            <a:ext cx="25146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Infrastructure Health</a:t>
            </a:r>
            <a:endParaRPr lang="en-US" sz="1300" dirty="0"/>
          </a:p>
        </p:txBody>
      </p:sp>
      <p:sp>
        <p:nvSpPr>
          <p:cNvPr id="10" name="Text 7"/>
          <p:cNvSpPr/>
          <p:nvPr/>
        </p:nvSpPr>
        <p:spPr>
          <a:xfrm>
            <a:off x="594360" y="2834640"/>
            <a:ext cx="2423160" cy="1645920"/>
          </a:xfrm>
          <a:prstGeom prst="rect">
            <a:avLst/>
          </a:prstGeom>
          <a:noFill/>
          <a:ln/>
        </p:spPr>
        <p:txBody>
          <a:bodyPr wrap="square" lIns="76200" tIns="76200" rIns="76200" bIns="76200" rtlCol="0" anchor="t"/>
          <a:lstStyle/>
          <a:p>
            <a:pPr marL="342900" indent="-342900">
              <a:spcAft>
                <a:spcPts val="500"/>
              </a:spcAft>
              <a:buSzPct val="100000"/>
              <a:buChar char="•"/>
            </a:pPr>
            <a:r>
              <a:rPr lang="en-US" sz="1200" dirty="0">
                <a:solidFill>
                  <a:srgbClr val="A7F3D0"/>
                </a:solidFill>
                <a:latin typeface="Calibri" pitchFamily="34" charset="0"/>
                <a:ea typeface="Calibri" pitchFamily="34" charset="-122"/>
                <a:cs typeface="Calibri" pitchFamily="34" charset="-120"/>
              </a:rPr>
              <a:t>Cracks detection</a:t>
            </a:r>
            <a:endParaRPr lang="en-US" sz="1200" dirty="0"/>
          </a:p>
          <a:p>
            <a:pPr marL="342900" indent="-342900">
              <a:spcAft>
                <a:spcPts val="500"/>
              </a:spcAft>
              <a:buSzPct val="100000"/>
              <a:buChar char="•"/>
            </a:pPr>
            <a:r>
              <a:rPr lang="en-US" sz="1200" dirty="0">
                <a:solidFill>
                  <a:srgbClr val="A7F3D0"/>
                </a:solidFill>
                <a:latin typeface="Calibri" pitchFamily="34" charset="0"/>
                <a:ea typeface="Calibri" pitchFamily="34" charset="-122"/>
                <a:cs typeface="Calibri" pitchFamily="34" charset="-120"/>
              </a:rPr>
              <a:t>Pothole mapping</a:t>
            </a:r>
            <a:endParaRPr lang="en-US" sz="1200" dirty="0"/>
          </a:p>
          <a:p>
            <a:pPr marL="342900" indent="-342900">
              <a:spcAft>
                <a:spcPts val="500"/>
              </a:spcAft>
              <a:buSzPct val="100000"/>
              <a:buChar char="•"/>
            </a:pPr>
            <a:r>
              <a:rPr lang="en-US" sz="1200" dirty="0">
                <a:solidFill>
                  <a:srgbClr val="A7F3D0"/>
                </a:solidFill>
                <a:latin typeface="Calibri" pitchFamily="34" charset="0"/>
                <a:ea typeface="Calibri" pitchFamily="34" charset="-122"/>
                <a:cs typeface="Calibri" pitchFamily="34" charset="-120"/>
              </a:rPr>
              <a:t>Surface anomalies</a:t>
            </a:r>
            <a:endParaRPr lang="en-US" sz="1200" dirty="0"/>
          </a:p>
        </p:txBody>
      </p:sp>
      <p:sp>
        <p:nvSpPr>
          <p:cNvPr id="11" name="Shape 8"/>
          <p:cNvSpPr/>
          <p:nvPr/>
        </p:nvSpPr>
        <p:spPr>
          <a:xfrm>
            <a:off x="3310128" y="1097280"/>
            <a:ext cx="2697480" cy="3566160"/>
          </a:xfrm>
          <a:prstGeom prst="roundRect">
            <a:avLst>
              <a:gd name="adj" fmla="val 4068"/>
            </a:avLst>
          </a:prstGeom>
          <a:solidFill>
            <a:srgbClr val="082A26"/>
          </a:solidFill>
          <a:ln/>
        </p:spPr>
      </p:sp>
      <p:sp>
        <p:nvSpPr>
          <p:cNvPr id="12" name="Shape 9"/>
          <p:cNvSpPr/>
          <p:nvPr/>
        </p:nvSpPr>
        <p:spPr>
          <a:xfrm>
            <a:off x="4197096" y="1234440"/>
            <a:ext cx="914400" cy="914400"/>
          </a:xfrm>
          <a:prstGeom prst="line">
            <a:avLst/>
          </a:prstGeom>
          <a:solidFill>
            <a:srgbClr val="0D9488"/>
          </a:solidFill>
          <a:ln/>
        </p:spPr>
      </p:sp>
      <p:pic>
        <p:nvPicPr>
          <p:cNvPr id="13" name="Image 1" descr="preencoded.png"/>
          <p:cNvPicPr>
            <a:picLocks noChangeAspect="1"/>
          </p:cNvPicPr>
          <p:nvPr/>
        </p:nvPicPr>
        <p:blipFill>
          <a:blip r:embed="rId4"/>
          <a:stretch>
            <a:fillRect/>
          </a:stretch>
        </p:blipFill>
        <p:spPr>
          <a:xfrm>
            <a:off x="4288536" y="1325880"/>
            <a:ext cx="731520" cy="731520"/>
          </a:xfrm>
          <a:prstGeom prst="rect">
            <a:avLst/>
          </a:prstGeom>
        </p:spPr>
      </p:pic>
      <p:sp>
        <p:nvSpPr>
          <p:cNvPr id="14" name="Text 10"/>
          <p:cNvSpPr/>
          <p:nvPr/>
        </p:nvSpPr>
        <p:spPr>
          <a:xfrm>
            <a:off x="3401568" y="2286000"/>
            <a:ext cx="25146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Public Safety</a:t>
            </a:r>
            <a:endParaRPr lang="en-US" sz="1300" dirty="0"/>
          </a:p>
        </p:txBody>
      </p:sp>
      <p:sp>
        <p:nvSpPr>
          <p:cNvPr id="15" name="Text 11"/>
          <p:cNvSpPr/>
          <p:nvPr/>
        </p:nvSpPr>
        <p:spPr>
          <a:xfrm>
            <a:off x="3447288" y="2834640"/>
            <a:ext cx="2423160" cy="1645920"/>
          </a:xfrm>
          <a:prstGeom prst="rect">
            <a:avLst/>
          </a:prstGeom>
          <a:noFill/>
          <a:ln/>
        </p:spPr>
        <p:txBody>
          <a:bodyPr wrap="square" lIns="76200" tIns="76200" rIns="76200" bIns="76200" rtlCol="0" anchor="t"/>
          <a:lstStyle/>
          <a:p>
            <a:pPr marL="342900" indent="-342900">
              <a:spcAft>
                <a:spcPts val="500"/>
              </a:spcAft>
              <a:buSzPct val="100000"/>
              <a:buChar char="•"/>
            </a:pPr>
            <a:r>
              <a:rPr lang="en-US" sz="1200" dirty="0">
                <a:solidFill>
                  <a:srgbClr val="A7F3D0"/>
                </a:solidFill>
                <a:latin typeface="Calibri" pitchFamily="34" charset="0"/>
                <a:ea typeface="Calibri" pitchFamily="34" charset="-122"/>
                <a:cs typeface="Calibri" pitchFamily="34" charset="-120"/>
              </a:rPr>
              <a:t>Accident detection</a:t>
            </a:r>
            <a:endParaRPr lang="en-US" sz="1200" dirty="0"/>
          </a:p>
          <a:p>
            <a:pPr marL="342900" indent="-342900">
              <a:spcAft>
                <a:spcPts val="500"/>
              </a:spcAft>
              <a:buSzPct val="100000"/>
              <a:buChar char="•"/>
            </a:pPr>
            <a:r>
              <a:rPr lang="en-US" sz="1200" dirty="0">
                <a:solidFill>
                  <a:srgbClr val="A7F3D0"/>
                </a:solidFill>
                <a:latin typeface="Calibri" pitchFamily="34" charset="0"/>
                <a:ea typeface="Calibri" pitchFamily="34" charset="-122"/>
                <a:cs typeface="Calibri" pitchFamily="34" charset="-120"/>
              </a:rPr>
              <a:t>Fire &amp; smoke alerts</a:t>
            </a:r>
            <a:endParaRPr lang="en-US" sz="1200" dirty="0"/>
          </a:p>
          <a:p>
            <a:pPr marL="342900" indent="-342900">
              <a:spcAft>
                <a:spcPts val="500"/>
              </a:spcAft>
              <a:buSzPct val="100000"/>
              <a:buChar char="•"/>
            </a:pPr>
            <a:r>
              <a:rPr lang="en-US" sz="1200" dirty="0">
                <a:solidFill>
                  <a:srgbClr val="A7F3D0"/>
                </a:solidFill>
                <a:latin typeface="Calibri" pitchFamily="34" charset="0"/>
                <a:ea typeface="Calibri" pitchFamily="34" charset="-122"/>
                <a:cs typeface="Calibri" pitchFamily="34" charset="-120"/>
              </a:rPr>
              <a:t>Emergency dispatch</a:t>
            </a:r>
            <a:endParaRPr lang="en-US" sz="1200" dirty="0"/>
          </a:p>
        </p:txBody>
      </p:sp>
      <p:sp>
        <p:nvSpPr>
          <p:cNvPr id="16" name="Shape 12"/>
          <p:cNvSpPr/>
          <p:nvPr/>
        </p:nvSpPr>
        <p:spPr>
          <a:xfrm>
            <a:off x="6163056" y="1097280"/>
            <a:ext cx="2697480" cy="3566160"/>
          </a:xfrm>
          <a:prstGeom prst="roundRect">
            <a:avLst>
              <a:gd name="adj" fmla="val 4068"/>
            </a:avLst>
          </a:prstGeom>
          <a:solidFill>
            <a:srgbClr val="082A26"/>
          </a:solidFill>
          <a:ln/>
        </p:spPr>
      </p:sp>
      <p:sp>
        <p:nvSpPr>
          <p:cNvPr id="17" name="Shape 13"/>
          <p:cNvSpPr/>
          <p:nvPr/>
        </p:nvSpPr>
        <p:spPr>
          <a:xfrm>
            <a:off x="7050024" y="1234440"/>
            <a:ext cx="914400" cy="914400"/>
          </a:xfrm>
          <a:prstGeom prst="line">
            <a:avLst/>
          </a:prstGeom>
          <a:solidFill>
            <a:srgbClr val="0D9488"/>
          </a:solidFill>
          <a:ln/>
        </p:spPr>
      </p:sp>
      <p:pic>
        <p:nvPicPr>
          <p:cNvPr id="18" name="Image 2" descr="preencoded.png"/>
          <p:cNvPicPr>
            <a:picLocks noChangeAspect="1"/>
          </p:cNvPicPr>
          <p:nvPr/>
        </p:nvPicPr>
        <p:blipFill>
          <a:blip r:embed="rId5"/>
          <a:stretch>
            <a:fillRect/>
          </a:stretch>
        </p:blipFill>
        <p:spPr>
          <a:xfrm>
            <a:off x="7141464" y="1325880"/>
            <a:ext cx="731520" cy="731520"/>
          </a:xfrm>
          <a:prstGeom prst="rect">
            <a:avLst/>
          </a:prstGeom>
        </p:spPr>
      </p:pic>
      <p:sp>
        <p:nvSpPr>
          <p:cNvPr id="19" name="Text 14"/>
          <p:cNvSpPr/>
          <p:nvPr/>
        </p:nvSpPr>
        <p:spPr>
          <a:xfrm>
            <a:off x="6254496" y="2286000"/>
            <a:ext cx="25146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Vehicle Tracking</a:t>
            </a:r>
            <a:endParaRPr lang="en-US" sz="1300" dirty="0"/>
          </a:p>
        </p:txBody>
      </p:sp>
      <p:sp>
        <p:nvSpPr>
          <p:cNvPr id="20" name="Text 15"/>
          <p:cNvSpPr/>
          <p:nvPr/>
        </p:nvSpPr>
        <p:spPr>
          <a:xfrm>
            <a:off x="6300216" y="2834640"/>
            <a:ext cx="2423160" cy="1645920"/>
          </a:xfrm>
          <a:prstGeom prst="rect">
            <a:avLst/>
          </a:prstGeom>
          <a:noFill/>
          <a:ln/>
        </p:spPr>
        <p:txBody>
          <a:bodyPr wrap="square" lIns="76200" tIns="76200" rIns="76200" bIns="76200" rtlCol="0" anchor="t"/>
          <a:lstStyle/>
          <a:p>
            <a:pPr marL="342900" indent="-342900">
              <a:spcAft>
                <a:spcPts val="500"/>
              </a:spcAft>
              <a:buSzPct val="100000"/>
              <a:buChar char="•"/>
            </a:pPr>
            <a:r>
              <a:rPr lang="en-US" sz="1200" dirty="0">
                <a:solidFill>
                  <a:srgbClr val="A7F3D0"/>
                </a:solidFill>
                <a:latin typeface="Calibri" pitchFamily="34" charset="0"/>
                <a:ea typeface="Calibri" pitchFamily="34" charset="-122"/>
                <a:cs typeface="Calibri" pitchFamily="34" charset="-120"/>
              </a:rPr>
              <a:t>License plate recognition</a:t>
            </a:r>
            <a:endParaRPr lang="en-US" sz="1200" dirty="0"/>
          </a:p>
          <a:p>
            <a:pPr marL="342900" indent="-342900">
              <a:spcAft>
                <a:spcPts val="500"/>
              </a:spcAft>
              <a:buSzPct val="100000"/>
              <a:buChar char="•"/>
            </a:pPr>
            <a:r>
              <a:rPr lang="en-US" sz="1200" dirty="0">
                <a:solidFill>
                  <a:srgbClr val="A7F3D0"/>
                </a:solidFill>
                <a:latin typeface="Calibri" pitchFamily="34" charset="0"/>
                <a:ea typeface="Calibri" pitchFamily="34" charset="-122"/>
                <a:cs typeface="Calibri" pitchFamily="34" charset="-120"/>
              </a:rPr>
              <a:t>Vehicle classification</a:t>
            </a:r>
            <a:endParaRPr lang="en-US" sz="1200" dirty="0"/>
          </a:p>
          <a:p>
            <a:pPr marL="342900" indent="-342900">
              <a:spcAft>
                <a:spcPts val="500"/>
              </a:spcAft>
              <a:buSzPct val="100000"/>
              <a:buChar char="•"/>
            </a:pPr>
            <a:r>
              <a:rPr lang="en-US" sz="1200" dirty="0">
                <a:solidFill>
                  <a:srgbClr val="A7F3D0"/>
                </a:solidFill>
                <a:latin typeface="Calibri" pitchFamily="34" charset="0"/>
                <a:ea typeface="Calibri" pitchFamily="34" charset="-122"/>
                <a:cs typeface="Calibri" pitchFamily="34" charset="-120"/>
              </a:rPr>
              <a:t>Damage assessment</a:t>
            </a:r>
            <a:endParaRPr lang="en-US" sz="1200" dirty="0"/>
          </a:p>
        </p:txBody>
      </p:sp>
      <p:sp>
        <p:nvSpPr>
          <p:cNvPr id="21" name="Text 16"/>
          <p:cNvSpPr/>
          <p:nvPr/>
        </p:nvSpPr>
        <p:spPr>
          <a:xfrm>
            <a:off x="457200" y="4773168"/>
            <a:ext cx="8229600" cy="256032"/>
          </a:xfrm>
          <a:prstGeom prst="rect">
            <a:avLst/>
          </a:prstGeom>
          <a:noFill/>
          <a:ln/>
        </p:spPr>
        <p:txBody>
          <a:bodyPr wrap="square" lIns="0" tIns="0" rIns="0" bIns="0" rtlCol="0" anchor="ctr"/>
          <a:lstStyle/>
          <a:p>
            <a:pPr marL="0" indent="0" algn="ctr">
              <a:buNone/>
            </a:pPr>
            <a:r>
              <a:rPr lang="en-US" sz="1100" i="1" dirty="0">
                <a:solidFill>
                  <a:srgbClr val="FBBF24"/>
                </a:solidFill>
                <a:latin typeface="Calibri" pitchFamily="34" charset="0"/>
                <a:ea typeface="Calibri" pitchFamily="34" charset="-122"/>
                <a:cs typeface="Calibri" pitchFamily="34" charset="-120"/>
              </a:rPr>
              <a:t>SRIS uniquely combines all three pillars into a single, unified AI pipeline.</a:t>
            </a:r>
            <a:endParaRPr lang="en-US" sz="11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2 · THE SRIS ADVANTAGE</a:t>
            </a:r>
            <a:endParaRPr lang="en-US" sz="900" dirty="0"/>
          </a:p>
        </p:txBody>
      </p:sp>
      <p:sp>
        <p:nvSpPr>
          <p:cNvPr id="4" name="Text 2"/>
          <p:cNvSpPr/>
          <p:nvPr/>
        </p:nvSpPr>
        <p:spPr>
          <a:xfrm>
            <a:off x="457200" y="201168"/>
            <a:ext cx="8229600" cy="548640"/>
          </a:xfrm>
          <a:prstGeom prst="rect">
            <a:avLst/>
          </a:prstGeom>
          <a:noFill/>
          <a:ln/>
        </p:spPr>
        <p:txBody>
          <a:bodyPr wrap="square" lIns="0" tIns="0" rIns="0" bIns="0" rtlCol="0" anchor="ctr"/>
          <a:lstStyle/>
          <a:p>
            <a:pPr marL="0" indent="0" algn="l">
              <a:buNone/>
            </a:pPr>
            <a:r>
              <a:rPr lang="en-US" sz="2800" b="1" dirty="0">
                <a:solidFill>
                  <a:srgbClr val="0B1C3F"/>
                </a:solidFill>
                <a:latin typeface="Cambria" pitchFamily="34" charset="0"/>
                <a:ea typeface="Cambria" pitchFamily="34" charset="-122"/>
                <a:cs typeface="Cambria" pitchFamily="34" charset="-120"/>
              </a:rPr>
              <a:t>Accessible AI for Everyone</a:t>
            </a:r>
            <a:endParaRPr lang="en-US" sz="2800" dirty="0"/>
          </a:p>
        </p:txBody>
      </p:sp>
      <p:sp>
        <p:nvSpPr>
          <p:cNvPr id="5" name="Shape 3"/>
          <p:cNvSpPr/>
          <p:nvPr/>
        </p:nvSpPr>
        <p:spPr>
          <a:xfrm>
            <a:off x="457200" y="795528"/>
            <a:ext cx="1097280" cy="54864"/>
          </a:xfrm>
          <a:prstGeom prst="rect">
            <a:avLst/>
          </a:prstGeom>
          <a:solidFill>
            <a:srgbClr val="0D9488"/>
          </a:solidFill>
          <a:ln/>
        </p:spPr>
      </p:sp>
      <p:sp>
        <p:nvSpPr>
          <p:cNvPr id="6" name="Shape 4"/>
          <p:cNvSpPr/>
          <p:nvPr/>
        </p:nvSpPr>
        <p:spPr>
          <a:xfrm>
            <a:off x="365760" y="1005840"/>
            <a:ext cx="4114800" cy="3749040"/>
          </a:xfrm>
          <a:prstGeom prst="roundRect">
            <a:avLst>
              <a:gd name="adj" fmla="val 2439"/>
            </a:avLst>
          </a:prstGeom>
          <a:solidFill>
            <a:srgbClr val="FFFFFF"/>
          </a:solidFill>
          <a:ln/>
          <a:effectLst>
            <a:outerShdw blurRad="127000" dist="25400" dir="2700000" algn="bl" rotWithShape="0">
              <a:srgbClr val="000000">
                <a:alpha val="12000"/>
              </a:srgbClr>
            </a:outerShdw>
          </a:effectLst>
        </p:spPr>
      </p:sp>
      <p:sp>
        <p:nvSpPr>
          <p:cNvPr id="7" name="Shape 5"/>
          <p:cNvSpPr/>
          <p:nvPr/>
        </p:nvSpPr>
        <p:spPr>
          <a:xfrm>
            <a:off x="1463040" y="1188720"/>
            <a:ext cx="1005840" cy="1005840"/>
          </a:xfrm>
          <a:prstGeom prst="line">
            <a:avLst/>
          </a:prstGeom>
          <a:solidFill>
            <a:srgbClr val="0D9488"/>
          </a:solidFill>
          <a:ln/>
        </p:spPr>
      </p:sp>
      <p:pic>
        <p:nvPicPr>
          <p:cNvPr id="8" name="Image 0" descr="preencoded.png"/>
          <p:cNvPicPr>
            <a:picLocks noChangeAspect="1"/>
          </p:cNvPicPr>
          <p:nvPr/>
        </p:nvPicPr>
        <p:blipFill>
          <a:blip r:embed="rId3"/>
          <a:stretch>
            <a:fillRect/>
          </a:stretch>
        </p:blipFill>
        <p:spPr>
          <a:xfrm>
            <a:off x="1554480" y="1280160"/>
            <a:ext cx="822960" cy="822960"/>
          </a:xfrm>
          <a:prstGeom prst="rect">
            <a:avLst/>
          </a:prstGeom>
        </p:spPr>
      </p:pic>
      <p:sp>
        <p:nvSpPr>
          <p:cNvPr id="9" name="Text 6"/>
          <p:cNvSpPr/>
          <p:nvPr/>
        </p:nvSpPr>
        <p:spPr>
          <a:xfrm>
            <a:off x="548640" y="2331720"/>
            <a:ext cx="3657600" cy="365760"/>
          </a:xfrm>
          <a:prstGeom prst="rect">
            <a:avLst/>
          </a:prstGeom>
          <a:noFill/>
          <a:ln/>
        </p:spPr>
        <p:txBody>
          <a:bodyPr wrap="square" lIns="0" tIns="0" rIns="0" bIns="0" rtlCol="0" anchor="ctr"/>
          <a:lstStyle/>
          <a:p>
            <a:pPr marL="0" indent="0" algn="ctr">
              <a:buNone/>
            </a:pPr>
            <a:r>
              <a:rPr lang="en-US" sz="1500" b="1" dirty="0">
                <a:solidFill>
                  <a:srgbClr val="0B1C3F"/>
                </a:solidFill>
                <a:latin typeface="Cambria" pitchFamily="34" charset="0"/>
                <a:ea typeface="Cambria" pitchFamily="34" charset="-122"/>
                <a:cs typeface="Cambria" pitchFamily="34" charset="-120"/>
              </a:rPr>
              <a:t>Hardware Agnostic</a:t>
            </a:r>
            <a:endParaRPr lang="en-US" sz="1500" dirty="0"/>
          </a:p>
        </p:txBody>
      </p:sp>
      <p:sp>
        <p:nvSpPr>
          <p:cNvPr id="10" name="Text 7"/>
          <p:cNvSpPr/>
          <p:nvPr/>
        </p:nvSpPr>
        <p:spPr>
          <a:xfrm>
            <a:off x="594360" y="2788920"/>
            <a:ext cx="3566160" cy="1371600"/>
          </a:xfrm>
          <a:prstGeom prst="rect">
            <a:avLst/>
          </a:prstGeom>
          <a:noFill/>
          <a:ln/>
        </p:spPr>
        <p:txBody>
          <a:bodyPr wrap="square" lIns="50800" tIns="50800" rIns="50800" bIns="5080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Our platform works with any standard camera feed — CCTV infrastructure, low-cost dashcams, or even smartphone video. No proprietary hardware required.</a:t>
            </a:r>
            <a:endParaRPr lang="en-US" sz="1200" dirty="0"/>
          </a:p>
        </p:txBody>
      </p:sp>
      <p:sp>
        <p:nvSpPr>
          <p:cNvPr id="11" name="Shape 8"/>
          <p:cNvSpPr/>
          <p:nvPr/>
        </p:nvSpPr>
        <p:spPr>
          <a:xfrm>
            <a:off x="822960" y="4251960"/>
            <a:ext cx="914400" cy="320040"/>
          </a:xfrm>
          <a:prstGeom prst="roundRect">
            <a:avLst>
              <a:gd name="adj" fmla="val 17143"/>
            </a:avLst>
          </a:prstGeom>
          <a:solidFill>
            <a:srgbClr val="0D9488"/>
          </a:solidFill>
          <a:ln/>
        </p:spPr>
      </p:sp>
      <p:sp>
        <p:nvSpPr>
          <p:cNvPr id="12" name="Text 9"/>
          <p:cNvSpPr/>
          <p:nvPr/>
        </p:nvSpPr>
        <p:spPr>
          <a:xfrm>
            <a:off x="822960" y="4251960"/>
            <a:ext cx="914400" cy="320040"/>
          </a:xfrm>
          <a:prstGeom prst="rect">
            <a:avLst/>
          </a:prstGeom>
          <a:noFill/>
          <a:ln/>
        </p:spPr>
        <p:txBody>
          <a:bodyPr wrap="square" lIns="0" tIns="0" rIns="0" bIns="0" rtlCol="0" anchor="ctr"/>
          <a:lstStyle/>
          <a:p>
            <a:pPr marL="0" indent="0" algn="ctr">
              <a:buNone/>
            </a:pPr>
            <a:r>
              <a:rPr lang="en-US" sz="1000" b="1" dirty="0">
                <a:solidFill>
                  <a:srgbClr val="FFFFFF"/>
                </a:solidFill>
              </a:rPr>
              <a:t>CCTV</a:t>
            </a:r>
            <a:endParaRPr lang="en-US" sz="1000" dirty="0"/>
          </a:p>
        </p:txBody>
      </p:sp>
      <p:sp>
        <p:nvSpPr>
          <p:cNvPr id="13" name="Shape 10"/>
          <p:cNvSpPr/>
          <p:nvPr/>
        </p:nvSpPr>
        <p:spPr>
          <a:xfrm>
            <a:off x="1828800" y="4251960"/>
            <a:ext cx="914400" cy="320040"/>
          </a:xfrm>
          <a:prstGeom prst="roundRect">
            <a:avLst>
              <a:gd name="adj" fmla="val 17143"/>
            </a:avLst>
          </a:prstGeom>
          <a:solidFill>
            <a:srgbClr val="0B1C3F"/>
          </a:solidFill>
          <a:ln/>
        </p:spPr>
      </p:sp>
      <p:sp>
        <p:nvSpPr>
          <p:cNvPr id="14" name="Text 11"/>
          <p:cNvSpPr/>
          <p:nvPr/>
        </p:nvSpPr>
        <p:spPr>
          <a:xfrm>
            <a:off x="1828800" y="4251960"/>
            <a:ext cx="914400" cy="320040"/>
          </a:xfrm>
          <a:prstGeom prst="rect">
            <a:avLst/>
          </a:prstGeom>
          <a:noFill/>
          <a:ln/>
        </p:spPr>
        <p:txBody>
          <a:bodyPr wrap="square" lIns="0" tIns="0" rIns="0" bIns="0" rtlCol="0" anchor="ctr"/>
          <a:lstStyle/>
          <a:p>
            <a:pPr marL="0" indent="0" algn="ctr">
              <a:buNone/>
            </a:pPr>
            <a:r>
              <a:rPr lang="en-US" sz="1000" b="1" dirty="0">
                <a:solidFill>
                  <a:srgbClr val="FFFFFF"/>
                </a:solidFill>
              </a:rPr>
              <a:t>Dashcam</a:t>
            </a:r>
            <a:endParaRPr lang="en-US" sz="1000" dirty="0"/>
          </a:p>
        </p:txBody>
      </p:sp>
      <p:sp>
        <p:nvSpPr>
          <p:cNvPr id="15" name="Shape 12"/>
          <p:cNvSpPr/>
          <p:nvPr/>
        </p:nvSpPr>
        <p:spPr>
          <a:xfrm>
            <a:off x="2834640" y="4251960"/>
            <a:ext cx="914400" cy="320040"/>
          </a:xfrm>
          <a:prstGeom prst="roundRect">
            <a:avLst>
              <a:gd name="adj" fmla="val 17143"/>
            </a:avLst>
          </a:prstGeom>
          <a:solidFill>
            <a:srgbClr val="334155"/>
          </a:solidFill>
          <a:ln/>
        </p:spPr>
      </p:sp>
      <p:sp>
        <p:nvSpPr>
          <p:cNvPr id="16" name="Text 13"/>
          <p:cNvSpPr/>
          <p:nvPr/>
        </p:nvSpPr>
        <p:spPr>
          <a:xfrm>
            <a:off x="2834640" y="4251960"/>
            <a:ext cx="914400" cy="320040"/>
          </a:xfrm>
          <a:prstGeom prst="rect">
            <a:avLst/>
          </a:prstGeom>
          <a:noFill/>
          <a:ln/>
        </p:spPr>
        <p:txBody>
          <a:bodyPr wrap="square" lIns="0" tIns="0" rIns="0" bIns="0" rtlCol="0" anchor="ctr"/>
          <a:lstStyle/>
          <a:p>
            <a:pPr marL="0" indent="0" algn="ctr">
              <a:buNone/>
            </a:pPr>
            <a:r>
              <a:rPr lang="en-US" sz="1000" b="1" dirty="0">
                <a:solidFill>
                  <a:srgbClr val="FFFFFF"/>
                </a:solidFill>
              </a:rPr>
              <a:t>Mobile</a:t>
            </a:r>
            <a:endParaRPr lang="en-US" sz="1000" dirty="0"/>
          </a:p>
        </p:txBody>
      </p:sp>
      <p:sp>
        <p:nvSpPr>
          <p:cNvPr id="17" name="Shape 14"/>
          <p:cNvSpPr/>
          <p:nvPr/>
        </p:nvSpPr>
        <p:spPr>
          <a:xfrm>
            <a:off x="4663440" y="1005840"/>
            <a:ext cx="4114800" cy="3749040"/>
          </a:xfrm>
          <a:prstGeom prst="roundRect">
            <a:avLst>
              <a:gd name="adj" fmla="val 2439"/>
            </a:avLst>
          </a:prstGeom>
          <a:solidFill>
            <a:srgbClr val="FFFFFF"/>
          </a:solidFill>
          <a:ln/>
          <a:effectLst>
            <a:outerShdw blurRad="127000" dist="25400" dir="2700000" algn="bl" rotWithShape="0">
              <a:srgbClr val="000000">
                <a:alpha val="12000"/>
              </a:srgbClr>
            </a:outerShdw>
          </a:effectLst>
        </p:spPr>
      </p:sp>
      <p:sp>
        <p:nvSpPr>
          <p:cNvPr id="18" name="Shape 15"/>
          <p:cNvSpPr/>
          <p:nvPr/>
        </p:nvSpPr>
        <p:spPr>
          <a:xfrm>
            <a:off x="5760720" y="1188720"/>
            <a:ext cx="1005840" cy="1005840"/>
          </a:xfrm>
          <a:prstGeom prst="line">
            <a:avLst/>
          </a:prstGeom>
          <a:solidFill>
            <a:srgbClr val="F97316"/>
          </a:solidFill>
          <a:ln/>
        </p:spPr>
      </p:sp>
      <p:pic>
        <p:nvPicPr>
          <p:cNvPr id="19" name="Image 1" descr="preencoded.png"/>
          <p:cNvPicPr>
            <a:picLocks noChangeAspect="1"/>
          </p:cNvPicPr>
          <p:nvPr/>
        </p:nvPicPr>
        <p:blipFill>
          <a:blip r:embed="rId4"/>
          <a:stretch>
            <a:fillRect/>
          </a:stretch>
        </p:blipFill>
        <p:spPr>
          <a:xfrm>
            <a:off x="5852160" y="1280160"/>
            <a:ext cx="822960" cy="822960"/>
          </a:xfrm>
          <a:prstGeom prst="rect">
            <a:avLst/>
          </a:prstGeom>
        </p:spPr>
      </p:pic>
      <p:sp>
        <p:nvSpPr>
          <p:cNvPr id="20" name="Text 16"/>
          <p:cNvSpPr/>
          <p:nvPr/>
        </p:nvSpPr>
        <p:spPr>
          <a:xfrm>
            <a:off x="4846320" y="2331720"/>
            <a:ext cx="3657600" cy="365760"/>
          </a:xfrm>
          <a:prstGeom prst="rect">
            <a:avLst/>
          </a:prstGeom>
          <a:noFill/>
          <a:ln/>
        </p:spPr>
        <p:txBody>
          <a:bodyPr wrap="square" lIns="0" tIns="0" rIns="0" bIns="0" rtlCol="0" anchor="ctr"/>
          <a:lstStyle/>
          <a:p>
            <a:pPr marL="0" indent="0" algn="ctr">
              <a:buNone/>
            </a:pPr>
            <a:r>
              <a:rPr lang="en-US" sz="1500" b="1" dirty="0">
                <a:solidFill>
                  <a:srgbClr val="0B1C3F"/>
                </a:solidFill>
                <a:latin typeface="Cambria" pitchFamily="34" charset="0"/>
                <a:ea typeface="Cambria" pitchFamily="34" charset="-122"/>
                <a:cs typeface="Cambria" pitchFamily="34" charset="-120"/>
              </a:rPr>
              <a:t>Cost Efficiency</a:t>
            </a:r>
            <a:endParaRPr lang="en-US" sz="1500" dirty="0"/>
          </a:p>
        </p:txBody>
      </p:sp>
      <p:sp>
        <p:nvSpPr>
          <p:cNvPr id="21" name="Text 17"/>
          <p:cNvSpPr/>
          <p:nvPr/>
        </p:nvSpPr>
        <p:spPr>
          <a:xfrm>
            <a:off x="4846320" y="2788920"/>
            <a:ext cx="3657600" cy="1371600"/>
          </a:xfrm>
          <a:prstGeom prst="rect">
            <a:avLst/>
          </a:prstGeom>
          <a:noFill/>
          <a:ln/>
        </p:spPr>
        <p:txBody>
          <a:bodyPr wrap="square" lIns="50800" tIns="50800" rIns="50800" bIns="5080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By utilizing lightweight YOLO models, we deliver state-of-the-art accuracy on standard GPUs — drastically reducing operational costs vs. LiDAR-based competitors.</a:t>
            </a:r>
            <a:endParaRPr lang="en-US" sz="1200" dirty="0"/>
          </a:p>
        </p:txBody>
      </p:sp>
      <p:sp>
        <p:nvSpPr>
          <p:cNvPr id="22" name="Shape 18"/>
          <p:cNvSpPr/>
          <p:nvPr/>
        </p:nvSpPr>
        <p:spPr>
          <a:xfrm>
            <a:off x="5120640" y="4160520"/>
            <a:ext cx="1691640" cy="777240"/>
          </a:xfrm>
          <a:prstGeom prst="roundRect">
            <a:avLst>
              <a:gd name="adj" fmla="val 11765"/>
            </a:avLst>
          </a:prstGeom>
          <a:solidFill>
            <a:srgbClr val="0B1C3F"/>
          </a:solidFill>
          <a:ln/>
          <a:effectLst>
            <a:outerShdw blurRad="101600" dist="25400" dir="2700000" algn="bl" rotWithShape="0">
              <a:srgbClr val="000000">
                <a:alpha val="18000"/>
              </a:srgbClr>
            </a:outerShdw>
          </a:effectLst>
        </p:spPr>
      </p:sp>
      <p:sp>
        <p:nvSpPr>
          <p:cNvPr id="23" name="Text 19"/>
          <p:cNvSpPr/>
          <p:nvPr/>
        </p:nvSpPr>
        <p:spPr>
          <a:xfrm>
            <a:off x="5120640" y="4251960"/>
            <a:ext cx="1691640" cy="548640"/>
          </a:xfrm>
          <a:prstGeom prst="rect">
            <a:avLst/>
          </a:prstGeom>
          <a:noFill/>
          <a:ln/>
        </p:spPr>
        <p:txBody>
          <a:bodyPr wrap="square" lIns="0" tIns="0" rIns="0" bIns="0"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90%</a:t>
            </a:r>
            <a:endParaRPr lang="en-US" sz="3200" dirty="0"/>
          </a:p>
        </p:txBody>
      </p:sp>
      <p:sp>
        <p:nvSpPr>
          <p:cNvPr id="24" name="Text 20"/>
          <p:cNvSpPr/>
          <p:nvPr/>
        </p:nvSpPr>
        <p:spPr>
          <a:xfrm>
            <a:off x="5120640" y="4800600"/>
            <a:ext cx="1691640" cy="320040"/>
          </a:xfrm>
          <a:prstGeom prst="rect">
            <a:avLst/>
          </a:prstGeom>
          <a:noFill/>
          <a:ln/>
        </p:spPr>
        <p:txBody>
          <a:bodyPr wrap="square" lIns="0" tIns="0" rIns="0" bIns="0" rtlCol="0" anchor="ctr"/>
          <a:lstStyle/>
          <a:p>
            <a:pPr marL="0" indent="0" algn="ctr">
              <a:buNone/>
            </a:pPr>
            <a:r>
              <a:rPr lang="en-US" sz="900" dirty="0">
                <a:solidFill>
                  <a:srgbClr val="14B8A6"/>
                </a:solidFill>
              </a:rPr>
              <a:t>Cost Reduction vs LiDAR</a:t>
            </a:r>
            <a:endParaRPr lang="en-US" sz="900" dirty="0"/>
          </a:p>
        </p:txBody>
      </p:sp>
      <p:sp>
        <p:nvSpPr>
          <p:cNvPr id="25" name="Shape 21"/>
          <p:cNvSpPr/>
          <p:nvPr/>
        </p:nvSpPr>
        <p:spPr>
          <a:xfrm>
            <a:off x="6903720" y="4160520"/>
            <a:ext cx="1691640" cy="777240"/>
          </a:xfrm>
          <a:prstGeom prst="roundRect">
            <a:avLst>
              <a:gd name="adj" fmla="val 11765"/>
            </a:avLst>
          </a:prstGeom>
          <a:solidFill>
            <a:srgbClr val="0B1C3F"/>
          </a:solidFill>
          <a:ln/>
          <a:effectLst>
            <a:outerShdw blurRad="101600" dist="25400" dir="2700000" algn="bl" rotWithShape="0">
              <a:srgbClr val="000000">
                <a:alpha val="18000"/>
              </a:srgbClr>
            </a:outerShdw>
          </a:effectLst>
        </p:spPr>
      </p:sp>
      <p:sp>
        <p:nvSpPr>
          <p:cNvPr id="26" name="Text 22"/>
          <p:cNvSpPr/>
          <p:nvPr/>
        </p:nvSpPr>
        <p:spPr>
          <a:xfrm>
            <a:off x="6903720" y="4251960"/>
            <a:ext cx="1691640" cy="548640"/>
          </a:xfrm>
          <a:prstGeom prst="rect">
            <a:avLst/>
          </a:prstGeom>
          <a:noFill/>
          <a:ln/>
        </p:spPr>
        <p:txBody>
          <a:bodyPr wrap="square" lIns="0" tIns="0" rIns="0" bIns="0"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&lt;5ms</a:t>
            </a:r>
            <a:endParaRPr lang="en-US" sz="3200" dirty="0"/>
          </a:p>
        </p:txBody>
      </p:sp>
      <p:sp>
        <p:nvSpPr>
          <p:cNvPr id="27" name="Text 23"/>
          <p:cNvSpPr/>
          <p:nvPr/>
        </p:nvSpPr>
        <p:spPr>
          <a:xfrm>
            <a:off x="6903720" y="4800600"/>
            <a:ext cx="1691640" cy="320040"/>
          </a:xfrm>
          <a:prstGeom prst="rect">
            <a:avLst/>
          </a:prstGeom>
          <a:noFill/>
          <a:ln/>
        </p:spPr>
        <p:txBody>
          <a:bodyPr wrap="square" lIns="0" tIns="0" rIns="0" bIns="0" rtlCol="0" anchor="ctr"/>
          <a:lstStyle/>
          <a:p>
            <a:pPr marL="0" indent="0" algn="ctr">
              <a:buNone/>
            </a:pPr>
            <a:r>
              <a:rPr lang="en-US" sz="900" dirty="0">
                <a:solidFill>
                  <a:srgbClr val="14B8A6"/>
                </a:solidFill>
              </a:rPr>
              <a:t>Inference per Frame</a:t>
            </a:r>
            <a:endParaRPr lang="en-US" sz="9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3 · ARCHITECTURE</a:t>
            </a:r>
            <a:endParaRPr lang="en-US" sz="900" dirty="0"/>
          </a:p>
        </p:txBody>
      </p:sp>
      <p:sp>
        <p:nvSpPr>
          <p:cNvPr id="4" name="Text 2"/>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Built for Scale</a:t>
            </a:r>
            <a:endParaRPr lang="en-US" sz="3000" dirty="0"/>
          </a:p>
        </p:txBody>
      </p:sp>
      <p:sp>
        <p:nvSpPr>
          <p:cNvPr id="5" name="Shape 3"/>
          <p:cNvSpPr/>
          <p:nvPr/>
        </p:nvSpPr>
        <p:spPr>
          <a:xfrm>
            <a:off x="457200" y="850392"/>
            <a:ext cx="1097280" cy="54864"/>
          </a:xfrm>
          <a:prstGeom prst="rect">
            <a:avLst/>
          </a:prstGeom>
          <a:solidFill>
            <a:srgbClr val="0D9488"/>
          </a:solidFill>
          <a:ln/>
        </p:spPr>
      </p:sp>
      <p:sp>
        <p:nvSpPr>
          <p:cNvPr id="6" name="Shape 4"/>
          <p:cNvSpPr/>
          <p:nvPr/>
        </p:nvSpPr>
        <p:spPr>
          <a:xfrm>
            <a:off x="365760" y="1188720"/>
            <a:ext cx="1737360" cy="1005840"/>
          </a:xfrm>
          <a:prstGeom prst="roundRect">
            <a:avLst>
              <a:gd name="adj" fmla="val 7273"/>
            </a:avLst>
          </a:prstGeom>
          <a:solidFill>
            <a:srgbClr val="1E3A5A"/>
          </a:solidFill>
          <a:ln/>
          <a:effectLst>
            <a:outerShdw blurRad="101600" dist="25400" dir="2700000" algn="bl" rotWithShape="0">
              <a:srgbClr val="000000">
                <a:alpha val="30000"/>
              </a:srgbClr>
            </a:outerShdw>
          </a:effectLst>
        </p:spPr>
      </p:sp>
      <p:sp>
        <p:nvSpPr>
          <p:cNvPr id="7" name="Text 5"/>
          <p:cNvSpPr/>
          <p:nvPr/>
        </p:nvSpPr>
        <p:spPr>
          <a:xfrm>
            <a:off x="365760" y="1188720"/>
            <a:ext cx="1737360" cy="1005840"/>
          </a:xfrm>
          <a:prstGeom prst="rect">
            <a:avLst/>
          </a:prstGeom>
          <a:noFill/>
          <a:ln/>
        </p:spPr>
        <p:txBody>
          <a:bodyPr wrap="square" lIns="50800" tIns="50800" rIns="50800" bIns="5080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Camera Input</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(Any Source)</a:t>
            </a:r>
            <a:endParaRPr lang="en-US" sz="1050" dirty="0"/>
          </a:p>
        </p:txBody>
      </p:sp>
      <p:sp>
        <p:nvSpPr>
          <p:cNvPr id="8" name="Shape 6"/>
          <p:cNvSpPr/>
          <p:nvPr/>
        </p:nvSpPr>
        <p:spPr>
          <a:xfrm>
            <a:off x="2468880" y="914400"/>
            <a:ext cx="1920240" cy="1463040"/>
          </a:xfrm>
          <a:prstGeom prst="roundRect">
            <a:avLst>
              <a:gd name="adj" fmla="val 5000"/>
            </a:avLst>
          </a:prstGeom>
          <a:solidFill>
            <a:srgbClr val="0B1C3F"/>
          </a:solidFill>
          <a:ln/>
          <a:effectLst>
            <a:outerShdw blurRad="101600" dist="25400" dir="2700000" algn="bl" rotWithShape="0">
              <a:srgbClr val="000000">
                <a:alpha val="30000"/>
              </a:srgbClr>
            </a:outerShdw>
          </a:effectLst>
        </p:spPr>
      </p:sp>
      <p:sp>
        <p:nvSpPr>
          <p:cNvPr id="9" name="Text 7"/>
          <p:cNvSpPr/>
          <p:nvPr/>
        </p:nvSpPr>
        <p:spPr>
          <a:xfrm>
            <a:off x="2468880" y="914400"/>
            <a:ext cx="1920240" cy="1463040"/>
          </a:xfrm>
          <a:prstGeom prst="rect">
            <a:avLst/>
          </a:prstGeom>
          <a:noFill/>
          <a:ln/>
        </p:spPr>
        <p:txBody>
          <a:bodyPr wrap="square" lIns="50800" tIns="50800" rIns="50800" bIns="5080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Management</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Dashboard</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(Laravel/PHP)</a:t>
            </a:r>
            <a:endParaRPr lang="en-US" sz="1050" dirty="0"/>
          </a:p>
        </p:txBody>
      </p:sp>
      <p:sp>
        <p:nvSpPr>
          <p:cNvPr id="10" name="Shape 8"/>
          <p:cNvSpPr/>
          <p:nvPr/>
        </p:nvSpPr>
        <p:spPr>
          <a:xfrm>
            <a:off x="5943600" y="914400"/>
            <a:ext cx="1920240" cy="1463040"/>
          </a:xfrm>
          <a:prstGeom prst="roundRect">
            <a:avLst>
              <a:gd name="adj" fmla="val 5000"/>
            </a:avLst>
          </a:prstGeom>
          <a:solidFill>
            <a:srgbClr val="082A26"/>
          </a:solidFill>
          <a:ln/>
          <a:effectLst>
            <a:outerShdw blurRad="101600" dist="25400" dir="2700000" algn="bl" rotWithShape="0">
              <a:srgbClr val="000000">
                <a:alpha val="30000"/>
              </a:srgbClr>
            </a:outerShdw>
          </a:effectLst>
        </p:spPr>
      </p:sp>
      <p:sp>
        <p:nvSpPr>
          <p:cNvPr id="11" name="Text 9"/>
          <p:cNvSpPr/>
          <p:nvPr/>
        </p:nvSpPr>
        <p:spPr>
          <a:xfrm>
            <a:off x="5943600" y="914400"/>
            <a:ext cx="1920240" cy="1463040"/>
          </a:xfrm>
          <a:prstGeom prst="rect">
            <a:avLst/>
          </a:prstGeom>
          <a:noFill/>
          <a:ln/>
        </p:spPr>
        <p:txBody>
          <a:bodyPr wrap="square" lIns="50800" tIns="50800" rIns="50800" bIns="5080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AI Inference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Engine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(FastAPI/Python)</a:t>
            </a:r>
            <a:endParaRPr lang="en-US" sz="1050" dirty="0"/>
          </a:p>
        </p:txBody>
      </p:sp>
      <p:sp>
        <p:nvSpPr>
          <p:cNvPr id="12" name="Shape 10"/>
          <p:cNvSpPr/>
          <p:nvPr/>
        </p:nvSpPr>
        <p:spPr>
          <a:xfrm>
            <a:off x="2468880" y="3200400"/>
            <a:ext cx="1920240" cy="914400"/>
          </a:xfrm>
          <a:prstGeom prst="roundRect">
            <a:avLst>
              <a:gd name="adj" fmla="val 8000"/>
            </a:avLst>
          </a:prstGeom>
          <a:solidFill>
            <a:srgbClr val="2D1B4E"/>
          </a:solidFill>
          <a:ln/>
          <a:effectLst>
            <a:outerShdw blurRad="101600" dist="25400" dir="2700000" algn="bl" rotWithShape="0">
              <a:srgbClr val="000000">
                <a:alpha val="30000"/>
              </a:srgbClr>
            </a:outerShdw>
          </a:effectLst>
        </p:spPr>
      </p:sp>
      <p:sp>
        <p:nvSpPr>
          <p:cNvPr id="13" name="Text 11"/>
          <p:cNvSpPr/>
          <p:nvPr/>
        </p:nvSpPr>
        <p:spPr>
          <a:xfrm>
            <a:off x="2468880" y="3200400"/>
            <a:ext cx="1920240" cy="914400"/>
          </a:xfrm>
          <a:prstGeom prst="rect">
            <a:avLst/>
          </a:prstGeom>
          <a:noFill/>
          <a:ln/>
        </p:spPr>
        <p:txBody>
          <a:bodyPr wrap="square" lIns="50800" tIns="50800" rIns="50800" bIns="5080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MySQL</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Database</a:t>
            </a:r>
            <a:endParaRPr lang="en-US" sz="1050" dirty="0"/>
          </a:p>
        </p:txBody>
      </p:sp>
      <p:sp>
        <p:nvSpPr>
          <p:cNvPr id="14" name="Shape 12"/>
          <p:cNvSpPr/>
          <p:nvPr/>
        </p:nvSpPr>
        <p:spPr>
          <a:xfrm>
            <a:off x="365760" y="3200400"/>
            <a:ext cx="1737360" cy="914400"/>
          </a:xfrm>
          <a:prstGeom prst="roundRect">
            <a:avLst>
              <a:gd name="adj" fmla="val 8000"/>
            </a:avLst>
          </a:prstGeom>
          <a:solidFill>
            <a:srgbClr val="1A3040"/>
          </a:solidFill>
          <a:ln/>
          <a:effectLst>
            <a:outerShdw blurRad="101600" dist="25400" dir="2700000" algn="bl" rotWithShape="0">
              <a:srgbClr val="000000">
                <a:alpha val="30000"/>
              </a:srgbClr>
            </a:outerShdw>
          </a:effectLst>
        </p:spPr>
      </p:sp>
      <p:sp>
        <p:nvSpPr>
          <p:cNvPr id="15" name="Text 13"/>
          <p:cNvSpPr/>
          <p:nvPr/>
        </p:nvSpPr>
        <p:spPr>
          <a:xfrm>
            <a:off x="365760" y="3200400"/>
            <a:ext cx="1737360" cy="914400"/>
          </a:xfrm>
          <a:prstGeom prst="rect">
            <a:avLst/>
          </a:prstGeom>
          <a:noFill/>
          <a:ln/>
        </p:spPr>
        <p:txBody>
          <a:bodyPr wrap="square" lIns="50800" tIns="50800" rIns="50800" bIns="5080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Interactive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Dashboard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PDF Reports</a:t>
            </a:r>
            <a:endParaRPr lang="en-US" sz="1050" dirty="0"/>
          </a:p>
        </p:txBody>
      </p:sp>
      <p:sp>
        <p:nvSpPr>
          <p:cNvPr id="16" name="Shape 14"/>
          <p:cNvSpPr/>
          <p:nvPr/>
        </p:nvSpPr>
        <p:spPr>
          <a:xfrm>
            <a:off x="2103120" y="1691640"/>
            <a:ext cx="365760" cy="0"/>
          </a:xfrm>
          <a:prstGeom prst="line">
            <a:avLst/>
          </a:prstGeom>
          <a:noFill/>
          <a:ln w="25400">
            <a:solidFill>
              <a:srgbClr val="0D9488"/>
            </a:solidFill>
            <a:prstDash val="solid"/>
          </a:ln>
        </p:spPr>
      </p:sp>
      <p:sp>
        <p:nvSpPr>
          <p:cNvPr id="17" name="Shape 15"/>
          <p:cNvSpPr/>
          <p:nvPr/>
        </p:nvSpPr>
        <p:spPr>
          <a:xfrm>
            <a:off x="4389120" y="1691640"/>
            <a:ext cx="1554480" cy="0"/>
          </a:xfrm>
          <a:prstGeom prst="line">
            <a:avLst/>
          </a:prstGeom>
          <a:noFill/>
          <a:ln w="25400">
            <a:solidFill>
              <a:srgbClr val="0D9488"/>
            </a:solidFill>
            <a:prstDash val="solid"/>
          </a:ln>
        </p:spPr>
      </p:sp>
      <p:sp>
        <p:nvSpPr>
          <p:cNvPr id="18" name="Shape 16"/>
          <p:cNvSpPr/>
          <p:nvPr/>
        </p:nvSpPr>
        <p:spPr>
          <a:xfrm>
            <a:off x="3429000" y="2377440"/>
            <a:ext cx="0" cy="822960"/>
          </a:xfrm>
          <a:prstGeom prst="line">
            <a:avLst/>
          </a:prstGeom>
          <a:noFill/>
          <a:ln w="25400">
            <a:solidFill>
              <a:srgbClr val="0D9488"/>
            </a:solidFill>
            <a:prstDash val="solid"/>
          </a:ln>
        </p:spPr>
      </p:sp>
      <p:sp>
        <p:nvSpPr>
          <p:cNvPr id="19" name="Shape 17"/>
          <p:cNvSpPr/>
          <p:nvPr/>
        </p:nvSpPr>
        <p:spPr>
          <a:xfrm>
            <a:off x="2103120" y="3657600"/>
            <a:ext cx="365760" cy="0"/>
          </a:xfrm>
          <a:prstGeom prst="line">
            <a:avLst/>
          </a:prstGeom>
          <a:noFill/>
          <a:ln w="25400">
            <a:solidFill>
              <a:srgbClr val="0D9488"/>
            </a:solidFill>
            <a:prstDash val="solid"/>
          </a:ln>
        </p:spPr>
      </p:sp>
      <p:sp>
        <p:nvSpPr>
          <p:cNvPr id="20" name="Text 18"/>
          <p:cNvSpPr/>
          <p:nvPr/>
        </p:nvSpPr>
        <p:spPr>
          <a:xfrm>
            <a:off x="2029968" y="1536192"/>
            <a:ext cx="548640" cy="182880"/>
          </a:xfrm>
          <a:prstGeom prst="rect">
            <a:avLst/>
          </a:prstGeom>
          <a:noFill/>
          <a:ln/>
        </p:spPr>
        <p:txBody>
          <a:bodyPr wrap="square" lIns="0" tIns="0" rIns="0" bIns="0" rtlCol="0" anchor="ctr"/>
          <a:lstStyle/>
          <a:p>
            <a:pPr marL="0" indent="0" algn="ctr">
              <a:buNone/>
            </a:pPr>
            <a:r>
              <a:rPr lang="en-US" sz="800" dirty="0">
                <a:solidFill>
                  <a:srgbClr val="14B8A6"/>
                </a:solidFill>
              </a:rPr>
              <a:t>Upload</a:t>
            </a:r>
            <a:endParaRPr lang="en-US" sz="800" dirty="0"/>
          </a:p>
        </p:txBody>
      </p:sp>
      <p:sp>
        <p:nvSpPr>
          <p:cNvPr id="21" name="Text 19"/>
          <p:cNvSpPr/>
          <p:nvPr/>
        </p:nvSpPr>
        <p:spPr>
          <a:xfrm>
            <a:off x="4407408" y="1536192"/>
            <a:ext cx="1554480" cy="182880"/>
          </a:xfrm>
          <a:prstGeom prst="rect">
            <a:avLst/>
          </a:prstGeom>
          <a:noFill/>
          <a:ln/>
        </p:spPr>
        <p:txBody>
          <a:bodyPr wrap="square" lIns="0" tIns="0" rIns="0" bIns="0" rtlCol="0" anchor="ctr"/>
          <a:lstStyle/>
          <a:p>
            <a:pPr marL="0" indent="0" algn="ctr">
              <a:buNone/>
            </a:pPr>
            <a:r>
              <a:rPr lang="en-US" sz="800" dirty="0">
                <a:solidFill>
                  <a:srgbClr val="14B8A6"/>
                </a:solidFill>
              </a:rPr>
              <a:t>Inference Request</a:t>
            </a:r>
            <a:endParaRPr lang="en-US" sz="800" dirty="0"/>
          </a:p>
        </p:txBody>
      </p:sp>
      <p:sp>
        <p:nvSpPr>
          <p:cNvPr id="22" name="Text 20"/>
          <p:cNvSpPr/>
          <p:nvPr/>
        </p:nvSpPr>
        <p:spPr>
          <a:xfrm>
            <a:off x="3611880" y="2743200"/>
            <a:ext cx="1371600" cy="182880"/>
          </a:xfrm>
          <a:prstGeom prst="rect">
            <a:avLst/>
          </a:prstGeom>
          <a:noFill/>
          <a:ln/>
        </p:spPr>
        <p:txBody>
          <a:bodyPr wrap="square" lIns="0" tIns="0" rIns="0" bIns="0" rtlCol="0" anchor="ctr"/>
          <a:lstStyle/>
          <a:p>
            <a:pPr marL="0" indent="0" algn="ctr">
              <a:buNone/>
            </a:pPr>
            <a:r>
              <a:rPr lang="en-US" sz="800" dirty="0">
                <a:solidFill>
                  <a:srgbClr val="14B8A6"/>
                </a:solidFill>
              </a:rPr>
              <a:t>Store Results</a:t>
            </a:r>
            <a:endParaRPr lang="en-US" sz="800" dirty="0"/>
          </a:p>
        </p:txBody>
      </p:sp>
      <p:sp>
        <p:nvSpPr>
          <p:cNvPr id="23" name="Shape 21"/>
          <p:cNvSpPr/>
          <p:nvPr/>
        </p:nvSpPr>
        <p:spPr>
          <a:xfrm>
            <a:off x="5943600" y="2286000"/>
            <a:ext cx="0" cy="1005840"/>
          </a:xfrm>
          <a:prstGeom prst="line">
            <a:avLst/>
          </a:prstGeom>
          <a:noFill/>
          <a:ln w="25400">
            <a:solidFill>
              <a:srgbClr val="FBBF24"/>
            </a:solidFill>
            <a:prstDash val="solid"/>
          </a:ln>
        </p:spPr>
      </p:sp>
      <p:sp>
        <p:nvSpPr>
          <p:cNvPr id="24" name="Text 22"/>
          <p:cNvSpPr/>
          <p:nvPr/>
        </p:nvSpPr>
        <p:spPr>
          <a:xfrm>
            <a:off x="4206240" y="2743200"/>
            <a:ext cx="1645920" cy="182880"/>
          </a:xfrm>
          <a:prstGeom prst="rect">
            <a:avLst/>
          </a:prstGeom>
          <a:noFill/>
          <a:ln/>
        </p:spPr>
        <p:txBody>
          <a:bodyPr wrap="square" lIns="0" tIns="0" rIns="0" bIns="0" rtlCol="0" anchor="ctr"/>
          <a:lstStyle/>
          <a:p>
            <a:pPr marL="0" indent="0" algn="ctr">
              <a:buNone/>
            </a:pPr>
            <a:r>
              <a:rPr lang="en-US" sz="800" i="1" dirty="0">
                <a:solidFill>
                  <a:srgbClr val="FBBF24"/>
                </a:solidFill>
              </a:rPr>
              <a:t>Stream NDJSON</a:t>
            </a:r>
            <a:endParaRPr lang="en-US" sz="800" dirty="0"/>
          </a:p>
        </p:txBody>
      </p:sp>
      <p:sp>
        <p:nvSpPr>
          <p:cNvPr id="25" name="Shape 23"/>
          <p:cNvSpPr/>
          <p:nvPr/>
        </p:nvSpPr>
        <p:spPr>
          <a:xfrm>
            <a:off x="8046720" y="914400"/>
            <a:ext cx="868680" cy="3931920"/>
          </a:xfrm>
          <a:prstGeom prst="roundRect">
            <a:avLst>
              <a:gd name="adj" fmla="val 10526"/>
            </a:avLst>
          </a:prstGeom>
          <a:solidFill>
            <a:srgbClr val="0E2140"/>
          </a:solidFill>
          <a:ln/>
          <a:effectLst>
            <a:outerShdw blurRad="127000" dist="25400" dir="2700000" algn="bl" rotWithShape="0">
              <a:srgbClr val="000000">
                <a:alpha val="12000"/>
              </a:srgbClr>
            </a:outerShdw>
          </a:effectLst>
        </p:spPr>
      </p:sp>
      <p:sp>
        <p:nvSpPr>
          <p:cNvPr id="26" name="Text 24"/>
          <p:cNvSpPr/>
          <p:nvPr/>
        </p:nvSpPr>
        <p:spPr>
          <a:xfrm>
            <a:off x="8065008" y="1005840"/>
            <a:ext cx="822960" cy="2743200"/>
          </a:xfrm>
          <a:prstGeom prst="rect">
            <a:avLst/>
          </a:prstGeom>
          <a:noFill/>
          <a:ln/>
        </p:spPr>
        <p:txBody>
          <a:bodyPr wrap="square" lIns="0" tIns="0" rIns="0" bIns="0" rtlCol="0" anchor="ctr"/>
          <a:lstStyle/>
          <a:p>
            <a:pPr marL="0" indent="0" algn="ctr">
              <a:buNone/>
            </a:pPr>
            <a:r>
              <a:rPr lang="en-US" sz="1000" b="1" dirty="0">
                <a:solidFill>
                  <a:srgbClr val="0D9488"/>
                </a:solidFill>
                <a:latin typeface="Cambria" pitchFamily="34" charset="0"/>
                <a:ea typeface="Cambria" pitchFamily="34" charset="-122"/>
                <a:cs typeface="Cambria" pitchFamily="34" charset="-120"/>
              </a:rPr>
              <a:t>DUAL ARCHITECTURE</a:t>
            </a:r>
            <a:endParaRPr lang="en-US" sz="1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3 · USER FLOW</a:t>
            </a:r>
            <a:endParaRPr lang="en-US" sz="900" dirty="0"/>
          </a:p>
        </p:txBody>
      </p:sp>
      <p:sp>
        <p:nvSpPr>
          <p:cNvPr id="4" name="Text 2"/>
          <p:cNvSpPr/>
          <p:nvPr/>
        </p:nvSpPr>
        <p:spPr>
          <a:xfrm>
            <a:off x="457200" y="201168"/>
            <a:ext cx="8229600" cy="548640"/>
          </a:xfrm>
          <a:prstGeom prst="rect">
            <a:avLst/>
          </a:prstGeom>
          <a:noFill/>
          <a:ln/>
        </p:spPr>
        <p:txBody>
          <a:bodyPr wrap="square" lIns="0" tIns="0" rIns="0" bIns="0" rtlCol="0" anchor="ctr"/>
          <a:lstStyle/>
          <a:p>
            <a:pPr marL="0" indent="0" algn="l">
              <a:buNone/>
            </a:pPr>
            <a:r>
              <a:rPr lang="en-US" sz="2800" b="1" dirty="0">
                <a:solidFill>
                  <a:srgbClr val="0B1C3F"/>
                </a:solidFill>
                <a:latin typeface="Cambria" pitchFamily="34" charset="0"/>
                <a:ea typeface="Cambria" pitchFamily="34" charset="-122"/>
                <a:cs typeface="Cambria" pitchFamily="34" charset="-120"/>
              </a:rPr>
              <a:t>Seamless User Experience</a:t>
            </a:r>
            <a:endParaRPr lang="en-US" sz="2800" dirty="0"/>
          </a:p>
        </p:txBody>
      </p:sp>
      <p:sp>
        <p:nvSpPr>
          <p:cNvPr id="5" name="Shape 3"/>
          <p:cNvSpPr/>
          <p:nvPr/>
        </p:nvSpPr>
        <p:spPr>
          <a:xfrm>
            <a:off x="457200" y="795528"/>
            <a:ext cx="1097280" cy="54864"/>
          </a:xfrm>
          <a:prstGeom prst="rect">
            <a:avLst/>
          </a:prstGeom>
          <a:solidFill>
            <a:srgbClr val="0D9488"/>
          </a:solidFill>
          <a:ln/>
        </p:spPr>
      </p:sp>
      <p:sp>
        <p:nvSpPr>
          <p:cNvPr id="6" name="Shape 4"/>
          <p:cNvSpPr/>
          <p:nvPr/>
        </p:nvSpPr>
        <p:spPr>
          <a:xfrm>
            <a:off x="384048" y="1005840"/>
            <a:ext cx="2011680" cy="3566160"/>
          </a:xfrm>
          <a:prstGeom prst="roundRect">
            <a:avLst>
              <a:gd name="adj" fmla="val 4545"/>
            </a:avLst>
          </a:prstGeom>
          <a:solidFill>
            <a:srgbClr val="FFFFFF"/>
          </a:solidFill>
          <a:ln/>
          <a:effectLst>
            <a:outerShdw blurRad="127000" dist="25400" dir="2700000" algn="bl" rotWithShape="0">
              <a:srgbClr val="000000">
                <a:alpha val="12000"/>
              </a:srgbClr>
            </a:outerShdw>
          </a:effectLst>
        </p:spPr>
      </p:sp>
      <p:sp>
        <p:nvSpPr>
          <p:cNvPr id="7" name="Shape 5"/>
          <p:cNvSpPr/>
          <p:nvPr/>
        </p:nvSpPr>
        <p:spPr>
          <a:xfrm>
            <a:off x="932688" y="1143000"/>
            <a:ext cx="914400" cy="914400"/>
          </a:xfrm>
          <a:prstGeom prst="line">
            <a:avLst/>
          </a:prstGeom>
          <a:solidFill>
            <a:srgbClr val="0B1C3F"/>
          </a:solidFill>
          <a:ln/>
        </p:spPr>
      </p:sp>
      <p:sp>
        <p:nvSpPr>
          <p:cNvPr id="8" name="Text 6"/>
          <p:cNvSpPr/>
          <p:nvPr/>
        </p:nvSpPr>
        <p:spPr>
          <a:xfrm>
            <a:off x="932688" y="1143000"/>
            <a:ext cx="914400" cy="914400"/>
          </a:xfrm>
          <a:prstGeom prst="rect">
            <a:avLst/>
          </a:prstGeom>
          <a:noFill/>
          <a:ln/>
        </p:spPr>
        <p:txBody>
          <a:bodyPr wrap="square" lIns="0" tIns="0" rIns="0" bIns="0" rtlCol="0" anchor="ctr"/>
          <a:lstStyle/>
          <a:p>
            <a:pPr marL="0" indent="0" algn="ctr">
              <a:buNone/>
            </a:pPr>
            <a:r>
              <a:rPr lang="en-US" sz="2600" b="1" dirty="0">
                <a:solidFill>
                  <a:srgbClr val="0D9488"/>
                </a:solidFill>
                <a:latin typeface="Cambria" pitchFamily="34" charset="0"/>
                <a:ea typeface="Cambria" pitchFamily="34" charset="-122"/>
                <a:cs typeface="Cambria" pitchFamily="34" charset="-120"/>
              </a:rPr>
              <a:t>1</a:t>
            </a:r>
            <a:endParaRPr lang="en-US" sz="2600" dirty="0"/>
          </a:p>
        </p:txBody>
      </p:sp>
      <p:sp>
        <p:nvSpPr>
          <p:cNvPr id="9" name="Text 7"/>
          <p:cNvSpPr/>
          <p:nvPr/>
        </p:nvSpPr>
        <p:spPr>
          <a:xfrm>
            <a:off x="475488" y="2194560"/>
            <a:ext cx="1828800" cy="457200"/>
          </a:xfrm>
          <a:prstGeom prst="rect">
            <a:avLst/>
          </a:prstGeom>
          <a:noFill/>
          <a:ln/>
        </p:spPr>
        <p:txBody>
          <a:bodyPr wrap="square" lIns="0" tIns="0" rIns="0" bIns="0" rtlCol="0" anchor="ctr"/>
          <a:lstStyle/>
          <a:p>
            <a:pPr marL="0" indent="0" algn="ctr">
              <a:buNone/>
            </a:pPr>
            <a:r>
              <a:rPr lang="en-US" sz="1200" b="1" dirty="0">
                <a:solidFill>
                  <a:srgbClr val="0B1C3F"/>
                </a:solidFill>
                <a:latin typeface="Cambria" pitchFamily="34" charset="0"/>
                <a:ea typeface="Cambria" pitchFamily="34" charset="-122"/>
                <a:cs typeface="Cambria" pitchFamily="34" charset="-120"/>
              </a:rPr>
              <a:t>Upload Video</a:t>
            </a:r>
            <a:endParaRPr lang="en-US" sz="1200" dirty="0"/>
          </a:p>
        </p:txBody>
      </p:sp>
      <p:sp>
        <p:nvSpPr>
          <p:cNvPr id="10" name="Text 8"/>
          <p:cNvSpPr/>
          <p:nvPr/>
        </p:nvSpPr>
        <p:spPr>
          <a:xfrm>
            <a:off x="475488" y="2743200"/>
            <a:ext cx="1828800" cy="1691640"/>
          </a:xfrm>
          <a:prstGeom prst="rect">
            <a:avLst/>
          </a:prstGeom>
          <a:noFill/>
          <a:ln/>
        </p:spPr>
        <p:txBody>
          <a:bodyPr wrap="square" lIns="50800" tIns="50800" rIns="50800" bIns="50800" rtlCol="0" anchor="t"/>
          <a:lstStyle/>
          <a:p>
            <a:pPr marL="0" indent="0" algn="ctr">
              <a:buNone/>
            </a:pPr>
            <a:r>
              <a:rPr lang="en-US" sz="1100" dirty="0">
                <a:solidFill>
                  <a:srgbClr val="334155"/>
                </a:solidFill>
                <a:latin typeface="Calibri" pitchFamily="34" charset="0"/>
                <a:ea typeface="Calibri" pitchFamily="34" charset="-122"/>
                <a:cs typeface="Calibri" pitchFamily="34" charset="-120"/>
              </a:rPr>
              <a:t>User uploads a road segment video — dashcam, CCTV export, or smartphone footage.</a:t>
            </a:r>
            <a:endParaRPr lang="en-US" sz="1100" dirty="0"/>
          </a:p>
        </p:txBody>
      </p:sp>
      <p:sp>
        <p:nvSpPr>
          <p:cNvPr id="11" name="Shape 9"/>
          <p:cNvSpPr/>
          <p:nvPr/>
        </p:nvSpPr>
        <p:spPr>
          <a:xfrm>
            <a:off x="2395728" y="1920240"/>
            <a:ext cx="164592" cy="0"/>
          </a:xfrm>
          <a:prstGeom prst="line">
            <a:avLst/>
          </a:prstGeom>
          <a:noFill/>
          <a:ln w="25400">
            <a:solidFill>
              <a:srgbClr val="0D9488"/>
            </a:solidFill>
            <a:prstDash val="solid"/>
          </a:ln>
        </p:spPr>
      </p:sp>
      <p:sp>
        <p:nvSpPr>
          <p:cNvPr id="12" name="Text 10"/>
          <p:cNvSpPr/>
          <p:nvPr/>
        </p:nvSpPr>
        <p:spPr>
          <a:xfrm>
            <a:off x="2377440" y="1783080"/>
            <a:ext cx="201168" cy="274320"/>
          </a:xfrm>
          <a:prstGeom prst="rect">
            <a:avLst/>
          </a:prstGeom>
          <a:noFill/>
          <a:ln/>
        </p:spPr>
        <p:txBody>
          <a:bodyPr wrap="square" lIns="0" tIns="0" rIns="0" bIns="0" rtlCol="0" anchor="ctr"/>
          <a:lstStyle/>
          <a:p>
            <a:pPr marL="0" indent="0" algn="ctr">
              <a:buNone/>
            </a:pPr>
            <a:r>
              <a:rPr lang="en-US" sz="1400" dirty="0">
                <a:solidFill>
                  <a:srgbClr val="0D9488"/>
                </a:solidFill>
              </a:rPr>
              <a:t>→</a:t>
            </a:r>
            <a:endParaRPr lang="en-US" sz="1400" dirty="0"/>
          </a:p>
        </p:txBody>
      </p:sp>
      <p:sp>
        <p:nvSpPr>
          <p:cNvPr id="13" name="Shape 11"/>
          <p:cNvSpPr/>
          <p:nvPr/>
        </p:nvSpPr>
        <p:spPr>
          <a:xfrm>
            <a:off x="2560320" y="1005840"/>
            <a:ext cx="2011680" cy="3566160"/>
          </a:xfrm>
          <a:prstGeom prst="roundRect">
            <a:avLst>
              <a:gd name="adj" fmla="val 4545"/>
            </a:avLst>
          </a:prstGeom>
          <a:solidFill>
            <a:srgbClr val="FFFFFF"/>
          </a:solidFill>
          <a:ln/>
          <a:effectLst>
            <a:outerShdw blurRad="127000" dist="25400" dir="2700000" algn="bl" rotWithShape="0">
              <a:srgbClr val="000000">
                <a:alpha val="12000"/>
              </a:srgbClr>
            </a:outerShdw>
          </a:effectLst>
        </p:spPr>
      </p:sp>
      <p:sp>
        <p:nvSpPr>
          <p:cNvPr id="14" name="Shape 12"/>
          <p:cNvSpPr/>
          <p:nvPr/>
        </p:nvSpPr>
        <p:spPr>
          <a:xfrm>
            <a:off x="3108960" y="1143000"/>
            <a:ext cx="914400" cy="914400"/>
          </a:xfrm>
          <a:prstGeom prst="line">
            <a:avLst/>
          </a:prstGeom>
          <a:solidFill>
            <a:srgbClr val="0B1C3F"/>
          </a:solidFill>
          <a:ln/>
        </p:spPr>
      </p:sp>
      <p:sp>
        <p:nvSpPr>
          <p:cNvPr id="15" name="Text 13"/>
          <p:cNvSpPr/>
          <p:nvPr/>
        </p:nvSpPr>
        <p:spPr>
          <a:xfrm>
            <a:off x="3108960" y="1143000"/>
            <a:ext cx="914400" cy="914400"/>
          </a:xfrm>
          <a:prstGeom prst="rect">
            <a:avLst/>
          </a:prstGeom>
          <a:noFill/>
          <a:ln/>
        </p:spPr>
        <p:txBody>
          <a:bodyPr wrap="square" lIns="0" tIns="0" rIns="0" bIns="0" rtlCol="0" anchor="ctr"/>
          <a:lstStyle/>
          <a:p>
            <a:pPr marL="0" indent="0" algn="ctr">
              <a:buNone/>
            </a:pPr>
            <a:r>
              <a:rPr lang="en-US" sz="2600" b="1" dirty="0">
                <a:solidFill>
                  <a:srgbClr val="0D9488"/>
                </a:solidFill>
                <a:latin typeface="Cambria" pitchFamily="34" charset="0"/>
                <a:ea typeface="Cambria" pitchFamily="34" charset="-122"/>
                <a:cs typeface="Cambria" pitchFamily="34" charset="-120"/>
              </a:rPr>
              <a:t>2</a:t>
            </a:r>
            <a:endParaRPr lang="en-US" sz="2600" dirty="0"/>
          </a:p>
        </p:txBody>
      </p:sp>
      <p:sp>
        <p:nvSpPr>
          <p:cNvPr id="16" name="Text 14"/>
          <p:cNvSpPr/>
          <p:nvPr/>
        </p:nvSpPr>
        <p:spPr>
          <a:xfrm>
            <a:off x="2651760" y="2194560"/>
            <a:ext cx="1828800" cy="457200"/>
          </a:xfrm>
          <a:prstGeom prst="rect">
            <a:avLst/>
          </a:prstGeom>
          <a:noFill/>
          <a:ln/>
        </p:spPr>
        <p:txBody>
          <a:bodyPr wrap="square" lIns="0" tIns="0" rIns="0" bIns="0" rtlCol="0" anchor="ctr"/>
          <a:lstStyle/>
          <a:p>
            <a:pPr marL="0" indent="0" algn="ctr">
              <a:buNone/>
            </a:pPr>
            <a:r>
              <a:rPr lang="en-US" sz="1200" b="1" dirty="0">
                <a:solidFill>
                  <a:srgbClr val="0B1C3F"/>
                </a:solidFill>
                <a:latin typeface="Cambria" pitchFamily="34" charset="0"/>
                <a:ea typeface="Cambria" pitchFamily="34" charset="-122"/>
                <a:cs typeface="Cambria" pitchFamily="34" charset="-120"/>
              </a:rPr>
              <a:t>Instant Offload</a:t>
            </a:r>
            <a:endParaRPr lang="en-US" sz="1200" dirty="0"/>
          </a:p>
        </p:txBody>
      </p:sp>
      <p:sp>
        <p:nvSpPr>
          <p:cNvPr id="17" name="Text 15"/>
          <p:cNvSpPr/>
          <p:nvPr/>
        </p:nvSpPr>
        <p:spPr>
          <a:xfrm>
            <a:off x="2651760" y="2743200"/>
            <a:ext cx="1828800" cy="1691640"/>
          </a:xfrm>
          <a:prstGeom prst="rect">
            <a:avLst/>
          </a:prstGeom>
          <a:noFill/>
          <a:ln/>
        </p:spPr>
        <p:txBody>
          <a:bodyPr wrap="square" lIns="50800" tIns="50800" rIns="50800" bIns="50800" rtlCol="0" anchor="t"/>
          <a:lstStyle/>
          <a:p>
            <a:pPr marL="0" indent="0" algn="ctr">
              <a:buNone/>
            </a:pPr>
            <a:r>
              <a:rPr lang="en-US" sz="1100" dirty="0">
                <a:solidFill>
                  <a:srgbClr val="334155"/>
                </a:solidFill>
                <a:latin typeface="Calibri" pitchFamily="34" charset="0"/>
                <a:ea typeface="Calibri" pitchFamily="34" charset="-122"/>
                <a:cs typeface="Calibri" pitchFamily="34" charset="-120"/>
              </a:rPr>
              <a:t>The system immediately offloads heavy video processing to the AI engine — no frontend lag.</a:t>
            </a:r>
            <a:endParaRPr lang="en-US" sz="1100" dirty="0"/>
          </a:p>
        </p:txBody>
      </p:sp>
      <p:sp>
        <p:nvSpPr>
          <p:cNvPr id="18" name="Shape 16"/>
          <p:cNvSpPr/>
          <p:nvPr/>
        </p:nvSpPr>
        <p:spPr>
          <a:xfrm>
            <a:off x="4572000" y="1920240"/>
            <a:ext cx="164592" cy="0"/>
          </a:xfrm>
          <a:prstGeom prst="line">
            <a:avLst/>
          </a:prstGeom>
          <a:noFill/>
          <a:ln w="25400">
            <a:solidFill>
              <a:srgbClr val="0D9488"/>
            </a:solidFill>
            <a:prstDash val="solid"/>
          </a:ln>
        </p:spPr>
      </p:sp>
      <p:sp>
        <p:nvSpPr>
          <p:cNvPr id="19" name="Text 17"/>
          <p:cNvSpPr/>
          <p:nvPr/>
        </p:nvSpPr>
        <p:spPr>
          <a:xfrm>
            <a:off x="4553712" y="1783080"/>
            <a:ext cx="201168" cy="274320"/>
          </a:xfrm>
          <a:prstGeom prst="rect">
            <a:avLst/>
          </a:prstGeom>
          <a:noFill/>
          <a:ln/>
        </p:spPr>
        <p:txBody>
          <a:bodyPr wrap="square" lIns="0" tIns="0" rIns="0" bIns="0" rtlCol="0" anchor="ctr"/>
          <a:lstStyle/>
          <a:p>
            <a:pPr marL="0" indent="0" algn="ctr">
              <a:buNone/>
            </a:pPr>
            <a:r>
              <a:rPr lang="en-US" sz="1400" dirty="0">
                <a:solidFill>
                  <a:srgbClr val="0D9488"/>
                </a:solidFill>
              </a:rPr>
              <a:t>→</a:t>
            </a:r>
            <a:endParaRPr lang="en-US" sz="1400" dirty="0"/>
          </a:p>
        </p:txBody>
      </p:sp>
      <p:sp>
        <p:nvSpPr>
          <p:cNvPr id="20" name="Shape 18"/>
          <p:cNvSpPr/>
          <p:nvPr/>
        </p:nvSpPr>
        <p:spPr>
          <a:xfrm>
            <a:off x="4736592" y="1005840"/>
            <a:ext cx="2011680" cy="3566160"/>
          </a:xfrm>
          <a:prstGeom prst="roundRect">
            <a:avLst>
              <a:gd name="adj" fmla="val 4545"/>
            </a:avLst>
          </a:prstGeom>
          <a:solidFill>
            <a:srgbClr val="FFFFFF"/>
          </a:solidFill>
          <a:ln/>
          <a:effectLst>
            <a:outerShdw blurRad="127000" dist="25400" dir="2700000" algn="bl" rotWithShape="0">
              <a:srgbClr val="000000">
                <a:alpha val="12000"/>
              </a:srgbClr>
            </a:outerShdw>
          </a:effectLst>
        </p:spPr>
      </p:sp>
      <p:sp>
        <p:nvSpPr>
          <p:cNvPr id="21" name="Shape 19"/>
          <p:cNvSpPr/>
          <p:nvPr/>
        </p:nvSpPr>
        <p:spPr>
          <a:xfrm>
            <a:off x="5285232" y="1143000"/>
            <a:ext cx="914400" cy="914400"/>
          </a:xfrm>
          <a:prstGeom prst="line">
            <a:avLst/>
          </a:prstGeom>
          <a:solidFill>
            <a:srgbClr val="0B1C3F"/>
          </a:solidFill>
          <a:ln/>
        </p:spPr>
      </p:sp>
      <p:sp>
        <p:nvSpPr>
          <p:cNvPr id="22" name="Text 20"/>
          <p:cNvSpPr/>
          <p:nvPr/>
        </p:nvSpPr>
        <p:spPr>
          <a:xfrm>
            <a:off x="5285232" y="1143000"/>
            <a:ext cx="914400" cy="914400"/>
          </a:xfrm>
          <a:prstGeom prst="rect">
            <a:avLst/>
          </a:prstGeom>
          <a:noFill/>
          <a:ln/>
        </p:spPr>
        <p:txBody>
          <a:bodyPr wrap="square" lIns="0" tIns="0" rIns="0" bIns="0" rtlCol="0" anchor="ctr"/>
          <a:lstStyle/>
          <a:p>
            <a:pPr marL="0" indent="0" algn="ctr">
              <a:buNone/>
            </a:pPr>
            <a:r>
              <a:rPr lang="en-US" sz="2600" b="1" dirty="0">
                <a:solidFill>
                  <a:srgbClr val="0D9488"/>
                </a:solidFill>
                <a:latin typeface="Cambria" pitchFamily="34" charset="0"/>
                <a:ea typeface="Cambria" pitchFamily="34" charset="-122"/>
                <a:cs typeface="Cambria" pitchFamily="34" charset="-120"/>
              </a:rPr>
              <a:t>3</a:t>
            </a:r>
            <a:endParaRPr lang="en-US" sz="2600" dirty="0"/>
          </a:p>
        </p:txBody>
      </p:sp>
      <p:sp>
        <p:nvSpPr>
          <p:cNvPr id="23" name="Text 21"/>
          <p:cNvSpPr/>
          <p:nvPr/>
        </p:nvSpPr>
        <p:spPr>
          <a:xfrm>
            <a:off x="4828032" y="2194560"/>
            <a:ext cx="1828800" cy="457200"/>
          </a:xfrm>
          <a:prstGeom prst="rect">
            <a:avLst/>
          </a:prstGeom>
          <a:noFill/>
          <a:ln/>
        </p:spPr>
        <p:txBody>
          <a:bodyPr wrap="square" lIns="0" tIns="0" rIns="0" bIns="0" rtlCol="0" anchor="ctr"/>
          <a:lstStyle/>
          <a:p>
            <a:pPr marL="0" indent="0" algn="ctr">
              <a:buNone/>
            </a:pPr>
            <a:r>
              <a:rPr lang="en-US" sz="1200" b="1" dirty="0">
                <a:solidFill>
                  <a:srgbClr val="0B1C3F"/>
                </a:solidFill>
                <a:latin typeface="Cambria" pitchFamily="34" charset="0"/>
                <a:ea typeface="Cambria" pitchFamily="34" charset="-122"/>
                <a:cs typeface="Cambria" pitchFamily="34" charset="-120"/>
              </a:rPr>
              <a:t>Frame-by-Frame AI</a:t>
            </a:r>
            <a:endParaRPr lang="en-US" sz="1200" dirty="0"/>
          </a:p>
        </p:txBody>
      </p:sp>
      <p:sp>
        <p:nvSpPr>
          <p:cNvPr id="24" name="Text 22"/>
          <p:cNvSpPr/>
          <p:nvPr/>
        </p:nvSpPr>
        <p:spPr>
          <a:xfrm>
            <a:off x="4828032" y="2743200"/>
            <a:ext cx="1828800" cy="1691640"/>
          </a:xfrm>
          <a:prstGeom prst="rect">
            <a:avLst/>
          </a:prstGeom>
          <a:noFill/>
          <a:ln/>
        </p:spPr>
        <p:txBody>
          <a:bodyPr wrap="square" lIns="50800" tIns="50800" rIns="50800" bIns="50800" rtlCol="0" anchor="t"/>
          <a:lstStyle/>
          <a:p>
            <a:pPr marL="0" indent="0" algn="ctr">
              <a:buNone/>
            </a:pPr>
            <a:r>
              <a:rPr lang="en-US" sz="1100" dirty="0">
                <a:solidFill>
                  <a:srgbClr val="334155"/>
                </a:solidFill>
                <a:latin typeface="Calibri" pitchFamily="34" charset="0"/>
                <a:ea typeface="Calibri" pitchFamily="34" charset="-122"/>
                <a:cs typeface="Calibri" pitchFamily="34" charset="-120"/>
              </a:rPr>
              <a:t>The AI processes the video frame-by-frame and streams bounding-box detection data back in real time.</a:t>
            </a:r>
            <a:endParaRPr lang="en-US" sz="1100" dirty="0"/>
          </a:p>
        </p:txBody>
      </p:sp>
      <p:sp>
        <p:nvSpPr>
          <p:cNvPr id="25" name="Shape 23"/>
          <p:cNvSpPr/>
          <p:nvPr/>
        </p:nvSpPr>
        <p:spPr>
          <a:xfrm>
            <a:off x="6748272" y="1920240"/>
            <a:ext cx="164592" cy="0"/>
          </a:xfrm>
          <a:prstGeom prst="line">
            <a:avLst/>
          </a:prstGeom>
          <a:noFill/>
          <a:ln w="25400">
            <a:solidFill>
              <a:srgbClr val="0D9488"/>
            </a:solidFill>
            <a:prstDash val="solid"/>
          </a:ln>
        </p:spPr>
      </p:sp>
      <p:sp>
        <p:nvSpPr>
          <p:cNvPr id="26" name="Text 24"/>
          <p:cNvSpPr/>
          <p:nvPr/>
        </p:nvSpPr>
        <p:spPr>
          <a:xfrm>
            <a:off x="6729984" y="1783080"/>
            <a:ext cx="201168" cy="274320"/>
          </a:xfrm>
          <a:prstGeom prst="rect">
            <a:avLst/>
          </a:prstGeom>
          <a:noFill/>
          <a:ln/>
        </p:spPr>
        <p:txBody>
          <a:bodyPr wrap="square" lIns="0" tIns="0" rIns="0" bIns="0" rtlCol="0" anchor="ctr"/>
          <a:lstStyle/>
          <a:p>
            <a:pPr marL="0" indent="0" algn="ctr">
              <a:buNone/>
            </a:pPr>
            <a:r>
              <a:rPr lang="en-US" sz="1400" dirty="0">
                <a:solidFill>
                  <a:srgbClr val="0D9488"/>
                </a:solidFill>
              </a:rPr>
              <a:t>→</a:t>
            </a:r>
            <a:endParaRPr lang="en-US" sz="1400" dirty="0"/>
          </a:p>
        </p:txBody>
      </p:sp>
      <p:sp>
        <p:nvSpPr>
          <p:cNvPr id="27" name="Shape 25"/>
          <p:cNvSpPr/>
          <p:nvPr/>
        </p:nvSpPr>
        <p:spPr>
          <a:xfrm>
            <a:off x="6912864" y="1005840"/>
            <a:ext cx="2011680" cy="3566160"/>
          </a:xfrm>
          <a:prstGeom prst="roundRect">
            <a:avLst>
              <a:gd name="adj" fmla="val 4545"/>
            </a:avLst>
          </a:prstGeom>
          <a:solidFill>
            <a:srgbClr val="FFFFFF"/>
          </a:solidFill>
          <a:ln/>
          <a:effectLst>
            <a:outerShdw blurRad="127000" dist="25400" dir="2700000" algn="bl" rotWithShape="0">
              <a:srgbClr val="000000">
                <a:alpha val="12000"/>
              </a:srgbClr>
            </a:outerShdw>
          </a:effectLst>
        </p:spPr>
      </p:sp>
      <p:sp>
        <p:nvSpPr>
          <p:cNvPr id="28" name="Shape 26"/>
          <p:cNvSpPr/>
          <p:nvPr/>
        </p:nvSpPr>
        <p:spPr>
          <a:xfrm>
            <a:off x="7461504" y="1143000"/>
            <a:ext cx="914400" cy="914400"/>
          </a:xfrm>
          <a:prstGeom prst="line">
            <a:avLst/>
          </a:prstGeom>
          <a:solidFill>
            <a:srgbClr val="0B1C3F"/>
          </a:solidFill>
          <a:ln/>
        </p:spPr>
      </p:sp>
      <p:sp>
        <p:nvSpPr>
          <p:cNvPr id="29" name="Text 27"/>
          <p:cNvSpPr/>
          <p:nvPr/>
        </p:nvSpPr>
        <p:spPr>
          <a:xfrm>
            <a:off x="7461504" y="1143000"/>
            <a:ext cx="914400" cy="914400"/>
          </a:xfrm>
          <a:prstGeom prst="rect">
            <a:avLst/>
          </a:prstGeom>
          <a:noFill/>
          <a:ln/>
        </p:spPr>
        <p:txBody>
          <a:bodyPr wrap="square" lIns="0" tIns="0" rIns="0" bIns="0" rtlCol="0" anchor="ctr"/>
          <a:lstStyle/>
          <a:p>
            <a:pPr marL="0" indent="0" algn="ctr">
              <a:buNone/>
            </a:pPr>
            <a:r>
              <a:rPr lang="en-US" sz="2600" b="1" dirty="0">
                <a:solidFill>
                  <a:srgbClr val="0D9488"/>
                </a:solidFill>
                <a:latin typeface="Cambria" pitchFamily="34" charset="0"/>
                <a:ea typeface="Cambria" pitchFamily="34" charset="-122"/>
                <a:cs typeface="Cambria" pitchFamily="34" charset="-120"/>
              </a:rPr>
              <a:t>4</a:t>
            </a:r>
            <a:endParaRPr lang="en-US" sz="2600" dirty="0"/>
          </a:p>
        </p:txBody>
      </p:sp>
      <p:sp>
        <p:nvSpPr>
          <p:cNvPr id="30" name="Text 28"/>
          <p:cNvSpPr/>
          <p:nvPr/>
        </p:nvSpPr>
        <p:spPr>
          <a:xfrm>
            <a:off x="7004304" y="2194560"/>
            <a:ext cx="1828800" cy="457200"/>
          </a:xfrm>
          <a:prstGeom prst="rect">
            <a:avLst/>
          </a:prstGeom>
          <a:noFill/>
          <a:ln/>
        </p:spPr>
        <p:txBody>
          <a:bodyPr wrap="square" lIns="0" tIns="0" rIns="0" bIns="0" rtlCol="0" anchor="ctr"/>
          <a:lstStyle/>
          <a:p>
            <a:pPr marL="0" indent="0" algn="ctr">
              <a:buNone/>
            </a:pPr>
            <a:r>
              <a:rPr lang="en-US" sz="1200" b="1" dirty="0">
                <a:solidFill>
                  <a:srgbClr val="0B1C3F"/>
                </a:solidFill>
                <a:latin typeface="Cambria" pitchFamily="34" charset="0"/>
                <a:ea typeface="Cambria" pitchFamily="34" charset="-122"/>
                <a:cs typeface="Cambria" pitchFamily="34" charset="-120"/>
              </a:rPr>
              <a:t>Live Dashboard + Reports</a:t>
            </a:r>
            <a:endParaRPr lang="en-US" sz="1200" dirty="0"/>
          </a:p>
        </p:txBody>
      </p:sp>
      <p:sp>
        <p:nvSpPr>
          <p:cNvPr id="31" name="Text 29"/>
          <p:cNvSpPr/>
          <p:nvPr/>
        </p:nvSpPr>
        <p:spPr>
          <a:xfrm>
            <a:off x="7004304" y="2743200"/>
            <a:ext cx="1828800" cy="1691640"/>
          </a:xfrm>
          <a:prstGeom prst="rect">
            <a:avLst/>
          </a:prstGeom>
          <a:noFill/>
          <a:ln/>
        </p:spPr>
        <p:txBody>
          <a:bodyPr wrap="square" lIns="50800" tIns="50800" rIns="50800" bIns="50800" rtlCol="0" anchor="t"/>
          <a:lstStyle/>
          <a:p>
            <a:pPr marL="0" indent="0" algn="ctr">
              <a:buNone/>
            </a:pPr>
            <a:r>
              <a:rPr lang="en-US" sz="1100" dirty="0">
                <a:solidFill>
                  <a:srgbClr val="334155"/>
                </a:solidFill>
                <a:latin typeface="Calibri" pitchFamily="34" charset="0"/>
                <a:ea typeface="Calibri" pitchFamily="34" charset="-122"/>
                <a:cs typeface="Calibri" pitchFamily="34" charset="-120"/>
              </a:rPr>
              <a:t>Users view an interactive dashboard with real-time AI overlays and can generate PDF inspection reports.</a:t>
            </a:r>
            <a:endParaRPr lang="en-US" sz="11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3 · ARCHITECTURE</a:t>
            </a:r>
            <a:endParaRPr lang="en-US" sz="900" dirty="0"/>
          </a:p>
        </p:txBody>
      </p:sp>
      <p:sp>
        <p:nvSpPr>
          <p:cNvPr id="4" name="Text 2"/>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Preventing Bottlenecks</a:t>
            </a:r>
            <a:endParaRPr lang="en-US" sz="3000" dirty="0"/>
          </a:p>
        </p:txBody>
      </p:sp>
      <p:sp>
        <p:nvSpPr>
          <p:cNvPr id="5" name="Shape 3"/>
          <p:cNvSpPr/>
          <p:nvPr/>
        </p:nvSpPr>
        <p:spPr>
          <a:xfrm>
            <a:off x="457200" y="850392"/>
            <a:ext cx="1097280" cy="54864"/>
          </a:xfrm>
          <a:prstGeom prst="rect">
            <a:avLst/>
          </a:prstGeom>
          <a:solidFill>
            <a:srgbClr val="0D9488"/>
          </a:solidFill>
          <a:ln/>
        </p:spPr>
      </p:sp>
      <p:sp>
        <p:nvSpPr>
          <p:cNvPr id="6" name="Shape 4"/>
          <p:cNvSpPr/>
          <p:nvPr/>
        </p:nvSpPr>
        <p:spPr>
          <a:xfrm>
            <a:off x="365760" y="1005840"/>
            <a:ext cx="3931920" cy="3749040"/>
          </a:xfrm>
          <a:prstGeom prst="roundRect">
            <a:avLst>
              <a:gd name="adj" fmla="val 2439"/>
            </a:avLst>
          </a:prstGeom>
          <a:solidFill>
            <a:srgbClr val="2D1010"/>
          </a:solidFill>
          <a:ln/>
          <a:effectLst>
            <a:outerShdw blurRad="127000" dist="25400" dir="2700000" algn="bl" rotWithShape="0">
              <a:srgbClr val="000000">
                <a:alpha val="12000"/>
              </a:srgbClr>
            </a:outerShdw>
          </a:effectLst>
        </p:spPr>
      </p:sp>
      <p:sp>
        <p:nvSpPr>
          <p:cNvPr id="7" name="Text 5"/>
          <p:cNvSpPr/>
          <p:nvPr/>
        </p:nvSpPr>
        <p:spPr>
          <a:xfrm>
            <a:off x="548640" y="1097280"/>
            <a:ext cx="3566160" cy="365760"/>
          </a:xfrm>
          <a:prstGeom prst="rect">
            <a:avLst/>
          </a:prstGeom>
          <a:noFill/>
          <a:ln/>
        </p:spPr>
        <p:txBody>
          <a:bodyPr wrap="square" lIns="0" tIns="0" rIns="0" bIns="0" rtlCol="0" anchor="ctr"/>
          <a:lstStyle/>
          <a:p>
            <a:pPr marL="0" indent="0">
              <a:buNone/>
            </a:pPr>
            <a:r>
              <a:rPr lang="en-US" sz="1300" b="1" dirty="0">
                <a:solidFill>
                  <a:srgbClr val="EF4444"/>
                </a:solidFill>
                <a:latin typeface="Cambria" pitchFamily="34" charset="0"/>
                <a:ea typeface="Cambria" pitchFamily="34" charset="-122"/>
                <a:cs typeface="Cambria" pitchFamily="34" charset="-120"/>
              </a:rPr>
              <a:t>❌  Without Decoupling</a:t>
            </a:r>
            <a:endParaRPr lang="en-US" sz="1300" dirty="0"/>
          </a:p>
        </p:txBody>
      </p:sp>
      <p:sp>
        <p:nvSpPr>
          <p:cNvPr id="8" name="Text 6"/>
          <p:cNvSpPr/>
          <p:nvPr/>
        </p:nvSpPr>
        <p:spPr>
          <a:xfrm>
            <a:off x="548640" y="1554480"/>
            <a:ext cx="3566160" cy="292608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FCA5A5"/>
                </a:solidFill>
                <a:latin typeface="Calibri" pitchFamily="34" charset="0"/>
                <a:ea typeface="Calibri" pitchFamily="34" charset="-122"/>
                <a:cs typeface="Calibri" pitchFamily="34" charset="-120"/>
              </a:rPr>
              <a:t>Main web server runs AI models natively</a:t>
            </a:r>
            <a:endParaRPr lang="en-US" sz="1200" dirty="0"/>
          </a:p>
          <a:p>
            <a:pPr marL="342900" indent="-342900">
              <a:spcAft>
                <a:spcPts val="600"/>
              </a:spcAft>
              <a:buSzPct val="100000"/>
              <a:buChar char="•"/>
            </a:pPr>
            <a:r>
              <a:rPr lang="en-US" sz="1200" dirty="0">
                <a:solidFill>
                  <a:srgbClr val="FCA5A5"/>
                </a:solidFill>
                <a:latin typeface="Calibri" pitchFamily="34" charset="0"/>
                <a:ea typeface="Calibri" pitchFamily="34" charset="-122"/>
                <a:cs typeface="Calibri" pitchFamily="34" charset="-120"/>
              </a:rPr>
              <a:t>Multiple video uploads cause the website to crash</a:t>
            </a:r>
            <a:endParaRPr lang="en-US" sz="1200" dirty="0"/>
          </a:p>
          <a:p>
            <a:pPr marL="342900" indent="-342900">
              <a:spcAft>
                <a:spcPts val="600"/>
              </a:spcAft>
              <a:buSzPct val="100000"/>
              <a:buChar char="•"/>
            </a:pPr>
            <a:r>
              <a:rPr lang="en-US" sz="1200" dirty="0">
                <a:solidFill>
                  <a:srgbClr val="FCA5A5"/>
                </a:solidFill>
                <a:latin typeface="Calibri" pitchFamily="34" charset="0"/>
                <a:ea typeface="Calibri" pitchFamily="34" charset="-122"/>
                <a:cs typeface="Calibri" pitchFamily="34" charset="-120"/>
              </a:rPr>
              <a:t>Users experience unacceptable lag — loading screen of death</a:t>
            </a:r>
            <a:endParaRPr lang="en-US" sz="1200" dirty="0"/>
          </a:p>
          <a:p>
            <a:pPr marL="342900" indent="-342900">
              <a:spcAft>
                <a:spcPts val="600"/>
              </a:spcAft>
              <a:buSzPct val="100000"/>
              <a:buChar char="•"/>
            </a:pPr>
            <a:r>
              <a:rPr lang="en-US" sz="1200" dirty="0">
                <a:solidFill>
                  <a:srgbClr val="FCA5A5"/>
                </a:solidFill>
                <a:latin typeface="Calibri" pitchFamily="34" charset="0"/>
                <a:ea typeface="Calibri" pitchFamily="34" charset="-122"/>
                <a:cs typeface="Calibri" pitchFamily="34" charset="-120"/>
              </a:rPr>
              <a:t>Scaling requires redeployment of the entire application</a:t>
            </a:r>
            <a:endParaRPr lang="en-US" sz="1200" dirty="0"/>
          </a:p>
        </p:txBody>
      </p:sp>
      <p:sp>
        <p:nvSpPr>
          <p:cNvPr id="9" name="Shape 7"/>
          <p:cNvSpPr/>
          <p:nvPr/>
        </p:nvSpPr>
        <p:spPr>
          <a:xfrm>
            <a:off x="4663440" y="1005840"/>
            <a:ext cx="4023360" cy="3749040"/>
          </a:xfrm>
          <a:prstGeom prst="roundRect">
            <a:avLst>
              <a:gd name="adj" fmla="val 2439"/>
            </a:avLst>
          </a:prstGeom>
          <a:solidFill>
            <a:srgbClr val="082A26"/>
          </a:solidFill>
          <a:ln/>
          <a:effectLst>
            <a:outerShdw blurRad="127000" dist="25400" dir="2700000" algn="bl" rotWithShape="0">
              <a:srgbClr val="000000">
                <a:alpha val="12000"/>
              </a:srgbClr>
            </a:outerShdw>
          </a:effectLst>
        </p:spPr>
      </p:sp>
      <p:sp>
        <p:nvSpPr>
          <p:cNvPr id="10" name="Text 8"/>
          <p:cNvSpPr/>
          <p:nvPr/>
        </p:nvSpPr>
        <p:spPr>
          <a:xfrm>
            <a:off x="4846320" y="1097280"/>
            <a:ext cx="3657600" cy="365760"/>
          </a:xfrm>
          <a:prstGeom prst="rect">
            <a:avLst/>
          </a:prstGeom>
          <a:noFill/>
          <a:ln/>
        </p:spPr>
        <p:txBody>
          <a:bodyPr wrap="square" lIns="0" tIns="0" rIns="0" bIns="0" rtlCol="0" anchor="ctr"/>
          <a:lstStyle/>
          <a:p>
            <a:pPr marL="0" indent="0">
              <a:buNone/>
            </a:pPr>
            <a:r>
              <a:rPr lang="en-US" sz="1300" b="1" dirty="0">
                <a:solidFill>
                  <a:srgbClr val="22C55E"/>
                </a:solidFill>
                <a:latin typeface="Cambria" pitchFamily="34" charset="0"/>
                <a:ea typeface="Cambria" pitchFamily="34" charset="-122"/>
                <a:cs typeface="Cambria" pitchFamily="34" charset="-120"/>
              </a:rPr>
              <a:t>✅  With Decoupling (SRIS)</a:t>
            </a:r>
            <a:endParaRPr lang="en-US" sz="1300" dirty="0"/>
          </a:p>
        </p:txBody>
      </p:sp>
      <p:sp>
        <p:nvSpPr>
          <p:cNvPr id="11" name="Text 9"/>
          <p:cNvSpPr/>
          <p:nvPr/>
        </p:nvSpPr>
        <p:spPr>
          <a:xfrm>
            <a:off x="4846320" y="1554480"/>
            <a:ext cx="3657600" cy="292608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A7F3D0"/>
                </a:solidFill>
                <a:latin typeface="Calibri" pitchFamily="34" charset="0"/>
                <a:ea typeface="Calibri" pitchFamily="34" charset="-122"/>
                <a:cs typeface="Calibri" pitchFamily="34" charset="-120"/>
              </a:rPr>
              <a:t>AI is completely isolated into its own microservice</a:t>
            </a:r>
            <a:endParaRPr lang="en-US" sz="1200" dirty="0"/>
          </a:p>
          <a:p>
            <a:pPr marL="342900" indent="-342900">
              <a:spcAft>
                <a:spcPts val="600"/>
              </a:spcAft>
              <a:buSzPct val="100000"/>
              <a:buChar char="•"/>
            </a:pPr>
            <a:r>
              <a:rPr lang="en-US" sz="1200" dirty="0">
                <a:solidFill>
                  <a:srgbClr val="A7F3D0"/>
                </a:solidFill>
                <a:latin typeface="Calibri" pitchFamily="34" charset="0"/>
                <a:ea typeface="Calibri" pitchFamily="34" charset="-122"/>
                <a:cs typeface="Calibri" pitchFamily="34" charset="-120"/>
              </a:rPr>
              <a:t>Web app remains lightning-fast under any load</a:t>
            </a:r>
            <a:endParaRPr lang="en-US" sz="1200" dirty="0"/>
          </a:p>
          <a:p>
            <a:pPr marL="342900" indent="-342900">
              <a:spcAft>
                <a:spcPts val="600"/>
              </a:spcAft>
              <a:buSzPct val="100000"/>
              <a:buChar char="•"/>
            </a:pPr>
            <a:r>
              <a:rPr lang="en-US" sz="1200" dirty="0">
                <a:solidFill>
                  <a:srgbClr val="A7F3D0"/>
                </a:solidFill>
                <a:latin typeface="Calibri" pitchFamily="34" charset="0"/>
                <a:ea typeface="Calibri" pitchFamily="34" charset="-122"/>
                <a:cs typeface="Calibri" pitchFamily="34" charset="-120"/>
              </a:rPr>
              <a:t>AI service scales independently during high-traffic events</a:t>
            </a:r>
            <a:endParaRPr lang="en-US" sz="1200" dirty="0"/>
          </a:p>
          <a:p>
            <a:pPr marL="342900" indent="-342900">
              <a:spcAft>
                <a:spcPts val="600"/>
              </a:spcAft>
              <a:buSzPct val="100000"/>
              <a:buChar char="•"/>
            </a:pPr>
            <a:r>
              <a:rPr lang="en-US" sz="1200" dirty="0">
                <a:solidFill>
                  <a:srgbClr val="A7F3D0"/>
                </a:solidFill>
                <a:latin typeface="Calibri" pitchFamily="34" charset="0"/>
                <a:ea typeface="Calibri" pitchFamily="34" charset="-122"/>
                <a:cs typeface="Calibri" pitchFamily="34" charset="-120"/>
              </a:rPr>
              <a:t>Each component deployed, updated, and scaled separately</a:t>
            </a:r>
            <a:endParaRPr lang="en-US" sz="1200" dirty="0"/>
          </a:p>
        </p:txBody>
      </p:sp>
      <p:sp>
        <p:nvSpPr>
          <p:cNvPr id="12" name="Text 10"/>
          <p:cNvSpPr/>
          <p:nvPr/>
        </p:nvSpPr>
        <p:spPr>
          <a:xfrm>
            <a:off x="457200" y="4800600"/>
            <a:ext cx="8229600" cy="228600"/>
          </a:xfrm>
          <a:prstGeom prst="rect">
            <a:avLst/>
          </a:prstGeom>
          <a:noFill/>
          <a:ln/>
        </p:spPr>
        <p:txBody>
          <a:bodyPr wrap="square" lIns="0" tIns="0" rIns="0" bIns="0" rtlCol="0" anchor="ctr"/>
          <a:lstStyle/>
          <a:p>
            <a:pPr marL="0" indent="0" algn="ctr">
              <a:buNone/>
            </a:pPr>
            <a:r>
              <a:rPr lang="en-US" sz="1100" i="1" dirty="0">
                <a:solidFill>
                  <a:srgbClr val="FBBF24"/>
                </a:solidFill>
                <a:latin typeface="Calibri" pitchFamily="34" charset="0"/>
                <a:ea typeface="Calibri" pitchFamily="34" charset="-122"/>
                <a:cs typeface="Calibri" pitchFamily="34" charset="-120"/>
              </a:rPr>
              <a:t>Decoupling is the architectural decision that makes SRIS enterprise-ready.</a:t>
            </a:r>
            <a:endParaRPr lang="en-US" sz="11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3 · DASHBOARD</a:t>
            </a:r>
            <a:endParaRPr lang="en-US" sz="900" dirty="0"/>
          </a:p>
        </p:txBody>
      </p:sp>
      <p:sp>
        <p:nvSpPr>
          <p:cNvPr id="4" name="Text 2"/>
          <p:cNvSpPr/>
          <p:nvPr/>
        </p:nvSpPr>
        <p:spPr>
          <a:xfrm>
            <a:off x="457200" y="201168"/>
            <a:ext cx="8229600" cy="548640"/>
          </a:xfrm>
          <a:prstGeom prst="rect">
            <a:avLst/>
          </a:prstGeom>
          <a:noFill/>
          <a:ln/>
        </p:spPr>
        <p:txBody>
          <a:bodyPr wrap="square" lIns="0" tIns="0" rIns="0" bIns="0" rtlCol="0" anchor="ctr"/>
          <a:lstStyle/>
          <a:p>
            <a:pPr marL="0" indent="0" algn="l">
              <a:buNone/>
            </a:pPr>
            <a:r>
              <a:rPr lang="en-US" sz="2800" b="1" dirty="0">
                <a:solidFill>
                  <a:srgbClr val="0B1C3F"/>
                </a:solidFill>
                <a:latin typeface="Cambria" pitchFamily="34" charset="0"/>
                <a:ea typeface="Cambria" pitchFamily="34" charset="-122"/>
                <a:cs typeface="Cambria" pitchFamily="34" charset="-120"/>
              </a:rPr>
              <a:t>The Command Center</a:t>
            </a:r>
            <a:endParaRPr lang="en-US" sz="2800" dirty="0"/>
          </a:p>
        </p:txBody>
      </p:sp>
      <p:sp>
        <p:nvSpPr>
          <p:cNvPr id="5" name="Shape 3"/>
          <p:cNvSpPr/>
          <p:nvPr/>
        </p:nvSpPr>
        <p:spPr>
          <a:xfrm>
            <a:off x="457200" y="795528"/>
            <a:ext cx="1097280" cy="54864"/>
          </a:xfrm>
          <a:prstGeom prst="rect">
            <a:avLst/>
          </a:prstGeom>
          <a:solidFill>
            <a:srgbClr val="0D9488"/>
          </a:solidFill>
          <a:ln/>
        </p:spPr>
      </p:sp>
      <p:sp>
        <p:nvSpPr>
          <p:cNvPr id="6" name="Shape 4"/>
          <p:cNvSpPr/>
          <p:nvPr/>
        </p:nvSpPr>
        <p:spPr>
          <a:xfrm>
            <a:off x="365760" y="1005840"/>
            <a:ext cx="3657600" cy="3749040"/>
          </a:xfrm>
          <a:prstGeom prst="roundRect">
            <a:avLst>
              <a:gd name="adj" fmla="val 2500"/>
            </a:avLst>
          </a:prstGeom>
          <a:solidFill>
            <a:srgbClr val="FFFFFF"/>
          </a:solidFill>
          <a:ln/>
          <a:effectLst>
            <a:outerShdw blurRad="127000" dist="25400" dir="2700000" algn="bl" rotWithShape="0">
              <a:srgbClr val="000000">
                <a:alpha val="12000"/>
              </a:srgbClr>
            </a:outerShdw>
          </a:effectLst>
        </p:spPr>
      </p:sp>
      <p:pic>
        <p:nvPicPr>
          <p:cNvPr id="7" name="Image 0" descr="preencoded.png"/>
          <p:cNvPicPr>
            <a:picLocks noChangeAspect="1"/>
          </p:cNvPicPr>
          <p:nvPr/>
        </p:nvPicPr>
        <p:blipFill>
          <a:blip r:embed="rId3"/>
          <a:stretch>
            <a:fillRect/>
          </a:stretch>
        </p:blipFill>
        <p:spPr>
          <a:xfrm>
            <a:off x="1188720" y="1280160"/>
            <a:ext cx="1920240" cy="1920240"/>
          </a:xfrm>
          <a:prstGeom prst="rect">
            <a:avLst/>
          </a:prstGeom>
        </p:spPr>
      </p:pic>
      <p:sp>
        <p:nvSpPr>
          <p:cNvPr id="8" name="Text 5"/>
          <p:cNvSpPr/>
          <p:nvPr/>
        </p:nvSpPr>
        <p:spPr>
          <a:xfrm>
            <a:off x="457200" y="3337560"/>
            <a:ext cx="3474720" cy="365760"/>
          </a:xfrm>
          <a:prstGeom prst="rect">
            <a:avLst/>
          </a:prstGeom>
          <a:noFill/>
          <a:ln/>
        </p:spPr>
        <p:txBody>
          <a:bodyPr wrap="square" lIns="0" tIns="0" rIns="0" bIns="0" rtlCol="0" anchor="ctr"/>
          <a:lstStyle/>
          <a:p>
            <a:pPr marL="0" indent="0" algn="ctr">
              <a:buNone/>
            </a:pPr>
            <a:r>
              <a:rPr lang="en-US" sz="1400" b="1" dirty="0">
                <a:solidFill>
                  <a:srgbClr val="0B1C3F"/>
                </a:solidFill>
                <a:latin typeface="Cambria" pitchFamily="34" charset="0"/>
                <a:ea typeface="Cambria" pitchFamily="34" charset="-122"/>
                <a:cs typeface="Cambria" pitchFamily="34" charset="-120"/>
              </a:rPr>
              <a:t>Laravel / PHP</a:t>
            </a:r>
            <a:endParaRPr lang="en-US" sz="1400" dirty="0"/>
          </a:p>
        </p:txBody>
      </p:sp>
      <p:sp>
        <p:nvSpPr>
          <p:cNvPr id="9" name="Text 6"/>
          <p:cNvSpPr/>
          <p:nvPr/>
        </p:nvSpPr>
        <p:spPr>
          <a:xfrm>
            <a:off x="457200" y="3749040"/>
            <a:ext cx="3474720" cy="27432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Management Dashboard</a:t>
            </a:r>
            <a:endParaRPr lang="en-US" sz="1100" dirty="0"/>
          </a:p>
        </p:txBody>
      </p:sp>
      <p:sp>
        <p:nvSpPr>
          <p:cNvPr id="10" name="Shape 7"/>
          <p:cNvSpPr/>
          <p:nvPr/>
        </p:nvSpPr>
        <p:spPr>
          <a:xfrm>
            <a:off x="4297680" y="1005840"/>
            <a:ext cx="4389120" cy="804672"/>
          </a:xfrm>
          <a:prstGeom prst="roundRect">
            <a:avLst>
              <a:gd name="adj" fmla="val 11364"/>
            </a:avLst>
          </a:prstGeom>
          <a:solidFill>
            <a:srgbClr val="FFFFFF"/>
          </a:solidFill>
          <a:ln/>
          <a:effectLst>
            <a:outerShdw blurRad="127000" dist="25400" dir="2700000" algn="bl" rotWithShape="0">
              <a:srgbClr val="000000">
                <a:alpha val="12000"/>
              </a:srgbClr>
            </a:outerShdw>
          </a:effectLst>
        </p:spPr>
      </p:sp>
      <p:sp>
        <p:nvSpPr>
          <p:cNvPr id="11" name="Text 8"/>
          <p:cNvSpPr/>
          <p:nvPr/>
        </p:nvSpPr>
        <p:spPr>
          <a:xfrm>
            <a:off x="4480560" y="1051560"/>
            <a:ext cx="4023360" cy="274320"/>
          </a:xfrm>
          <a:prstGeom prst="rect">
            <a:avLst/>
          </a:prstGeom>
          <a:noFill/>
          <a:ln/>
        </p:spPr>
        <p:txBody>
          <a:bodyPr wrap="square" lIns="0" tIns="0" rIns="0" bIns="0" rtlCol="0" anchor="ctr"/>
          <a:lstStyle/>
          <a:p>
            <a:pPr marL="0" indent="0">
              <a:buNone/>
            </a:pPr>
            <a:r>
              <a:rPr lang="en-US" sz="1200" b="1" dirty="0">
                <a:solidFill>
                  <a:srgbClr val="0B1C3F"/>
                </a:solidFill>
                <a:latin typeface="Cambria" pitchFamily="34" charset="0"/>
                <a:ea typeface="Cambria" pitchFamily="34" charset="-122"/>
                <a:cs typeface="Cambria" pitchFamily="34" charset="-120"/>
              </a:rPr>
              <a:t>Robust Framework</a:t>
            </a:r>
            <a:endParaRPr lang="en-US" sz="1200" dirty="0"/>
          </a:p>
        </p:txBody>
      </p:sp>
      <p:sp>
        <p:nvSpPr>
          <p:cNvPr id="12" name="Text 9"/>
          <p:cNvSpPr/>
          <p:nvPr/>
        </p:nvSpPr>
        <p:spPr>
          <a:xfrm>
            <a:off x="4480560" y="1353312"/>
            <a:ext cx="4023360" cy="38404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Built on the battle-tested Laravel (PHP) framework, ensuring maintainability and scalability.</a:t>
            </a:r>
            <a:endParaRPr lang="en-US" sz="1050" dirty="0"/>
          </a:p>
        </p:txBody>
      </p:sp>
      <p:sp>
        <p:nvSpPr>
          <p:cNvPr id="13" name="Shape 10"/>
          <p:cNvSpPr/>
          <p:nvPr/>
        </p:nvSpPr>
        <p:spPr>
          <a:xfrm>
            <a:off x="4297680" y="1938528"/>
            <a:ext cx="4389120" cy="804672"/>
          </a:xfrm>
          <a:prstGeom prst="roundRect">
            <a:avLst>
              <a:gd name="adj" fmla="val 11364"/>
            </a:avLst>
          </a:prstGeom>
          <a:solidFill>
            <a:srgbClr val="FFFFFF"/>
          </a:solidFill>
          <a:ln/>
          <a:effectLst>
            <a:outerShdw blurRad="127000" dist="25400" dir="2700000" algn="bl" rotWithShape="0">
              <a:srgbClr val="000000">
                <a:alpha val="12000"/>
              </a:srgbClr>
            </a:outerShdw>
          </a:effectLst>
        </p:spPr>
      </p:sp>
      <p:sp>
        <p:nvSpPr>
          <p:cNvPr id="14" name="Text 11"/>
          <p:cNvSpPr/>
          <p:nvPr/>
        </p:nvSpPr>
        <p:spPr>
          <a:xfrm>
            <a:off x="4480560" y="1984248"/>
            <a:ext cx="4023360" cy="274320"/>
          </a:xfrm>
          <a:prstGeom prst="rect">
            <a:avLst/>
          </a:prstGeom>
          <a:noFill/>
          <a:ln/>
        </p:spPr>
        <p:txBody>
          <a:bodyPr wrap="square" lIns="0" tIns="0" rIns="0" bIns="0" rtlCol="0" anchor="ctr"/>
          <a:lstStyle/>
          <a:p>
            <a:pPr marL="0" indent="0">
              <a:buNone/>
            </a:pPr>
            <a:r>
              <a:rPr lang="en-US" sz="1200" b="1" dirty="0">
                <a:solidFill>
                  <a:srgbClr val="0B1C3F"/>
                </a:solidFill>
                <a:latin typeface="Cambria" pitchFamily="34" charset="0"/>
                <a:ea typeface="Cambria" pitchFamily="34" charset="-122"/>
                <a:cs typeface="Cambria" pitchFamily="34" charset="-120"/>
              </a:rPr>
              <a:t>Historical Data Storage</a:t>
            </a:r>
            <a:endParaRPr lang="en-US" sz="1200" dirty="0"/>
          </a:p>
        </p:txBody>
      </p:sp>
      <p:sp>
        <p:nvSpPr>
          <p:cNvPr id="15" name="Text 12"/>
          <p:cNvSpPr/>
          <p:nvPr/>
        </p:nvSpPr>
        <p:spPr>
          <a:xfrm>
            <a:off x="4480560" y="2286000"/>
            <a:ext cx="4023360" cy="38404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Handles complex business logic and stores all historical inspection footage and results.</a:t>
            </a:r>
            <a:endParaRPr lang="en-US" sz="1050" dirty="0"/>
          </a:p>
        </p:txBody>
      </p:sp>
      <p:sp>
        <p:nvSpPr>
          <p:cNvPr id="16" name="Shape 13"/>
          <p:cNvSpPr/>
          <p:nvPr/>
        </p:nvSpPr>
        <p:spPr>
          <a:xfrm>
            <a:off x="4297680" y="2871216"/>
            <a:ext cx="4389120" cy="804672"/>
          </a:xfrm>
          <a:prstGeom prst="roundRect">
            <a:avLst>
              <a:gd name="adj" fmla="val 11364"/>
            </a:avLst>
          </a:prstGeom>
          <a:solidFill>
            <a:srgbClr val="FFFFFF"/>
          </a:solidFill>
          <a:ln/>
          <a:effectLst>
            <a:outerShdw blurRad="127000" dist="25400" dir="2700000" algn="bl" rotWithShape="0">
              <a:srgbClr val="000000">
                <a:alpha val="12000"/>
              </a:srgbClr>
            </a:outerShdw>
          </a:effectLst>
        </p:spPr>
      </p:sp>
      <p:sp>
        <p:nvSpPr>
          <p:cNvPr id="17" name="Text 14"/>
          <p:cNvSpPr/>
          <p:nvPr/>
        </p:nvSpPr>
        <p:spPr>
          <a:xfrm>
            <a:off x="4480560" y="2916936"/>
            <a:ext cx="4023360" cy="274320"/>
          </a:xfrm>
          <a:prstGeom prst="rect">
            <a:avLst/>
          </a:prstGeom>
          <a:noFill/>
          <a:ln/>
        </p:spPr>
        <p:txBody>
          <a:bodyPr wrap="square" lIns="0" tIns="0" rIns="0" bIns="0" rtlCol="0" anchor="ctr"/>
          <a:lstStyle/>
          <a:p>
            <a:pPr marL="0" indent="0">
              <a:buNone/>
            </a:pPr>
            <a:r>
              <a:rPr lang="en-US" sz="1200" b="1" dirty="0">
                <a:solidFill>
                  <a:srgbClr val="0B1C3F"/>
                </a:solidFill>
                <a:latin typeface="Cambria" pitchFamily="34" charset="0"/>
                <a:ea typeface="Cambria" pitchFamily="34" charset="-122"/>
                <a:cs typeface="Cambria" pitchFamily="34" charset="-120"/>
              </a:rPr>
              <a:t>User Authentication</a:t>
            </a:r>
            <a:endParaRPr lang="en-US" sz="1200" dirty="0"/>
          </a:p>
        </p:txBody>
      </p:sp>
      <p:sp>
        <p:nvSpPr>
          <p:cNvPr id="18" name="Text 15"/>
          <p:cNvSpPr/>
          <p:nvPr/>
        </p:nvSpPr>
        <p:spPr>
          <a:xfrm>
            <a:off x="4480560" y="3218688"/>
            <a:ext cx="4023360" cy="38404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Manages secure user authentication with role-based access control: Admins vs. Standard Users.</a:t>
            </a:r>
            <a:endParaRPr lang="en-US" sz="1050" dirty="0"/>
          </a:p>
        </p:txBody>
      </p:sp>
      <p:sp>
        <p:nvSpPr>
          <p:cNvPr id="19" name="Shape 16"/>
          <p:cNvSpPr/>
          <p:nvPr/>
        </p:nvSpPr>
        <p:spPr>
          <a:xfrm>
            <a:off x="4297680" y="3803904"/>
            <a:ext cx="4389120" cy="804672"/>
          </a:xfrm>
          <a:prstGeom prst="roundRect">
            <a:avLst>
              <a:gd name="adj" fmla="val 11364"/>
            </a:avLst>
          </a:prstGeom>
          <a:solidFill>
            <a:srgbClr val="FFFFFF"/>
          </a:solidFill>
          <a:ln/>
          <a:effectLst>
            <a:outerShdw blurRad="127000" dist="25400" dir="2700000" algn="bl" rotWithShape="0">
              <a:srgbClr val="000000">
                <a:alpha val="12000"/>
              </a:srgbClr>
            </a:outerShdw>
          </a:effectLst>
        </p:spPr>
      </p:sp>
      <p:sp>
        <p:nvSpPr>
          <p:cNvPr id="20" name="Text 17"/>
          <p:cNvSpPr/>
          <p:nvPr/>
        </p:nvSpPr>
        <p:spPr>
          <a:xfrm>
            <a:off x="4480560" y="3849624"/>
            <a:ext cx="4023360" cy="274320"/>
          </a:xfrm>
          <a:prstGeom prst="rect">
            <a:avLst/>
          </a:prstGeom>
          <a:noFill/>
          <a:ln/>
        </p:spPr>
        <p:txBody>
          <a:bodyPr wrap="square" lIns="0" tIns="0" rIns="0" bIns="0" rtlCol="0" anchor="ctr"/>
          <a:lstStyle/>
          <a:p>
            <a:pPr marL="0" indent="0">
              <a:buNone/>
            </a:pPr>
            <a:r>
              <a:rPr lang="en-US" sz="1200" b="1" dirty="0">
                <a:solidFill>
                  <a:srgbClr val="0B1C3F"/>
                </a:solidFill>
                <a:latin typeface="Cambria" pitchFamily="34" charset="0"/>
                <a:ea typeface="Cambria" pitchFamily="34" charset="-122"/>
                <a:cs typeface="Cambria" pitchFamily="34" charset="-120"/>
              </a:rPr>
              <a:t>Report Generation</a:t>
            </a:r>
            <a:endParaRPr lang="en-US" sz="1200" dirty="0"/>
          </a:p>
        </p:txBody>
      </p:sp>
      <p:sp>
        <p:nvSpPr>
          <p:cNvPr id="21" name="Text 18"/>
          <p:cNvSpPr/>
          <p:nvPr/>
        </p:nvSpPr>
        <p:spPr>
          <a:xfrm>
            <a:off x="4480560" y="4151376"/>
            <a:ext cx="4023360" cy="38404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Auto-generates detailed PDF inspection reports linked to footage, ready for city authorities.</a:t>
            </a:r>
            <a:endParaRPr lang="en-US" sz="105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3 · AI ENGINE</a:t>
            </a:r>
            <a:endParaRPr lang="en-US" sz="900" dirty="0"/>
          </a:p>
        </p:txBody>
      </p:sp>
      <p:sp>
        <p:nvSpPr>
          <p:cNvPr id="4" name="Text 2"/>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The Brain of the System</a:t>
            </a:r>
            <a:endParaRPr lang="en-US" sz="3000" dirty="0"/>
          </a:p>
        </p:txBody>
      </p:sp>
      <p:sp>
        <p:nvSpPr>
          <p:cNvPr id="5" name="Shape 3"/>
          <p:cNvSpPr/>
          <p:nvPr/>
        </p:nvSpPr>
        <p:spPr>
          <a:xfrm>
            <a:off x="457200" y="850392"/>
            <a:ext cx="1097280" cy="54864"/>
          </a:xfrm>
          <a:prstGeom prst="rect">
            <a:avLst/>
          </a:prstGeom>
          <a:solidFill>
            <a:srgbClr val="0D9488"/>
          </a:solidFill>
          <a:ln/>
        </p:spPr>
      </p:sp>
      <p:sp>
        <p:nvSpPr>
          <p:cNvPr id="6" name="Shape 4"/>
          <p:cNvSpPr/>
          <p:nvPr/>
        </p:nvSpPr>
        <p:spPr>
          <a:xfrm>
            <a:off x="365760" y="1005840"/>
            <a:ext cx="8412480" cy="1005840"/>
          </a:xfrm>
          <a:prstGeom prst="roundRect">
            <a:avLst>
              <a:gd name="adj" fmla="val 9091"/>
            </a:avLst>
          </a:prstGeom>
          <a:solidFill>
            <a:srgbClr val="0E2140"/>
          </a:solidFill>
          <a:ln/>
          <a:effectLst>
            <a:outerShdw blurRad="127000" dist="25400" dir="2700000" algn="bl" rotWithShape="0">
              <a:srgbClr val="000000">
                <a:alpha val="12000"/>
              </a:srgbClr>
            </a:outerShdw>
          </a:effectLst>
        </p:spPr>
      </p:sp>
      <p:sp>
        <p:nvSpPr>
          <p:cNvPr id="7" name="Text 5"/>
          <p:cNvSpPr/>
          <p:nvPr/>
        </p:nvSpPr>
        <p:spPr>
          <a:xfrm>
            <a:off x="548640" y="1051560"/>
            <a:ext cx="8046720" cy="868680"/>
          </a:xfrm>
          <a:prstGeom prst="rect">
            <a:avLst/>
          </a:prstGeom>
          <a:noFill/>
          <a:ln/>
        </p:spPr>
        <p:txBody>
          <a:bodyPr wrap="square" lIns="50800" tIns="50800" rIns="50800" bIns="5080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Built on FastAPI (Python) — a highly optimized, asynchronous microservice framework designed for AI inference workloads.</a:t>
            </a:r>
            <a:endParaRPr lang="en-US" sz="1300" dirty="0"/>
          </a:p>
        </p:txBody>
      </p:sp>
      <p:sp>
        <p:nvSpPr>
          <p:cNvPr id="8" name="Shape 6"/>
          <p:cNvSpPr/>
          <p:nvPr/>
        </p:nvSpPr>
        <p:spPr>
          <a:xfrm>
            <a:off x="384048" y="2194560"/>
            <a:ext cx="2724912" cy="2651760"/>
          </a:xfrm>
          <a:prstGeom prst="roundRect">
            <a:avLst>
              <a:gd name="adj" fmla="val 3448"/>
            </a:avLst>
          </a:prstGeom>
          <a:solidFill>
            <a:srgbClr val="0E2140"/>
          </a:solidFill>
          <a:ln/>
          <a:effectLst>
            <a:outerShdw blurRad="127000" dist="25400" dir="2700000" algn="bl" rotWithShape="0">
              <a:srgbClr val="000000">
                <a:alpha val="12000"/>
              </a:srgbClr>
            </a:outerShdw>
          </a:effectLst>
        </p:spPr>
      </p:sp>
      <p:sp>
        <p:nvSpPr>
          <p:cNvPr id="9" name="Shape 7"/>
          <p:cNvSpPr/>
          <p:nvPr/>
        </p:nvSpPr>
        <p:spPr>
          <a:xfrm>
            <a:off x="1271016" y="2331720"/>
            <a:ext cx="914400" cy="914400"/>
          </a:xfrm>
          <a:prstGeom prst="line">
            <a:avLst/>
          </a:prstGeom>
          <a:solidFill>
            <a:srgbClr val="0D9488"/>
          </a:solidFill>
          <a:ln/>
        </p:spPr>
      </p:sp>
      <p:pic>
        <p:nvPicPr>
          <p:cNvPr id="10" name="Image 0" descr="preencoded.png"/>
          <p:cNvPicPr>
            <a:picLocks noChangeAspect="1"/>
          </p:cNvPicPr>
          <p:nvPr/>
        </p:nvPicPr>
        <p:blipFill>
          <a:blip r:embed="rId3"/>
          <a:stretch>
            <a:fillRect/>
          </a:stretch>
        </p:blipFill>
        <p:spPr>
          <a:xfrm>
            <a:off x="1362456" y="2423160"/>
            <a:ext cx="731520" cy="731520"/>
          </a:xfrm>
          <a:prstGeom prst="rect">
            <a:avLst/>
          </a:prstGeom>
        </p:spPr>
      </p:pic>
      <p:sp>
        <p:nvSpPr>
          <p:cNvPr id="11" name="Text 8"/>
          <p:cNvSpPr/>
          <p:nvPr/>
        </p:nvSpPr>
        <p:spPr>
          <a:xfrm>
            <a:off x="475488" y="3337560"/>
            <a:ext cx="2542032"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Pure Inference Engine</a:t>
            </a:r>
            <a:endParaRPr lang="en-US" sz="1200" dirty="0"/>
          </a:p>
        </p:txBody>
      </p:sp>
      <p:sp>
        <p:nvSpPr>
          <p:cNvPr id="12" name="Text 9"/>
          <p:cNvSpPr/>
          <p:nvPr/>
        </p:nvSpPr>
        <p:spPr>
          <a:xfrm>
            <a:off x="475488" y="3749040"/>
            <a:ext cx="2542032" cy="1005840"/>
          </a:xfrm>
          <a:prstGeom prst="rect">
            <a:avLst/>
          </a:prstGeom>
          <a:noFill/>
          <a:ln/>
        </p:spPr>
        <p:txBody>
          <a:bodyPr wrap="square" lIns="50800" tIns="50800" rIns="50800" bIns="50800"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Loads heavy PyTorch models into GPU memory at startup. Processes inference requests from Laravel with minimal overhead.</a:t>
            </a:r>
            <a:endParaRPr lang="en-US" sz="1050" dirty="0"/>
          </a:p>
        </p:txBody>
      </p:sp>
      <p:sp>
        <p:nvSpPr>
          <p:cNvPr id="13" name="Shape 10"/>
          <p:cNvSpPr/>
          <p:nvPr/>
        </p:nvSpPr>
        <p:spPr>
          <a:xfrm>
            <a:off x="3236976" y="2194560"/>
            <a:ext cx="2724912" cy="2651760"/>
          </a:xfrm>
          <a:prstGeom prst="roundRect">
            <a:avLst>
              <a:gd name="adj" fmla="val 3448"/>
            </a:avLst>
          </a:prstGeom>
          <a:solidFill>
            <a:srgbClr val="0E2140"/>
          </a:solidFill>
          <a:ln/>
          <a:effectLst>
            <a:outerShdw blurRad="127000" dist="25400" dir="2700000" algn="bl" rotWithShape="0">
              <a:srgbClr val="000000">
                <a:alpha val="12000"/>
              </a:srgbClr>
            </a:outerShdw>
          </a:effectLst>
        </p:spPr>
      </p:sp>
      <p:sp>
        <p:nvSpPr>
          <p:cNvPr id="14" name="Shape 11"/>
          <p:cNvSpPr/>
          <p:nvPr/>
        </p:nvSpPr>
        <p:spPr>
          <a:xfrm>
            <a:off x="4123944" y="2331720"/>
            <a:ext cx="914400" cy="914400"/>
          </a:xfrm>
          <a:prstGeom prst="line">
            <a:avLst/>
          </a:prstGeom>
          <a:solidFill>
            <a:srgbClr val="FBBF24"/>
          </a:solidFill>
          <a:ln/>
        </p:spPr>
      </p:sp>
      <p:pic>
        <p:nvPicPr>
          <p:cNvPr id="15" name="Image 1" descr="preencoded.png"/>
          <p:cNvPicPr>
            <a:picLocks noChangeAspect="1"/>
          </p:cNvPicPr>
          <p:nvPr/>
        </p:nvPicPr>
        <p:blipFill>
          <a:blip r:embed="rId4"/>
          <a:stretch>
            <a:fillRect/>
          </a:stretch>
        </p:blipFill>
        <p:spPr>
          <a:xfrm>
            <a:off x="4215384" y="2423160"/>
            <a:ext cx="731520" cy="731520"/>
          </a:xfrm>
          <a:prstGeom prst="rect">
            <a:avLst/>
          </a:prstGeom>
        </p:spPr>
      </p:pic>
      <p:sp>
        <p:nvSpPr>
          <p:cNvPr id="16" name="Text 12"/>
          <p:cNvSpPr/>
          <p:nvPr/>
        </p:nvSpPr>
        <p:spPr>
          <a:xfrm>
            <a:off x="3328416" y="3337560"/>
            <a:ext cx="2542032"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Async Architecture</a:t>
            </a:r>
            <a:endParaRPr lang="en-US" sz="1200" dirty="0"/>
          </a:p>
        </p:txBody>
      </p:sp>
      <p:sp>
        <p:nvSpPr>
          <p:cNvPr id="17" name="Text 13"/>
          <p:cNvSpPr/>
          <p:nvPr/>
        </p:nvSpPr>
        <p:spPr>
          <a:xfrm>
            <a:off x="3328416" y="3749040"/>
            <a:ext cx="2542032" cy="1005840"/>
          </a:xfrm>
          <a:prstGeom prst="rect">
            <a:avLst/>
          </a:prstGeom>
          <a:noFill/>
          <a:ln/>
        </p:spPr>
        <p:txBody>
          <a:bodyPr wrap="square" lIns="50800" tIns="50800" rIns="50800" bIns="50800"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Non-blocking async/await pattern ensures the engine handles hundreds of concurrent video streams without queuing.</a:t>
            </a:r>
            <a:endParaRPr lang="en-US" sz="1050" dirty="0"/>
          </a:p>
        </p:txBody>
      </p:sp>
      <p:sp>
        <p:nvSpPr>
          <p:cNvPr id="18" name="Shape 14"/>
          <p:cNvSpPr/>
          <p:nvPr/>
        </p:nvSpPr>
        <p:spPr>
          <a:xfrm>
            <a:off x="6089904" y="2194560"/>
            <a:ext cx="2724912" cy="2651760"/>
          </a:xfrm>
          <a:prstGeom prst="roundRect">
            <a:avLst>
              <a:gd name="adj" fmla="val 3448"/>
            </a:avLst>
          </a:prstGeom>
          <a:solidFill>
            <a:srgbClr val="0E2140"/>
          </a:solidFill>
          <a:ln/>
          <a:effectLst>
            <a:outerShdw blurRad="127000" dist="25400" dir="2700000" algn="bl" rotWithShape="0">
              <a:srgbClr val="000000">
                <a:alpha val="12000"/>
              </a:srgbClr>
            </a:outerShdw>
          </a:effectLst>
        </p:spPr>
      </p:sp>
      <p:sp>
        <p:nvSpPr>
          <p:cNvPr id="19" name="Shape 15"/>
          <p:cNvSpPr/>
          <p:nvPr/>
        </p:nvSpPr>
        <p:spPr>
          <a:xfrm>
            <a:off x="6976872" y="2331720"/>
            <a:ext cx="914400" cy="914400"/>
          </a:xfrm>
          <a:prstGeom prst="line">
            <a:avLst/>
          </a:prstGeom>
          <a:solidFill>
            <a:srgbClr val="F97316"/>
          </a:solidFill>
          <a:ln/>
        </p:spPr>
      </p:sp>
      <p:pic>
        <p:nvPicPr>
          <p:cNvPr id="20" name="Image 2" descr="preencoded.png"/>
          <p:cNvPicPr>
            <a:picLocks noChangeAspect="1"/>
          </p:cNvPicPr>
          <p:nvPr/>
        </p:nvPicPr>
        <p:blipFill>
          <a:blip r:embed="rId5"/>
          <a:stretch>
            <a:fillRect/>
          </a:stretch>
        </p:blipFill>
        <p:spPr>
          <a:xfrm>
            <a:off x="7068312" y="2423160"/>
            <a:ext cx="731520" cy="731520"/>
          </a:xfrm>
          <a:prstGeom prst="rect">
            <a:avLst/>
          </a:prstGeom>
        </p:spPr>
      </p:pic>
      <p:sp>
        <p:nvSpPr>
          <p:cNvPr id="21" name="Text 16"/>
          <p:cNvSpPr/>
          <p:nvPr/>
        </p:nvSpPr>
        <p:spPr>
          <a:xfrm>
            <a:off x="6181344" y="3337560"/>
            <a:ext cx="2542032"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GPU Accelerated</a:t>
            </a:r>
            <a:endParaRPr lang="en-US" sz="1200" dirty="0"/>
          </a:p>
        </p:txBody>
      </p:sp>
      <p:sp>
        <p:nvSpPr>
          <p:cNvPr id="22" name="Text 17"/>
          <p:cNvSpPr/>
          <p:nvPr/>
        </p:nvSpPr>
        <p:spPr>
          <a:xfrm>
            <a:off x="6181344" y="3749040"/>
            <a:ext cx="2542032" cy="1005840"/>
          </a:xfrm>
          <a:prstGeom prst="rect">
            <a:avLst/>
          </a:prstGeom>
          <a:noFill/>
          <a:ln/>
        </p:spPr>
        <p:txBody>
          <a:bodyPr wrap="square" lIns="50800" tIns="50800" rIns="50800" bIns="50800"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PyTorch + CUDA deliver real-time inference on each video frame. Scales vertically with additional GPU resources instantly.</a:t>
            </a:r>
            <a:endParaRPr lang="en-US" sz="105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0D3B36"/>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4 · MACHINE LEARNING</a:t>
            </a:r>
            <a:endParaRPr lang="en-US" sz="900" dirty="0"/>
          </a:p>
        </p:txBody>
      </p:sp>
      <p:sp>
        <p:nvSpPr>
          <p:cNvPr id="4" name="Text 2"/>
          <p:cNvSpPr/>
          <p:nvPr/>
        </p:nvSpPr>
        <p:spPr>
          <a:xfrm>
            <a:off x="457200" y="256032"/>
            <a:ext cx="8229600" cy="594360"/>
          </a:xfrm>
          <a:prstGeom prst="rect">
            <a:avLst/>
          </a:prstGeom>
          <a:noFill/>
          <a:ln/>
        </p:spPr>
        <p:txBody>
          <a:bodyPr wrap="square" lIns="0" tIns="0" rIns="0" bIns="0" rtlCol="0" anchor="ctr"/>
          <a:lstStyle/>
          <a:p>
            <a:pPr marL="0" indent="0">
              <a:buNone/>
            </a:pPr>
            <a:r>
              <a:rPr lang="en-US" sz="3200" b="1" smtClean="0">
                <a:solidFill>
                  <a:srgbClr val="FFFFFF"/>
                </a:solidFill>
                <a:latin typeface="Cambria" pitchFamily="34" charset="0"/>
                <a:ea typeface="Cambria" pitchFamily="34" charset="-122"/>
                <a:cs typeface="Cambria" pitchFamily="34" charset="-120"/>
              </a:rPr>
              <a:t>9 </a:t>
            </a:r>
            <a:r>
              <a:rPr lang="en-US" sz="3200" b="1" dirty="0">
                <a:solidFill>
                  <a:srgbClr val="FFFFFF"/>
                </a:solidFill>
                <a:latin typeface="Cambria" pitchFamily="34" charset="0"/>
                <a:ea typeface="Cambria" pitchFamily="34" charset="-122"/>
                <a:cs typeface="Cambria" pitchFamily="34" charset="-120"/>
              </a:rPr>
              <a:t>Specialized AI Models</a:t>
            </a:r>
            <a:endParaRPr lang="en-US" sz="3200" dirty="0"/>
          </a:p>
        </p:txBody>
      </p:sp>
      <p:sp>
        <p:nvSpPr>
          <p:cNvPr id="5" name="Shape 3"/>
          <p:cNvSpPr/>
          <p:nvPr/>
        </p:nvSpPr>
        <p:spPr>
          <a:xfrm>
            <a:off x="457200" y="868680"/>
            <a:ext cx="1280160" cy="54864"/>
          </a:xfrm>
          <a:prstGeom prst="rect">
            <a:avLst/>
          </a:prstGeom>
          <a:solidFill>
            <a:srgbClr val="FBBF24"/>
          </a:solidFill>
          <a:ln/>
        </p:spPr>
      </p:sp>
      <p:sp>
        <p:nvSpPr>
          <p:cNvPr id="6" name="Text 4"/>
          <p:cNvSpPr/>
          <p:nvPr/>
        </p:nvSpPr>
        <p:spPr>
          <a:xfrm>
            <a:off x="457200" y="1005840"/>
            <a:ext cx="8229600" cy="640080"/>
          </a:xfrm>
          <a:prstGeom prst="rect">
            <a:avLst/>
          </a:prstGeom>
          <a:noFill/>
          <a:ln/>
        </p:spPr>
        <p:txBody>
          <a:bodyPr wrap="square" lIns="0" tIns="0" rIns="0" bIns="0" rtlCol="0" anchor="ctr"/>
          <a:lstStyle/>
          <a:p>
            <a:pPr marL="0" indent="0">
              <a:buNone/>
            </a:pPr>
            <a:r>
              <a:rPr lang="en-US" sz="1400" dirty="0">
                <a:solidFill>
                  <a:srgbClr val="A7F3D0"/>
                </a:solidFill>
                <a:latin typeface="Calibri" pitchFamily="34" charset="0"/>
                <a:ea typeface="Calibri" pitchFamily="34" charset="-122"/>
                <a:cs typeface="Calibri" pitchFamily="34" charset="-120"/>
              </a:rPr>
              <a:t>Instead of one giant, slow model, SRIS uses specialized models</a:t>
            </a:r>
            <a:endParaRPr lang="en-US" sz="1400" dirty="0"/>
          </a:p>
          <a:p>
            <a:pPr marL="0" indent="0">
              <a:buNone/>
            </a:pPr>
            <a:r>
              <a:rPr lang="en-US" sz="1400" dirty="0">
                <a:solidFill>
                  <a:srgbClr val="A7F3D0"/>
                </a:solidFill>
                <a:latin typeface="Calibri" pitchFamily="34" charset="0"/>
                <a:ea typeface="Calibri" pitchFamily="34" charset="-122"/>
                <a:cs typeface="Calibri" pitchFamily="34" charset="-120"/>
              </a:rPr>
              <a:t>to maintain real-time speed and pinpoint accuracy for each specific task.</a:t>
            </a:r>
            <a:endParaRPr lang="en-US" sz="1400" dirty="0"/>
          </a:p>
        </p:txBody>
      </p:sp>
      <p:sp>
        <p:nvSpPr>
          <p:cNvPr id="7" name="Shape 5"/>
          <p:cNvSpPr/>
          <p:nvPr/>
        </p:nvSpPr>
        <p:spPr>
          <a:xfrm>
            <a:off x="384048" y="1828800"/>
            <a:ext cx="2743200" cy="804672"/>
          </a:xfrm>
          <a:prstGeom prst="roundRect">
            <a:avLst>
              <a:gd name="adj" fmla="val 9091"/>
            </a:avLst>
          </a:prstGeom>
          <a:solidFill>
            <a:srgbClr val="082A26"/>
          </a:solidFill>
          <a:ln/>
        </p:spPr>
      </p:sp>
      <p:sp>
        <p:nvSpPr>
          <p:cNvPr id="8" name="Text 6"/>
          <p:cNvSpPr/>
          <p:nvPr/>
        </p:nvSpPr>
        <p:spPr>
          <a:xfrm>
            <a:off x="384048" y="1828800"/>
            <a:ext cx="502920" cy="804672"/>
          </a:xfrm>
          <a:prstGeom prst="rect">
            <a:avLst/>
          </a:prstGeom>
          <a:noFill/>
          <a:ln/>
        </p:spPr>
        <p:txBody>
          <a:bodyPr wrap="square" lIns="0" tIns="0" rIns="0" bIns="0" rtlCol="0" anchor="ctr"/>
          <a:lstStyle/>
          <a:p>
            <a:pPr marL="0" indent="0" algn="ctr">
              <a:buNone/>
            </a:pPr>
            <a:r>
              <a:rPr lang="en-US" sz="1800" b="1" dirty="0">
                <a:solidFill>
                  <a:srgbClr val="0D9488"/>
                </a:solidFill>
                <a:latin typeface="Cambria" pitchFamily="34" charset="0"/>
                <a:ea typeface="Cambria" pitchFamily="34" charset="-122"/>
                <a:cs typeface="Cambria" pitchFamily="34" charset="-120"/>
              </a:rPr>
              <a:t>01</a:t>
            </a:r>
            <a:endParaRPr lang="en-US" sz="1800" dirty="0"/>
          </a:p>
        </p:txBody>
      </p:sp>
      <p:sp>
        <p:nvSpPr>
          <p:cNvPr id="9" name="Shape 7"/>
          <p:cNvSpPr/>
          <p:nvPr/>
        </p:nvSpPr>
        <p:spPr>
          <a:xfrm>
            <a:off x="886968" y="1956816"/>
            <a:ext cx="0" cy="548640"/>
          </a:xfrm>
          <a:prstGeom prst="line">
            <a:avLst/>
          </a:prstGeom>
          <a:noFill/>
          <a:ln w="12700">
            <a:solidFill>
              <a:srgbClr val="1E4040"/>
            </a:solidFill>
            <a:prstDash val="solid"/>
          </a:ln>
        </p:spPr>
      </p:sp>
      <p:sp>
        <p:nvSpPr>
          <p:cNvPr id="10" name="Text 8"/>
          <p:cNvSpPr/>
          <p:nvPr/>
        </p:nvSpPr>
        <p:spPr>
          <a:xfrm>
            <a:off x="978408" y="1828800"/>
            <a:ext cx="2103120" cy="804672"/>
          </a:xfrm>
          <a:prstGeom prst="rect">
            <a:avLst/>
          </a:prstGeom>
          <a:noFill/>
          <a:ln/>
        </p:spPr>
        <p:txBody>
          <a:bodyPr wrap="square" lIns="50800" tIns="50800" rIns="50800" bIns="5080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Accident Detection</a:t>
            </a:r>
            <a:endParaRPr lang="en-US" sz="1100" dirty="0"/>
          </a:p>
        </p:txBody>
      </p:sp>
      <p:sp>
        <p:nvSpPr>
          <p:cNvPr id="11" name="Shape 9"/>
          <p:cNvSpPr/>
          <p:nvPr/>
        </p:nvSpPr>
        <p:spPr>
          <a:xfrm>
            <a:off x="3264408" y="1828800"/>
            <a:ext cx="2743200" cy="804672"/>
          </a:xfrm>
          <a:prstGeom prst="roundRect">
            <a:avLst>
              <a:gd name="adj" fmla="val 9091"/>
            </a:avLst>
          </a:prstGeom>
          <a:solidFill>
            <a:srgbClr val="082A26"/>
          </a:solidFill>
          <a:ln/>
        </p:spPr>
      </p:sp>
      <p:sp>
        <p:nvSpPr>
          <p:cNvPr id="12" name="Text 10"/>
          <p:cNvSpPr/>
          <p:nvPr/>
        </p:nvSpPr>
        <p:spPr>
          <a:xfrm>
            <a:off x="3264408" y="1828800"/>
            <a:ext cx="502920" cy="804672"/>
          </a:xfrm>
          <a:prstGeom prst="rect">
            <a:avLst/>
          </a:prstGeom>
          <a:noFill/>
          <a:ln/>
        </p:spPr>
        <p:txBody>
          <a:bodyPr wrap="square" lIns="0" tIns="0" rIns="0" bIns="0" rtlCol="0" anchor="ctr"/>
          <a:lstStyle/>
          <a:p>
            <a:pPr marL="0" indent="0" algn="ctr">
              <a:buNone/>
            </a:pPr>
            <a:r>
              <a:rPr lang="en-US" sz="1800" b="1" dirty="0">
                <a:solidFill>
                  <a:srgbClr val="0D9488"/>
                </a:solidFill>
                <a:latin typeface="Cambria" pitchFamily="34" charset="0"/>
                <a:ea typeface="Cambria" pitchFamily="34" charset="-122"/>
                <a:cs typeface="Cambria" pitchFamily="34" charset="-120"/>
              </a:rPr>
              <a:t>02</a:t>
            </a:r>
            <a:endParaRPr lang="en-US" sz="1800" dirty="0"/>
          </a:p>
        </p:txBody>
      </p:sp>
      <p:sp>
        <p:nvSpPr>
          <p:cNvPr id="13" name="Shape 11"/>
          <p:cNvSpPr/>
          <p:nvPr/>
        </p:nvSpPr>
        <p:spPr>
          <a:xfrm>
            <a:off x="3767328" y="1956816"/>
            <a:ext cx="0" cy="548640"/>
          </a:xfrm>
          <a:prstGeom prst="line">
            <a:avLst/>
          </a:prstGeom>
          <a:noFill/>
          <a:ln w="12700">
            <a:solidFill>
              <a:srgbClr val="1E4040"/>
            </a:solidFill>
            <a:prstDash val="solid"/>
          </a:ln>
        </p:spPr>
      </p:sp>
      <p:sp>
        <p:nvSpPr>
          <p:cNvPr id="14" name="Text 12"/>
          <p:cNvSpPr/>
          <p:nvPr/>
        </p:nvSpPr>
        <p:spPr>
          <a:xfrm>
            <a:off x="3858768" y="1828800"/>
            <a:ext cx="2103120" cy="804672"/>
          </a:xfrm>
          <a:prstGeom prst="rect">
            <a:avLst/>
          </a:prstGeom>
          <a:noFill/>
          <a:ln/>
        </p:spPr>
        <p:txBody>
          <a:bodyPr wrap="square" lIns="50800" tIns="50800" rIns="50800" bIns="5080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License Plate Detection</a:t>
            </a:r>
            <a:endParaRPr lang="en-US" sz="1100" dirty="0"/>
          </a:p>
        </p:txBody>
      </p:sp>
      <p:sp>
        <p:nvSpPr>
          <p:cNvPr id="15" name="Shape 13"/>
          <p:cNvSpPr/>
          <p:nvPr/>
        </p:nvSpPr>
        <p:spPr>
          <a:xfrm>
            <a:off x="6144768" y="1828800"/>
            <a:ext cx="2743200" cy="804672"/>
          </a:xfrm>
          <a:prstGeom prst="roundRect">
            <a:avLst>
              <a:gd name="adj" fmla="val 9091"/>
            </a:avLst>
          </a:prstGeom>
          <a:solidFill>
            <a:srgbClr val="082A26"/>
          </a:solidFill>
          <a:ln/>
        </p:spPr>
      </p:sp>
      <p:sp>
        <p:nvSpPr>
          <p:cNvPr id="16" name="Text 14"/>
          <p:cNvSpPr/>
          <p:nvPr/>
        </p:nvSpPr>
        <p:spPr>
          <a:xfrm>
            <a:off x="6144768" y="1828800"/>
            <a:ext cx="502920" cy="804672"/>
          </a:xfrm>
          <a:prstGeom prst="rect">
            <a:avLst/>
          </a:prstGeom>
          <a:noFill/>
          <a:ln/>
        </p:spPr>
        <p:txBody>
          <a:bodyPr wrap="square" lIns="0" tIns="0" rIns="0" bIns="0" rtlCol="0" anchor="ctr"/>
          <a:lstStyle/>
          <a:p>
            <a:pPr marL="0" indent="0" algn="ctr">
              <a:buNone/>
            </a:pPr>
            <a:r>
              <a:rPr lang="en-US" sz="1800" b="1" dirty="0">
                <a:solidFill>
                  <a:srgbClr val="0D9488"/>
                </a:solidFill>
                <a:latin typeface="Cambria" pitchFamily="34" charset="0"/>
                <a:ea typeface="Cambria" pitchFamily="34" charset="-122"/>
                <a:cs typeface="Cambria" pitchFamily="34" charset="-120"/>
              </a:rPr>
              <a:t>03</a:t>
            </a:r>
            <a:endParaRPr lang="en-US" sz="1800" dirty="0"/>
          </a:p>
        </p:txBody>
      </p:sp>
      <p:sp>
        <p:nvSpPr>
          <p:cNvPr id="17" name="Shape 15"/>
          <p:cNvSpPr/>
          <p:nvPr/>
        </p:nvSpPr>
        <p:spPr>
          <a:xfrm>
            <a:off x="6647688" y="1956816"/>
            <a:ext cx="0" cy="548640"/>
          </a:xfrm>
          <a:prstGeom prst="line">
            <a:avLst/>
          </a:prstGeom>
          <a:noFill/>
          <a:ln w="12700">
            <a:solidFill>
              <a:srgbClr val="1E4040"/>
            </a:solidFill>
            <a:prstDash val="solid"/>
          </a:ln>
        </p:spPr>
      </p:sp>
      <p:sp>
        <p:nvSpPr>
          <p:cNvPr id="18" name="Text 16"/>
          <p:cNvSpPr/>
          <p:nvPr/>
        </p:nvSpPr>
        <p:spPr>
          <a:xfrm>
            <a:off x="6739128" y="1828800"/>
            <a:ext cx="2103120" cy="804672"/>
          </a:xfrm>
          <a:prstGeom prst="rect">
            <a:avLst/>
          </a:prstGeom>
          <a:noFill/>
          <a:ln/>
        </p:spPr>
        <p:txBody>
          <a:bodyPr wrap="square" lIns="50800" tIns="50800" rIns="50800" bIns="5080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License Plate OCR</a:t>
            </a:r>
            <a:endParaRPr lang="en-US" sz="1100" dirty="0"/>
          </a:p>
        </p:txBody>
      </p:sp>
      <p:sp>
        <p:nvSpPr>
          <p:cNvPr id="19" name="Shape 17"/>
          <p:cNvSpPr/>
          <p:nvPr/>
        </p:nvSpPr>
        <p:spPr>
          <a:xfrm>
            <a:off x="384048" y="2834640"/>
            <a:ext cx="2743200" cy="804672"/>
          </a:xfrm>
          <a:prstGeom prst="roundRect">
            <a:avLst>
              <a:gd name="adj" fmla="val 9091"/>
            </a:avLst>
          </a:prstGeom>
          <a:solidFill>
            <a:srgbClr val="082A26"/>
          </a:solidFill>
          <a:ln/>
        </p:spPr>
      </p:sp>
      <p:sp>
        <p:nvSpPr>
          <p:cNvPr id="20" name="Text 18"/>
          <p:cNvSpPr/>
          <p:nvPr/>
        </p:nvSpPr>
        <p:spPr>
          <a:xfrm>
            <a:off x="384048" y="2834640"/>
            <a:ext cx="502920" cy="804672"/>
          </a:xfrm>
          <a:prstGeom prst="rect">
            <a:avLst/>
          </a:prstGeom>
          <a:noFill/>
          <a:ln/>
        </p:spPr>
        <p:txBody>
          <a:bodyPr wrap="square" lIns="0" tIns="0" rIns="0" bIns="0" rtlCol="0" anchor="ctr"/>
          <a:lstStyle/>
          <a:p>
            <a:pPr marL="0" indent="0" algn="ctr">
              <a:buNone/>
            </a:pPr>
            <a:r>
              <a:rPr lang="en-US" sz="1800" b="1" dirty="0">
                <a:solidFill>
                  <a:srgbClr val="0D9488"/>
                </a:solidFill>
                <a:latin typeface="Cambria" pitchFamily="34" charset="0"/>
                <a:ea typeface="Cambria" pitchFamily="34" charset="-122"/>
                <a:cs typeface="Cambria" pitchFamily="34" charset="-120"/>
              </a:rPr>
              <a:t>04</a:t>
            </a:r>
            <a:endParaRPr lang="en-US" sz="1800" dirty="0"/>
          </a:p>
        </p:txBody>
      </p:sp>
      <p:sp>
        <p:nvSpPr>
          <p:cNvPr id="21" name="Shape 19"/>
          <p:cNvSpPr/>
          <p:nvPr/>
        </p:nvSpPr>
        <p:spPr>
          <a:xfrm>
            <a:off x="886968" y="2962656"/>
            <a:ext cx="0" cy="548640"/>
          </a:xfrm>
          <a:prstGeom prst="line">
            <a:avLst/>
          </a:prstGeom>
          <a:noFill/>
          <a:ln w="12700">
            <a:solidFill>
              <a:srgbClr val="1E4040"/>
            </a:solidFill>
            <a:prstDash val="solid"/>
          </a:ln>
        </p:spPr>
      </p:sp>
      <p:sp>
        <p:nvSpPr>
          <p:cNvPr id="22" name="Text 20"/>
          <p:cNvSpPr/>
          <p:nvPr/>
        </p:nvSpPr>
        <p:spPr>
          <a:xfrm>
            <a:off x="978408" y="2834640"/>
            <a:ext cx="2103120" cy="804672"/>
          </a:xfrm>
          <a:prstGeom prst="rect">
            <a:avLst/>
          </a:prstGeom>
          <a:noFill/>
          <a:ln/>
        </p:spPr>
        <p:txBody>
          <a:bodyPr wrap="square" lIns="50800" tIns="50800" rIns="50800" bIns="5080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Traffic Signs Detection &amp; OCR</a:t>
            </a:r>
            <a:endParaRPr lang="en-US" sz="1100" dirty="0"/>
          </a:p>
        </p:txBody>
      </p:sp>
      <p:sp>
        <p:nvSpPr>
          <p:cNvPr id="23" name="Shape 21"/>
          <p:cNvSpPr/>
          <p:nvPr/>
        </p:nvSpPr>
        <p:spPr>
          <a:xfrm>
            <a:off x="3264408" y="2834640"/>
            <a:ext cx="2743200" cy="804672"/>
          </a:xfrm>
          <a:prstGeom prst="roundRect">
            <a:avLst>
              <a:gd name="adj" fmla="val 9091"/>
            </a:avLst>
          </a:prstGeom>
          <a:solidFill>
            <a:srgbClr val="082A26"/>
          </a:solidFill>
          <a:ln/>
        </p:spPr>
      </p:sp>
      <p:sp>
        <p:nvSpPr>
          <p:cNvPr id="24" name="Text 22"/>
          <p:cNvSpPr/>
          <p:nvPr/>
        </p:nvSpPr>
        <p:spPr>
          <a:xfrm>
            <a:off x="3264408" y="2834640"/>
            <a:ext cx="502920" cy="804672"/>
          </a:xfrm>
          <a:prstGeom prst="rect">
            <a:avLst/>
          </a:prstGeom>
          <a:noFill/>
          <a:ln/>
        </p:spPr>
        <p:txBody>
          <a:bodyPr wrap="square" lIns="0" tIns="0" rIns="0" bIns="0" rtlCol="0" anchor="ctr"/>
          <a:lstStyle/>
          <a:p>
            <a:pPr marL="0" indent="0" algn="ctr">
              <a:buNone/>
            </a:pPr>
            <a:r>
              <a:rPr lang="en-US" sz="1800" b="1" dirty="0">
                <a:solidFill>
                  <a:srgbClr val="0D9488"/>
                </a:solidFill>
                <a:latin typeface="Cambria" pitchFamily="34" charset="0"/>
                <a:ea typeface="Cambria" pitchFamily="34" charset="-122"/>
                <a:cs typeface="Cambria" pitchFamily="34" charset="-120"/>
              </a:rPr>
              <a:t>05</a:t>
            </a:r>
            <a:endParaRPr lang="en-US" sz="1800" dirty="0"/>
          </a:p>
        </p:txBody>
      </p:sp>
      <p:sp>
        <p:nvSpPr>
          <p:cNvPr id="25" name="Shape 23"/>
          <p:cNvSpPr/>
          <p:nvPr/>
        </p:nvSpPr>
        <p:spPr>
          <a:xfrm>
            <a:off x="3767328" y="2962656"/>
            <a:ext cx="0" cy="548640"/>
          </a:xfrm>
          <a:prstGeom prst="line">
            <a:avLst/>
          </a:prstGeom>
          <a:noFill/>
          <a:ln w="12700">
            <a:solidFill>
              <a:srgbClr val="1E4040"/>
            </a:solidFill>
            <a:prstDash val="solid"/>
          </a:ln>
        </p:spPr>
      </p:sp>
      <p:sp>
        <p:nvSpPr>
          <p:cNvPr id="26" name="Text 24"/>
          <p:cNvSpPr/>
          <p:nvPr/>
        </p:nvSpPr>
        <p:spPr>
          <a:xfrm>
            <a:off x="3858768" y="2834640"/>
            <a:ext cx="2103120" cy="804672"/>
          </a:xfrm>
          <a:prstGeom prst="rect">
            <a:avLst/>
          </a:prstGeom>
          <a:noFill/>
          <a:ln/>
        </p:spPr>
        <p:txBody>
          <a:bodyPr wrap="square" lIns="50800" tIns="50800" rIns="50800" bIns="5080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Vehicle Detection &amp; Tracking</a:t>
            </a:r>
            <a:endParaRPr lang="en-US" sz="1100" dirty="0"/>
          </a:p>
        </p:txBody>
      </p:sp>
      <p:sp>
        <p:nvSpPr>
          <p:cNvPr id="27" name="Shape 25"/>
          <p:cNvSpPr/>
          <p:nvPr/>
        </p:nvSpPr>
        <p:spPr>
          <a:xfrm>
            <a:off x="6144768" y="2834640"/>
            <a:ext cx="2743200" cy="804672"/>
          </a:xfrm>
          <a:prstGeom prst="roundRect">
            <a:avLst>
              <a:gd name="adj" fmla="val 9091"/>
            </a:avLst>
          </a:prstGeom>
          <a:solidFill>
            <a:srgbClr val="082A26"/>
          </a:solidFill>
          <a:ln/>
        </p:spPr>
      </p:sp>
      <p:sp>
        <p:nvSpPr>
          <p:cNvPr id="28" name="Text 26"/>
          <p:cNvSpPr/>
          <p:nvPr/>
        </p:nvSpPr>
        <p:spPr>
          <a:xfrm>
            <a:off x="6144768" y="2834640"/>
            <a:ext cx="502920" cy="804672"/>
          </a:xfrm>
          <a:prstGeom prst="rect">
            <a:avLst/>
          </a:prstGeom>
          <a:noFill/>
          <a:ln/>
        </p:spPr>
        <p:txBody>
          <a:bodyPr wrap="square" lIns="0" tIns="0" rIns="0" bIns="0" rtlCol="0" anchor="ctr"/>
          <a:lstStyle/>
          <a:p>
            <a:pPr marL="0" indent="0" algn="ctr">
              <a:buNone/>
            </a:pPr>
            <a:r>
              <a:rPr lang="en-US" sz="1800" b="1" dirty="0">
                <a:solidFill>
                  <a:srgbClr val="0D9488"/>
                </a:solidFill>
                <a:latin typeface="Cambria" pitchFamily="34" charset="0"/>
                <a:ea typeface="Cambria" pitchFamily="34" charset="-122"/>
                <a:cs typeface="Cambria" pitchFamily="34" charset="-120"/>
              </a:rPr>
              <a:t>06</a:t>
            </a:r>
            <a:endParaRPr lang="en-US" sz="1800" dirty="0"/>
          </a:p>
        </p:txBody>
      </p:sp>
      <p:sp>
        <p:nvSpPr>
          <p:cNvPr id="29" name="Shape 27"/>
          <p:cNvSpPr/>
          <p:nvPr/>
        </p:nvSpPr>
        <p:spPr>
          <a:xfrm>
            <a:off x="6647688" y="2962656"/>
            <a:ext cx="0" cy="548640"/>
          </a:xfrm>
          <a:prstGeom prst="line">
            <a:avLst/>
          </a:prstGeom>
          <a:noFill/>
          <a:ln w="12700">
            <a:solidFill>
              <a:srgbClr val="1E4040"/>
            </a:solidFill>
            <a:prstDash val="solid"/>
          </a:ln>
        </p:spPr>
      </p:sp>
      <p:sp>
        <p:nvSpPr>
          <p:cNvPr id="30" name="Text 28"/>
          <p:cNvSpPr/>
          <p:nvPr/>
        </p:nvSpPr>
        <p:spPr>
          <a:xfrm>
            <a:off x="6739128" y="2834640"/>
            <a:ext cx="2103120" cy="804672"/>
          </a:xfrm>
          <a:prstGeom prst="rect">
            <a:avLst/>
          </a:prstGeom>
          <a:noFill/>
          <a:ln/>
        </p:spPr>
        <p:txBody>
          <a:bodyPr wrap="square" lIns="50800" tIns="50800" rIns="50800" bIns="5080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Fire &amp; Smoke Detection</a:t>
            </a:r>
            <a:endParaRPr lang="en-US" sz="1100" dirty="0"/>
          </a:p>
        </p:txBody>
      </p:sp>
      <p:sp>
        <p:nvSpPr>
          <p:cNvPr id="31" name="Shape 29"/>
          <p:cNvSpPr/>
          <p:nvPr/>
        </p:nvSpPr>
        <p:spPr>
          <a:xfrm>
            <a:off x="384048" y="3840480"/>
            <a:ext cx="2743200" cy="804672"/>
          </a:xfrm>
          <a:prstGeom prst="roundRect">
            <a:avLst>
              <a:gd name="adj" fmla="val 9091"/>
            </a:avLst>
          </a:prstGeom>
          <a:solidFill>
            <a:srgbClr val="082A26"/>
          </a:solidFill>
          <a:ln/>
        </p:spPr>
      </p:sp>
      <p:sp>
        <p:nvSpPr>
          <p:cNvPr id="32" name="Text 30"/>
          <p:cNvSpPr/>
          <p:nvPr/>
        </p:nvSpPr>
        <p:spPr>
          <a:xfrm>
            <a:off x="384048" y="3840480"/>
            <a:ext cx="502920" cy="804672"/>
          </a:xfrm>
          <a:prstGeom prst="rect">
            <a:avLst/>
          </a:prstGeom>
          <a:noFill/>
          <a:ln/>
        </p:spPr>
        <p:txBody>
          <a:bodyPr wrap="square" lIns="0" tIns="0" rIns="0" bIns="0" rtlCol="0" anchor="ctr"/>
          <a:lstStyle/>
          <a:p>
            <a:pPr marL="0" indent="0" algn="ctr">
              <a:buNone/>
            </a:pPr>
            <a:r>
              <a:rPr lang="en-US" sz="1800" b="1" dirty="0">
                <a:solidFill>
                  <a:srgbClr val="0D9488"/>
                </a:solidFill>
                <a:latin typeface="Cambria" pitchFamily="34" charset="0"/>
                <a:ea typeface="Cambria" pitchFamily="34" charset="-122"/>
                <a:cs typeface="Cambria" pitchFamily="34" charset="-120"/>
              </a:rPr>
              <a:t>07</a:t>
            </a:r>
            <a:endParaRPr lang="en-US" sz="1800" dirty="0"/>
          </a:p>
        </p:txBody>
      </p:sp>
      <p:sp>
        <p:nvSpPr>
          <p:cNvPr id="33" name="Shape 31"/>
          <p:cNvSpPr/>
          <p:nvPr/>
        </p:nvSpPr>
        <p:spPr>
          <a:xfrm>
            <a:off x="886968" y="3968496"/>
            <a:ext cx="0" cy="548640"/>
          </a:xfrm>
          <a:prstGeom prst="line">
            <a:avLst/>
          </a:prstGeom>
          <a:noFill/>
          <a:ln w="12700">
            <a:solidFill>
              <a:srgbClr val="1E4040"/>
            </a:solidFill>
            <a:prstDash val="solid"/>
          </a:ln>
        </p:spPr>
      </p:sp>
      <p:sp>
        <p:nvSpPr>
          <p:cNvPr id="34" name="Text 32"/>
          <p:cNvSpPr/>
          <p:nvPr/>
        </p:nvSpPr>
        <p:spPr>
          <a:xfrm>
            <a:off x="978408" y="3840480"/>
            <a:ext cx="2103120" cy="804672"/>
          </a:xfrm>
          <a:prstGeom prst="rect">
            <a:avLst/>
          </a:prstGeom>
          <a:noFill/>
          <a:ln/>
        </p:spPr>
        <p:txBody>
          <a:bodyPr wrap="square" lIns="50800" tIns="50800" rIns="50800" bIns="5080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Car Dashboard Detection</a:t>
            </a:r>
            <a:endParaRPr lang="en-US" sz="1100" dirty="0"/>
          </a:p>
        </p:txBody>
      </p:sp>
      <p:sp>
        <p:nvSpPr>
          <p:cNvPr id="35" name="Shape 33"/>
          <p:cNvSpPr/>
          <p:nvPr/>
        </p:nvSpPr>
        <p:spPr>
          <a:xfrm>
            <a:off x="3264408" y="3840480"/>
            <a:ext cx="2743200" cy="804672"/>
          </a:xfrm>
          <a:prstGeom prst="roundRect">
            <a:avLst>
              <a:gd name="adj" fmla="val 9091"/>
            </a:avLst>
          </a:prstGeom>
          <a:solidFill>
            <a:srgbClr val="082A26"/>
          </a:solidFill>
          <a:ln/>
        </p:spPr>
      </p:sp>
      <p:sp>
        <p:nvSpPr>
          <p:cNvPr id="36" name="Text 34"/>
          <p:cNvSpPr/>
          <p:nvPr/>
        </p:nvSpPr>
        <p:spPr>
          <a:xfrm>
            <a:off x="3264408" y="3840480"/>
            <a:ext cx="502920" cy="804672"/>
          </a:xfrm>
          <a:prstGeom prst="rect">
            <a:avLst/>
          </a:prstGeom>
          <a:noFill/>
          <a:ln/>
        </p:spPr>
        <p:txBody>
          <a:bodyPr wrap="square" lIns="0" tIns="0" rIns="0" bIns="0" rtlCol="0" anchor="ctr"/>
          <a:lstStyle/>
          <a:p>
            <a:pPr marL="0" indent="0" algn="ctr">
              <a:buNone/>
            </a:pPr>
            <a:r>
              <a:rPr lang="en-US" sz="1800" b="1" dirty="0">
                <a:solidFill>
                  <a:srgbClr val="0D9488"/>
                </a:solidFill>
                <a:latin typeface="Cambria" pitchFamily="34" charset="0"/>
                <a:ea typeface="Cambria" pitchFamily="34" charset="-122"/>
                <a:cs typeface="Cambria" pitchFamily="34" charset="-120"/>
              </a:rPr>
              <a:t>08</a:t>
            </a:r>
            <a:endParaRPr lang="en-US" sz="1800" dirty="0"/>
          </a:p>
        </p:txBody>
      </p:sp>
      <p:sp>
        <p:nvSpPr>
          <p:cNvPr id="37" name="Shape 35"/>
          <p:cNvSpPr/>
          <p:nvPr/>
        </p:nvSpPr>
        <p:spPr>
          <a:xfrm>
            <a:off x="3767328" y="3968496"/>
            <a:ext cx="0" cy="548640"/>
          </a:xfrm>
          <a:prstGeom prst="line">
            <a:avLst/>
          </a:prstGeom>
          <a:noFill/>
          <a:ln w="12700">
            <a:solidFill>
              <a:srgbClr val="1E4040"/>
            </a:solidFill>
            <a:prstDash val="solid"/>
          </a:ln>
        </p:spPr>
      </p:sp>
      <p:sp>
        <p:nvSpPr>
          <p:cNvPr id="38" name="Text 36"/>
          <p:cNvSpPr/>
          <p:nvPr/>
        </p:nvSpPr>
        <p:spPr>
          <a:xfrm>
            <a:off x="3858768" y="3840480"/>
            <a:ext cx="2103120" cy="804672"/>
          </a:xfrm>
          <a:prstGeom prst="rect">
            <a:avLst/>
          </a:prstGeom>
          <a:noFill/>
          <a:ln/>
        </p:spPr>
        <p:txBody>
          <a:bodyPr wrap="square" lIns="50800" tIns="50800" rIns="50800" bIns="5080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Cracks &amp; Potholes Detection</a:t>
            </a:r>
            <a:endParaRPr lang="en-US" sz="1100" dirty="0"/>
          </a:p>
        </p:txBody>
      </p:sp>
      <p:sp>
        <p:nvSpPr>
          <p:cNvPr id="39" name="Shape 37"/>
          <p:cNvSpPr/>
          <p:nvPr/>
        </p:nvSpPr>
        <p:spPr>
          <a:xfrm>
            <a:off x="6144768" y="3840480"/>
            <a:ext cx="2743200" cy="804672"/>
          </a:xfrm>
          <a:prstGeom prst="roundRect">
            <a:avLst>
              <a:gd name="adj" fmla="val 9091"/>
            </a:avLst>
          </a:prstGeom>
          <a:solidFill>
            <a:srgbClr val="082A26"/>
          </a:solidFill>
          <a:ln/>
        </p:spPr>
      </p:sp>
      <p:sp>
        <p:nvSpPr>
          <p:cNvPr id="40" name="Text 38"/>
          <p:cNvSpPr/>
          <p:nvPr/>
        </p:nvSpPr>
        <p:spPr>
          <a:xfrm>
            <a:off x="6144768" y="3840480"/>
            <a:ext cx="502920" cy="804672"/>
          </a:xfrm>
          <a:prstGeom prst="rect">
            <a:avLst/>
          </a:prstGeom>
          <a:noFill/>
          <a:ln/>
        </p:spPr>
        <p:txBody>
          <a:bodyPr wrap="square" lIns="0" tIns="0" rIns="0" bIns="0" rtlCol="0" anchor="ctr"/>
          <a:lstStyle/>
          <a:p>
            <a:pPr marL="0" indent="0" algn="ctr">
              <a:buNone/>
            </a:pPr>
            <a:r>
              <a:rPr lang="en-US" sz="1800" b="1" dirty="0">
                <a:solidFill>
                  <a:srgbClr val="0D9488"/>
                </a:solidFill>
                <a:latin typeface="Cambria" pitchFamily="34" charset="0"/>
                <a:ea typeface="Cambria" pitchFamily="34" charset="-122"/>
                <a:cs typeface="Cambria" pitchFamily="34" charset="-120"/>
              </a:rPr>
              <a:t>09</a:t>
            </a:r>
            <a:endParaRPr lang="en-US" sz="1800" dirty="0"/>
          </a:p>
        </p:txBody>
      </p:sp>
      <p:sp>
        <p:nvSpPr>
          <p:cNvPr id="41" name="Shape 39"/>
          <p:cNvSpPr/>
          <p:nvPr/>
        </p:nvSpPr>
        <p:spPr>
          <a:xfrm>
            <a:off x="6647688" y="3968496"/>
            <a:ext cx="0" cy="548640"/>
          </a:xfrm>
          <a:prstGeom prst="line">
            <a:avLst/>
          </a:prstGeom>
          <a:noFill/>
          <a:ln w="12700">
            <a:solidFill>
              <a:srgbClr val="1E4040"/>
            </a:solidFill>
            <a:prstDash val="solid"/>
          </a:ln>
        </p:spPr>
      </p:sp>
      <p:sp>
        <p:nvSpPr>
          <p:cNvPr id="42" name="Text 40"/>
          <p:cNvSpPr/>
          <p:nvPr/>
        </p:nvSpPr>
        <p:spPr>
          <a:xfrm>
            <a:off x="6739128" y="3840480"/>
            <a:ext cx="2103120" cy="804672"/>
          </a:xfrm>
          <a:prstGeom prst="rect">
            <a:avLst/>
          </a:prstGeom>
          <a:noFill/>
          <a:ln/>
        </p:spPr>
        <p:txBody>
          <a:bodyPr wrap="square" lIns="50800" tIns="50800" rIns="50800" bIns="5080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Car Damage Classification</a:t>
            </a:r>
            <a:endParaRPr lang="en-US" sz="11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4 · MODEL ARCHITECTURE</a:t>
            </a:r>
            <a:endParaRPr lang="en-US" sz="900" dirty="0"/>
          </a:p>
        </p:txBody>
      </p:sp>
      <p:sp>
        <p:nvSpPr>
          <p:cNvPr id="4" name="Text 2"/>
          <p:cNvSpPr/>
          <p:nvPr/>
        </p:nvSpPr>
        <p:spPr>
          <a:xfrm>
            <a:off x="457200" y="201168"/>
            <a:ext cx="8229600" cy="548640"/>
          </a:xfrm>
          <a:prstGeom prst="rect">
            <a:avLst/>
          </a:prstGeom>
          <a:noFill/>
          <a:ln/>
        </p:spPr>
        <p:txBody>
          <a:bodyPr wrap="square" lIns="0" tIns="0" rIns="0" bIns="0" rtlCol="0" anchor="ctr"/>
          <a:lstStyle/>
          <a:p>
            <a:pPr marL="0" indent="0" algn="l">
              <a:buNone/>
            </a:pPr>
            <a:r>
              <a:rPr lang="en-US" sz="2800" b="1" dirty="0">
                <a:solidFill>
                  <a:srgbClr val="0B1C3F"/>
                </a:solidFill>
                <a:latin typeface="Cambria" pitchFamily="34" charset="0"/>
                <a:ea typeface="Cambria" pitchFamily="34" charset="-122"/>
                <a:cs typeface="Cambria" pitchFamily="34" charset="-120"/>
              </a:rPr>
              <a:t>The State-of-the-Art in Computer Vision</a:t>
            </a:r>
            <a:endParaRPr lang="en-US" sz="2800" dirty="0"/>
          </a:p>
        </p:txBody>
      </p:sp>
      <p:sp>
        <p:nvSpPr>
          <p:cNvPr id="5" name="Shape 3"/>
          <p:cNvSpPr/>
          <p:nvPr/>
        </p:nvSpPr>
        <p:spPr>
          <a:xfrm>
            <a:off x="457200" y="795528"/>
            <a:ext cx="1097280" cy="54864"/>
          </a:xfrm>
          <a:prstGeom prst="rect">
            <a:avLst/>
          </a:prstGeom>
          <a:solidFill>
            <a:srgbClr val="0D9488"/>
          </a:solidFill>
          <a:ln/>
        </p:spPr>
      </p:sp>
      <p:sp>
        <p:nvSpPr>
          <p:cNvPr id="6" name="Shape 4"/>
          <p:cNvSpPr/>
          <p:nvPr/>
        </p:nvSpPr>
        <p:spPr>
          <a:xfrm>
            <a:off x="365760" y="1005840"/>
            <a:ext cx="4754880" cy="3749040"/>
          </a:xfrm>
          <a:prstGeom prst="roundRect">
            <a:avLst>
              <a:gd name="adj" fmla="val 2439"/>
            </a:avLst>
          </a:prstGeom>
          <a:solidFill>
            <a:srgbClr val="FFFFFF"/>
          </a:solidFill>
          <a:ln/>
          <a:effectLst>
            <a:outerShdw blurRad="127000" dist="25400" dir="2700000" algn="bl" rotWithShape="0">
              <a:srgbClr val="000000">
                <a:alpha val="12000"/>
              </a:srgbClr>
            </a:outerShdw>
          </a:effectLst>
        </p:spPr>
      </p:sp>
      <p:sp>
        <p:nvSpPr>
          <p:cNvPr id="7" name="Text 5"/>
          <p:cNvSpPr/>
          <p:nvPr/>
        </p:nvSpPr>
        <p:spPr>
          <a:xfrm>
            <a:off x="548640" y="1097280"/>
            <a:ext cx="4389120" cy="365760"/>
          </a:xfrm>
          <a:prstGeom prst="rect">
            <a:avLst/>
          </a:prstGeom>
          <a:noFill/>
          <a:ln/>
        </p:spPr>
        <p:txBody>
          <a:bodyPr wrap="square" lIns="0" tIns="0" rIns="0" bIns="0" rtlCol="0" anchor="ctr"/>
          <a:lstStyle/>
          <a:p>
            <a:pPr marL="0" indent="0">
              <a:buNone/>
            </a:pPr>
            <a:r>
              <a:rPr lang="en-US" sz="1500" b="1" dirty="0">
                <a:solidFill>
                  <a:srgbClr val="0B1C3F"/>
                </a:solidFill>
                <a:latin typeface="Cambria" pitchFamily="34" charset="0"/>
                <a:ea typeface="Cambria" pitchFamily="34" charset="-122"/>
                <a:cs typeface="Cambria" pitchFamily="34" charset="-120"/>
              </a:rPr>
              <a:t>Why YOLO?</a:t>
            </a:r>
            <a:endParaRPr lang="en-US" sz="1500" dirty="0"/>
          </a:p>
        </p:txBody>
      </p:sp>
      <p:sp>
        <p:nvSpPr>
          <p:cNvPr id="8" name="Text 6"/>
          <p:cNvSpPr/>
          <p:nvPr/>
        </p:nvSpPr>
        <p:spPr>
          <a:xfrm>
            <a:off x="548640" y="1554480"/>
            <a:ext cx="4389120" cy="914400"/>
          </a:xfrm>
          <a:prstGeom prst="rect">
            <a:avLst/>
          </a:prstGeom>
          <a:noFill/>
          <a:ln/>
        </p:spPr>
        <p:txBody>
          <a:bodyPr wrap="square" lIns="50800" tIns="50800" rIns="50800" bIns="5080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YOLO — You Only Look Once — processes the entire image in a single neural network pass, enabling real-time detection without sacrificing accuracy.</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2606040"/>
          <a:ext cx="4572000" cy="1965960"/>
        </p:xfrm>
        <a:graphic>
          <a:graphicData uri="http://schemas.openxmlformats.org/drawingml/2006/table">
            <a:tbl>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91490">
                <a:tc>
                  <a:txBody>
                    <a:bodyPr/>
                    <a:lstStyle/>
                    <a:p>
                      <a:pPr marL="0" indent="0" algn="ctr">
                        <a:buNone/>
                      </a:pPr>
                      <a:r>
                        <a:rPr lang="en-US" sz="1100" b="1" dirty="0">
                          <a:solidFill>
                            <a:srgbClr val="FFFFFF"/>
                          </a:solidFill>
                        </a:rPr>
                        <a:t>Architecture</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C3F"/>
                    </a:solidFill>
                  </a:tcPr>
                </a:tc>
                <a:tc>
                  <a:txBody>
                    <a:bodyPr/>
                    <a:lstStyle/>
                    <a:p>
                      <a:pPr marL="0" indent="0" algn="ctr">
                        <a:buNone/>
                      </a:pPr>
                      <a:r>
                        <a:rPr lang="en-US" sz="1100" b="1" dirty="0">
                          <a:solidFill>
                            <a:srgbClr val="FFFFFF"/>
                          </a:solidFill>
                        </a:rPr>
                        <a:t>Passes</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C3F"/>
                    </a:solidFill>
                  </a:tcPr>
                </a:tc>
                <a:tc>
                  <a:txBody>
                    <a:bodyPr/>
                    <a:lstStyle/>
                    <a:p>
                      <a:pPr marL="0" indent="0" algn="ctr">
                        <a:buNone/>
                      </a:pPr>
                      <a:r>
                        <a:rPr lang="en-US" sz="1100" b="1" dirty="0">
                          <a:solidFill>
                            <a:srgbClr val="FFFFFF"/>
                          </a:solidFill>
                        </a:rPr>
                        <a:t>Speed</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C3F"/>
                    </a:solidFill>
                  </a:tcPr>
                </a:tc>
                <a:tc>
                  <a:txBody>
                    <a:bodyPr/>
                    <a:lstStyle/>
                    <a:p>
                      <a:pPr marL="0" indent="0" algn="ctr">
                        <a:buNone/>
                      </a:pPr>
                      <a:r>
                        <a:rPr lang="en-US" sz="1100" b="1" dirty="0">
                          <a:solidFill>
                            <a:srgbClr val="FFFFFF"/>
                          </a:solidFill>
                        </a:rPr>
                        <a:t>Used In SRIS</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C3F"/>
                    </a:solidFill>
                  </a:tcPr>
                </a:tc>
                <a:extLst>
                  <a:ext uri="{0D108BD9-81ED-4DB2-BD59-A6C34878D82A}">
                    <a16:rowId xmlns:a16="http://schemas.microsoft.com/office/drawing/2014/main" val="10000"/>
                  </a:ext>
                </a:extLst>
              </a:tr>
              <a:tr h="491490">
                <a:tc>
                  <a:txBody>
                    <a:bodyPr/>
                    <a:lstStyle/>
                    <a:p>
                      <a:pPr marL="0" indent="0" algn="ctr">
                        <a:buNone/>
                      </a:pPr>
                      <a:r>
                        <a:rPr lang="en-US" sz="1100" dirty="0">
                          <a:solidFill>
                            <a:srgbClr val="334155"/>
                          </a:solidFill>
                        </a:rPr>
                        <a:t>Faster R-CNN</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334155"/>
                          </a:solidFill>
                        </a:rPr>
                        <a:t>2-stage</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334155"/>
                          </a:solidFill>
                        </a:rPr>
                        <a:t>Slow (~7fps)</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334155"/>
                          </a:solidFill>
                        </a:rPr>
                        <a:t>No</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491490">
                <a:tc>
                  <a:txBody>
                    <a:bodyPr/>
                    <a:lstStyle/>
                    <a:p>
                      <a:pPr marL="0" indent="0" algn="ctr">
                        <a:buNone/>
                      </a:pPr>
                      <a:r>
                        <a:rPr lang="en-US" sz="1100" dirty="0">
                          <a:solidFill>
                            <a:srgbClr val="334155"/>
                          </a:solidFill>
                        </a:rPr>
                        <a:t>SSD</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rPr>
                        <a:t>1-stage</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rPr>
                        <a:t>Medium (~30fps)</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rPr>
                        <a:t>No</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1490">
                <a:tc>
                  <a:txBody>
                    <a:bodyPr/>
                    <a:lstStyle/>
                    <a:p>
                      <a:pPr marL="0" indent="0" algn="ctr">
                        <a:buNone/>
                      </a:pPr>
                      <a:r>
                        <a:rPr lang="en-US" sz="1100" b="1" dirty="0">
                          <a:solidFill>
                            <a:srgbClr val="334155"/>
                          </a:solidFill>
                        </a:rPr>
                        <a:t>YOLOv11/v12</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DF4"/>
                    </a:solidFill>
                  </a:tcPr>
                </a:tc>
                <a:tc>
                  <a:txBody>
                    <a:bodyPr/>
                    <a:lstStyle/>
                    <a:p>
                      <a:pPr marL="0" indent="0" algn="ctr">
                        <a:buNone/>
                      </a:pPr>
                      <a:r>
                        <a:rPr lang="en-US" sz="1100" b="1" dirty="0">
                          <a:solidFill>
                            <a:srgbClr val="334155"/>
                          </a:solidFill>
                        </a:rPr>
                        <a:t>1-stage</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DF4"/>
                    </a:solidFill>
                  </a:tcPr>
                </a:tc>
                <a:tc>
                  <a:txBody>
                    <a:bodyPr/>
                    <a:lstStyle/>
                    <a:p>
                      <a:pPr marL="0" indent="0" algn="ctr">
                        <a:buNone/>
                      </a:pPr>
                      <a:r>
                        <a:rPr lang="en-US" sz="1100" b="1" dirty="0">
                          <a:solidFill>
                            <a:srgbClr val="334155"/>
                          </a:solidFill>
                        </a:rPr>
                        <a:t>Real-time (60+fps)</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DF4"/>
                    </a:solidFill>
                  </a:tcPr>
                </a:tc>
                <a:tc>
                  <a:txBody>
                    <a:bodyPr/>
                    <a:lstStyle/>
                    <a:p>
                      <a:pPr marL="0" indent="0" algn="ctr">
                        <a:buNone/>
                      </a:pPr>
                      <a:r>
                        <a:rPr lang="en-US" sz="1100" b="1" dirty="0">
                          <a:solidFill>
                            <a:srgbClr val="166534"/>
                          </a:solidFill>
                        </a:rPr>
                        <a:t>✓ Yes</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1FAE5"/>
                    </a:solidFill>
                  </a:tcPr>
                </a:tc>
                <a:extLst>
                  <a:ext uri="{0D108BD9-81ED-4DB2-BD59-A6C34878D82A}">
                    <a16:rowId xmlns:a16="http://schemas.microsoft.com/office/drawing/2014/main" val="10003"/>
                  </a:ext>
                </a:extLst>
              </a:tr>
            </a:tbl>
          </a:graphicData>
        </a:graphic>
      </p:graphicFrame>
      <p:sp>
        <p:nvSpPr>
          <p:cNvPr id="10" name="Shape 7"/>
          <p:cNvSpPr/>
          <p:nvPr/>
        </p:nvSpPr>
        <p:spPr>
          <a:xfrm>
            <a:off x="5394960" y="1005840"/>
            <a:ext cx="3383280" cy="1828800"/>
          </a:xfrm>
          <a:prstGeom prst="roundRect">
            <a:avLst>
              <a:gd name="adj" fmla="val 5000"/>
            </a:avLst>
          </a:prstGeom>
          <a:solidFill>
            <a:srgbClr val="0B1C3F"/>
          </a:solidFill>
          <a:ln/>
          <a:effectLst>
            <a:outerShdw blurRad="127000" dist="25400" dir="2700000" algn="bl" rotWithShape="0">
              <a:srgbClr val="000000">
                <a:alpha val="12000"/>
              </a:srgbClr>
            </a:outerShdw>
          </a:effectLst>
        </p:spPr>
      </p:sp>
      <p:sp>
        <p:nvSpPr>
          <p:cNvPr id="11" name="Text 8"/>
          <p:cNvSpPr/>
          <p:nvPr/>
        </p:nvSpPr>
        <p:spPr>
          <a:xfrm>
            <a:off x="5394960" y="1188720"/>
            <a:ext cx="3383280" cy="502920"/>
          </a:xfrm>
          <a:prstGeom prst="rect">
            <a:avLst/>
          </a:prstGeom>
          <a:noFill/>
          <a:ln/>
        </p:spPr>
        <p:txBody>
          <a:bodyPr wrap="square" lIns="0" tIns="0" rIns="0" bIns="0" rtlCol="0" anchor="ctr"/>
          <a:lstStyle/>
          <a:p>
            <a:pPr marL="0" indent="0" algn="ctr">
              <a:buNone/>
            </a:pPr>
            <a:r>
              <a:rPr lang="en-US" sz="2600" b="1" dirty="0">
                <a:solidFill>
                  <a:srgbClr val="0D9488"/>
                </a:solidFill>
                <a:latin typeface="Cambria" pitchFamily="34" charset="0"/>
                <a:ea typeface="Cambria" pitchFamily="34" charset="-122"/>
                <a:cs typeface="Cambria" pitchFamily="34" charset="-120"/>
              </a:rPr>
              <a:t>YOLOv11</a:t>
            </a:r>
            <a:endParaRPr lang="en-US" sz="2600" dirty="0"/>
          </a:p>
        </p:txBody>
      </p:sp>
      <p:sp>
        <p:nvSpPr>
          <p:cNvPr id="12" name="Text 9"/>
          <p:cNvSpPr/>
          <p:nvPr/>
        </p:nvSpPr>
        <p:spPr>
          <a:xfrm>
            <a:off x="5577840" y="1737360"/>
            <a:ext cx="3017520" cy="822960"/>
          </a:xfrm>
          <a:prstGeom prst="rect">
            <a:avLst/>
          </a:prstGeom>
          <a:noFill/>
          <a:ln/>
        </p:spPr>
        <p:txBody>
          <a:bodyPr wrap="square" lIns="50800" tIns="50800" rIns="50800" bIns="50800"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Used in 6 of our models — optimized for multi-class detection tasks with high throughput.</a:t>
            </a:r>
            <a:endParaRPr lang="en-US" sz="1100" dirty="0"/>
          </a:p>
        </p:txBody>
      </p:sp>
      <p:sp>
        <p:nvSpPr>
          <p:cNvPr id="13" name="Shape 10"/>
          <p:cNvSpPr/>
          <p:nvPr/>
        </p:nvSpPr>
        <p:spPr>
          <a:xfrm>
            <a:off x="5394960" y="3017520"/>
            <a:ext cx="3383280" cy="1691640"/>
          </a:xfrm>
          <a:prstGeom prst="roundRect">
            <a:avLst>
              <a:gd name="adj" fmla="val 5405"/>
            </a:avLst>
          </a:prstGeom>
          <a:solidFill>
            <a:srgbClr val="082A26"/>
          </a:solidFill>
          <a:ln/>
          <a:effectLst>
            <a:outerShdw blurRad="127000" dist="25400" dir="2700000" algn="bl" rotWithShape="0">
              <a:srgbClr val="000000">
                <a:alpha val="12000"/>
              </a:srgbClr>
            </a:outerShdw>
          </a:effectLst>
        </p:spPr>
      </p:sp>
      <p:sp>
        <p:nvSpPr>
          <p:cNvPr id="14" name="Text 11"/>
          <p:cNvSpPr/>
          <p:nvPr/>
        </p:nvSpPr>
        <p:spPr>
          <a:xfrm>
            <a:off x="5394960" y="3200400"/>
            <a:ext cx="3383280" cy="502920"/>
          </a:xfrm>
          <a:prstGeom prst="rect">
            <a:avLst/>
          </a:prstGeom>
          <a:noFill/>
          <a:ln/>
        </p:spPr>
        <p:txBody>
          <a:bodyPr wrap="square" lIns="0" tIns="0" rIns="0" bIns="0" rtlCol="0" anchor="ctr"/>
          <a:lstStyle/>
          <a:p>
            <a:pPr marL="0" indent="0" algn="ctr">
              <a:buNone/>
            </a:pPr>
            <a:r>
              <a:rPr lang="en-US" sz="2600" b="1" dirty="0">
                <a:solidFill>
                  <a:srgbClr val="FBBF24"/>
                </a:solidFill>
                <a:latin typeface="Cambria" pitchFamily="34" charset="0"/>
                <a:ea typeface="Cambria" pitchFamily="34" charset="-122"/>
                <a:cs typeface="Cambria" pitchFamily="34" charset="-120"/>
              </a:rPr>
              <a:t>YOLOv12</a:t>
            </a:r>
            <a:endParaRPr lang="en-US" sz="2600" dirty="0"/>
          </a:p>
        </p:txBody>
      </p:sp>
      <p:sp>
        <p:nvSpPr>
          <p:cNvPr id="15" name="Text 12"/>
          <p:cNvSpPr/>
          <p:nvPr/>
        </p:nvSpPr>
        <p:spPr>
          <a:xfrm>
            <a:off x="5577840" y="3749040"/>
            <a:ext cx="3017520" cy="777240"/>
          </a:xfrm>
          <a:prstGeom prst="rect">
            <a:avLst/>
          </a:prstGeom>
          <a:noFill/>
          <a:ln/>
        </p:spPr>
        <p:txBody>
          <a:bodyPr wrap="square" lIns="50800" tIns="50800" rIns="50800" bIns="50800" rtlCol="0" anchor="ctr"/>
          <a:lstStyle/>
          <a:p>
            <a:pPr marL="0" indent="0" algn="ctr">
              <a:buNone/>
            </a:pPr>
            <a:r>
              <a:rPr lang="en-US" sz="1100" dirty="0">
                <a:solidFill>
                  <a:srgbClr val="A7F3D0"/>
                </a:solidFill>
                <a:latin typeface="Calibri" pitchFamily="34" charset="0"/>
                <a:ea typeface="Calibri" pitchFamily="34" charset="-122"/>
                <a:cs typeface="Calibri" pitchFamily="34" charset="-120"/>
              </a:rPr>
              <a:t>Used in accident detection &amp; OCR — cutting-edge accuracy where precision is non-negotiable.</a:t>
            </a:r>
            <a:endParaRPr lang="en-US" sz="11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4 · METRICS</a:t>
            </a:r>
            <a:endParaRPr lang="en-US" sz="900" dirty="0"/>
          </a:p>
        </p:txBody>
      </p:sp>
      <p:sp>
        <p:nvSpPr>
          <p:cNvPr id="4" name="Text 2"/>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How We Measure Success</a:t>
            </a:r>
            <a:endParaRPr lang="en-US" sz="3000" dirty="0"/>
          </a:p>
        </p:txBody>
      </p:sp>
      <p:sp>
        <p:nvSpPr>
          <p:cNvPr id="5" name="Shape 3"/>
          <p:cNvSpPr/>
          <p:nvPr/>
        </p:nvSpPr>
        <p:spPr>
          <a:xfrm>
            <a:off x="457200" y="850392"/>
            <a:ext cx="1097280" cy="54864"/>
          </a:xfrm>
          <a:prstGeom prst="rect">
            <a:avLst/>
          </a:prstGeom>
          <a:solidFill>
            <a:srgbClr val="0D9488"/>
          </a:solidFill>
          <a:ln/>
        </p:spPr>
      </p:sp>
      <p:sp>
        <p:nvSpPr>
          <p:cNvPr id="6" name="Shape 4"/>
          <p:cNvSpPr/>
          <p:nvPr/>
        </p:nvSpPr>
        <p:spPr>
          <a:xfrm>
            <a:off x="365760" y="1005840"/>
            <a:ext cx="8412480" cy="914400"/>
          </a:xfrm>
          <a:prstGeom prst="roundRect">
            <a:avLst>
              <a:gd name="adj" fmla="val 10000"/>
            </a:avLst>
          </a:prstGeom>
          <a:solidFill>
            <a:srgbClr val="0E2140"/>
          </a:solidFill>
          <a:ln/>
          <a:effectLst>
            <a:outerShdw blurRad="127000" dist="25400" dir="2700000" algn="bl" rotWithShape="0">
              <a:srgbClr val="000000">
                <a:alpha val="12000"/>
              </a:srgbClr>
            </a:outerShdw>
          </a:effectLst>
        </p:spPr>
      </p:sp>
      <p:sp>
        <p:nvSpPr>
          <p:cNvPr id="7" name="Text 5"/>
          <p:cNvSpPr/>
          <p:nvPr/>
        </p:nvSpPr>
        <p:spPr>
          <a:xfrm>
            <a:off x="548640" y="1051560"/>
            <a:ext cx="8046720" cy="777240"/>
          </a:xfrm>
          <a:prstGeom prst="rect">
            <a:avLst/>
          </a:prstGeom>
          <a:noFill/>
          <a:ln/>
        </p:spPr>
        <p:txBody>
          <a:bodyPr wrap="square" lIns="50800" tIns="50800" rIns="50800" bIns="5080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All models are evaluated using mAP@0.5 — Mean Average Precision at 50% Intersection over Union.</a:t>
            </a:r>
            <a:endParaRPr lang="en-US" sz="1300" dirty="0"/>
          </a:p>
        </p:txBody>
      </p:sp>
      <p:sp>
        <p:nvSpPr>
          <p:cNvPr id="8" name="Shape 6"/>
          <p:cNvSpPr/>
          <p:nvPr/>
        </p:nvSpPr>
        <p:spPr>
          <a:xfrm>
            <a:off x="384048" y="2057400"/>
            <a:ext cx="2743200" cy="2651760"/>
          </a:xfrm>
          <a:prstGeom prst="roundRect">
            <a:avLst>
              <a:gd name="adj" fmla="val 3448"/>
            </a:avLst>
          </a:prstGeom>
          <a:solidFill>
            <a:srgbClr val="0E2140"/>
          </a:solidFill>
          <a:ln/>
          <a:effectLst>
            <a:outerShdw blurRad="127000" dist="25400" dir="2700000" algn="bl" rotWithShape="0">
              <a:srgbClr val="000000">
                <a:alpha val="12000"/>
              </a:srgbClr>
            </a:outerShdw>
          </a:effectLst>
        </p:spPr>
      </p:sp>
      <p:sp>
        <p:nvSpPr>
          <p:cNvPr id="9" name="Shape 7"/>
          <p:cNvSpPr/>
          <p:nvPr/>
        </p:nvSpPr>
        <p:spPr>
          <a:xfrm>
            <a:off x="457200" y="2103120"/>
            <a:ext cx="2596896" cy="411480"/>
          </a:xfrm>
          <a:prstGeom prst="roundRect">
            <a:avLst>
              <a:gd name="adj" fmla="val 15556"/>
            </a:avLst>
          </a:prstGeom>
          <a:solidFill>
            <a:srgbClr val="0D9488"/>
          </a:solidFill>
          <a:ln/>
        </p:spPr>
      </p:sp>
      <p:sp>
        <p:nvSpPr>
          <p:cNvPr id="10" name="Text 8"/>
          <p:cNvSpPr/>
          <p:nvPr/>
        </p:nvSpPr>
        <p:spPr>
          <a:xfrm>
            <a:off x="457200" y="2103120"/>
            <a:ext cx="2596896" cy="411480"/>
          </a:xfrm>
          <a:prstGeom prst="rect">
            <a:avLst/>
          </a:prstGeom>
          <a:noFill/>
          <a:ln/>
        </p:spPr>
        <p:txBody>
          <a:bodyPr wrap="square" lIns="0" tIns="0" rIns="0" bIns="0" rtlCol="0" anchor="ctr"/>
          <a:lstStyle/>
          <a:p>
            <a:pPr marL="0" indent="0" algn="ctr">
              <a:buNone/>
            </a:pPr>
            <a:r>
              <a:rPr lang="en-US" sz="1200" b="1" dirty="0">
                <a:solidFill>
                  <a:srgbClr val="0F172A"/>
                </a:solidFill>
                <a:latin typeface="Cambria" pitchFamily="34" charset="0"/>
                <a:ea typeface="Cambria" pitchFamily="34" charset="-122"/>
                <a:cs typeface="Cambria" pitchFamily="34" charset="-120"/>
              </a:rPr>
              <a:t>Precision</a:t>
            </a:r>
            <a:endParaRPr lang="en-US" sz="1200" dirty="0"/>
          </a:p>
        </p:txBody>
      </p:sp>
      <p:sp>
        <p:nvSpPr>
          <p:cNvPr id="11" name="Text 9"/>
          <p:cNvSpPr/>
          <p:nvPr/>
        </p:nvSpPr>
        <p:spPr>
          <a:xfrm>
            <a:off x="475488" y="2606040"/>
            <a:ext cx="2560320" cy="2011680"/>
          </a:xfrm>
          <a:prstGeom prst="rect">
            <a:avLst/>
          </a:prstGeom>
          <a:noFill/>
          <a:ln/>
        </p:spPr>
        <p:txBody>
          <a:bodyPr wrap="square" lIns="76200" tIns="76200" rIns="76200" bIns="76200" rtlCol="0" anchor="t"/>
          <a:lstStyle/>
          <a:p>
            <a:pPr marL="0" indent="0">
              <a:buNone/>
            </a:pPr>
            <a:r>
              <a:rPr lang="en-US" sz="1150" dirty="0">
                <a:solidFill>
                  <a:srgbClr val="CBD5E1"/>
                </a:solidFill>
                <a:latin typeface="Calibri" pitchFamily="34" charset="0"/>
                <a:ea typeface="Calibri" pitchFamily="34" charset="-122"/>
                <a:cs typeface="Calibri" pitchFamily="34" charset="-120"/>
              </a:rPr>
              <a:t>Of all the objects our AI flagged, what percentage were correct? High precision = fewer false alarms.</a:t>
            </a:r>
            <a:endParaRPr lang="en-US" sz="1150" dirty="0"/>
          </a:p>
        </p:txBody>
      </p:sp>
      <p:sp>
        <p:nvSpPr>
          <p:cNvPr id="12" name="Shape 10"/>
          <p:cNvSpPr/>
          <p:nvPr/>
        </p:nvSpPr>
        <p:spPr>
          <a:xfrm>
            <a:off x="3264408" y="2057400"/>
            <a:ext cx="2743200" cy="2651760"/>
          </a:xfrm>
          <a:prstGeom prst="roundRect">
            <a:avLst>
              <a:gd name="adj" fmla="val 3448"/>
            </a:avLst>
          </a:prstGeom>
          <a:solidFill>
            <a:srgbClr val="0E2140"/>
          </a:solidFill>
          <a:ln/>
          <a:effectLst>
            <a:outerShdw blurRad="127000" dist="25400" dir="2700000" algn="bl" rotWithShape="0">
              <a:srgbClr val="000000">
                <a:alpha val="12000"/>
              </a:srgbClr>
            </a:outerShdw>
          </a:effectLst>
        </p:spPr>
      </p:sp>
      <p:sp>
        <p:nvSpPr>
          <p:cNvPr id="13" name="Shape 11"/>
          <p:cNvSpPr/>
          <p:nvPr/>
        </p:nvSpPr>
        <p:spPr>
          <a:xfrm>
            <a:off x="3337560" y="2103120"/>
            <a:ext cx="2596896" cy="411480"/>
          </a:xfrm>
          <a:prstGeom prst="roundRect">
            <a:avLst>
              <a:gd name="adj" fmla="val 15556"/>
            </a:avLst>
          </a:prstGeom>
          <a:solidFill>
            <a:srgbClr val="FBBF24"/>
          </a:solidFill>
          <a:ln/>
        </p:spPr>
      </p:sp>
      <p:sp>
        <p:nvSpPr>
          <p:cNvPr id="14" name="Text 12"/>
          <p:cNvSpPr/>
          <p:nvPr/>
        </p:nvSpPr>
        <p:spPr>
          <a:xfrm>
            <a:off x="3337560" y="2103120"/>
            <a:ext cx="2596896" cy="411480"/>
          </a:xfrm>
          <a:prstGeom prst="rect">
            <a:avLst/>
          </a:prstGeom>
          <a:noFill/>
          <a:ln/>
        </p:spPr>
        <p:txBody>
          <a:bodyPr wrap="square" lIns="0" tIns="0" rIns="0" bIns="0" rtlCol="0" anchor="ctr"/>
          <a:lstStyle/>
          <a:p>
            <a:pPr marL="0" indent="0" algn="ctr">
              <a:buNone/>
            </a:pPr>
            <a:r>
              <a:rPr lang="en-US" sz="1200" b="1" dirty="0">
                <a:solidFill>
                  <a:srgbClr val="0F172A"/>
                </a:solidFill>
                <a:latin typeface="Cambria" pitchFamily="34" charset="0"/>
                <a:ea typeface="Cambria" pitchFamily="34" charset="-122"/>
                <a:cs typeface="Cambria" pitchFamily="34" charset="-120"/>
              </a:rPr>
              <a:t>IoU (Intersection over Union)</a:t>
            </a:r>
            <a:endParaRPr lang="en-US" sz="1200" dirty="0"/>
          </a:p>
        </p:txBody>
      </p:sp>
      <p:sp>
        <p:nvSpPr>
          <p:cNvPr id="15" name="Text 13"/>
          <p:cNvSpPr/>
          <p:nvPr/>
        </p:nvSpPr>
        <p:spPr>
          <a:xfrm>
            <a:off x="3355848" y="2606040"/>
            <a:ext cx="2560320" cy="2011680"/>
          </a:xfrm>
          <a:prstGeom prst="rect">
            <a:avLst/>
          </a:prstGeom>
          <a:noFill/>
          <a:ln/>
        </p:spPr>
        <p:txBody>
          <a:bodyPr wrap="square" lIns="76200" tIns="76200" rIns="76200" bIns="76200" rtlCol="0" anchor="t"/>
          <a:lstStyle/>
          <a:p>
            <a:pPr marL="0" indent="0">
              <a:buNone/>
            </a:pPr>
            <a:r>
              <a:rPr lang="en-US" sz="1150" dirty="0">
                <a:solidFill>
                  <a:srgbClr val="CBD5E1"/>
                </a:solidFill>
                <a:latin typeface="Calibri" pitchFamily="34" charset="0"/>
                <a:ea typeface="Calibri" pitchFamily="34" charset="-122"/>
                <a:cs typeface="Calibri" pitchFamily="34" charset="-120"/>
              </a:rPr>
              <a:t>Measures how much the predicted bounding box overlaps with the actual object. IoU ≥ 0.5 means the box is at least 50% accurate.</a:t>
            </a:r>
            <a:endParaRPr lang="en-US" sz="1150" dirty="0"/>
          </a:p>
        </p:txBody>
      </p:sp>
      <p:sp>
        <p:nvSpPr>
          <p:cNvPr id="16" name="Shape 14"/>
          <p:cNvSpPr/>
          <p:nvPr/>
        </p:nvSpPr>
        <p:spPr>
          <a:xfrm>
            <a:off x="6144768" y="2057400"/>
            <a:ext cx="2743200" cy="2651760"/>
          </a:xfrm>
          <a:prstGeom prst="roundRect">
            <a:avLst>
              <a:gd name="adj" fmla="val 3448"/>
            </a:avLst>
          </a:prstGeom>
          <a:solidFill>
            <a:srgbClr val="0E2140"/>
          </a:solidFill>
          <a:ln/>
          <a:effectLst>
            <a:outerShdw blurRad="127000" dist="25400" dir="2700000" algn="bl" rotWithShape="0">
              <a:srgbClr val="000000">
                <a:alpha val="12000"/>
              </a:srgbClr>
            </a:outerShdw>
          </a:effectLst>
        </p:spPr>
      </p:sp>
      <p:sp>
        <p:nvSpPr>
          <p:cNvPr id="17" name="Shape 15"/>
          <p:cNvSpPr/>
          <p:nvPr/>
        </p:nvSpPr>
        <p:spPr>
          <a:xfrm>
            <a:off x="6217920" y="2103120"/>
            <a:ext cx="2596896" cy="411480"/>
          </a:xfrm>
          <a:prstGeom prst="roundRect">
            <a:avLst>
              <a:gd name="adj" fmla="val 15556"/>
            </a:avLst>
          </a:prstGeom>
          <a:solidFill>
            <a:srgbClr val="F97316"/>
          </a:solidFill>
          <a:ln/>
        </p:spPr>
      </p:sp>
      <p:sp>
        <p:nvSpPr>
          <p:cNvPr id="18" name="Text 16"/>
          <p:cNvSpPr/>
          <p:nvPr/>
        </p:nvSpPr>
        <p:spPr>
          <a:xfrm>
            <a:off x="6217920" y="2103120"/>
            <a:ext cx="2596896" cy="411480"/>
          </a:xfrm>
          <a:prstGeom prst="rect">
            <a:avLst/>
          </a:prstGeom>
          <a:noFill/>
          <a:ln/>
        </p:spPr>
        <p:txBody>
          <a:bodyPr wrap="square" lIns="0" tIns="0" rIns="0" bIns="0" rtlCol="0" anchor="ctr"/>
          <a:lstStyle/>
          <a:p>
            <a:pPr marL="0" indent="0" algn="ctr">
              <a:buNone/>
            </a:pPr>
            <a:r>
              <a:rPr lang="en-US" sz="1200" b="1" dirty="0">
                <a:solidFill>
                  <a:srgbClr val="0F172A"/>
                </a:solidFill>
                <a:latin typeface="Cambria" pitchFamily="34" charset="0"/>
                <a:ea typeface="Cambria" pitchFamily="34" charset="-122"/>
                <a:cs typeface="Cambria" pitchFamily="34" charset="-120"/>
              </a:rPr>
              <a:t>mAP@0.5</a:t>
            </a:r>
            <a:endParaRPr lang="en-US" sz="1200" dirty="0"/>
          </a:p>
        </p:txBody>
      </p:sp>
      <p:sp>
        <p:nvSpPr>
          <p:cNvPr id="19" name="Text 17"/>
          <p:cNvSpPr/>
          <p:nvPr/>
        </p:nvSpPr>
        <p:spPr>
          <a:xfrm>
            <a:off x="6236208" y="2606040"/>
            <a:ext cx="2560320" cy="2011680"/>
          </a:xfrm>
          <a:prstGeom prst="rect">
            <a:avLst/>
          </a:prstGeom>
          <a:noFill/>
          <a:ln/>
        </p:spPr>
        <p:txBody>
          <a:bodyPr wrap="square" lIns="76200" tIns="76200" rIns="76200" bIns="76200" rtlCol="0" anchor="t"/>
          <a:lstStyle/>
          <a:p>
            <a:pPr marL="0" indent="0">
              <a:buNone/>
            </a:pPr>
            <a:r>
              <a:rPr lang="en-US" sz="1150" dirty="0">
                <a:solidFill>
                  <a:srgbClr val="CBD5E1"/>
                </a:solidFill>
                <a:latin typeface="Calibri" pitchFamily="34" charset="0"/>
                <a:ea typeface="Calibri" pitchFamily="34" charset="-122"/>
                <a:cs typeface="Calibri" pitchFamily="34" charset="-120"/>
              </a:rPr>
              <a:t>The combined score across all object classes: the AI correctly identifies WHAT the object is AND draws the bounding box at ≥50% precision.</a:t>
            </a:r>
            <a:endParaRPr lang="en-US" sz="115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4 · MODEL 01</a:t>
            </a:r>
            <a:endParaRPr lang="en-US" sz="900" dirty="0"/>
          </a:p>
        </p:txBody>
      </p:sp>
      <p:sp>
        <p:nvSpPr>
          <p:cNvPr id="4" name="Text 2"/>
          <p:cNvSpPr/>
          <p:nvPr/>
        </p:nvSpPr>
        <p:spPr>
          <a:xfrm>
            <a:off x="457200" y="201168"/>
            <a:ext cx="8229600" cy="548640"/>
          </a:xfrm>
          <a:prstGeom prst="rect">
            <a:avLst/>
          </a:prstGeom>
          <a:noFill/>
          <a:ln/>
        </p:spPr>
        <p:txBody>
          <a:bodyPr wrap="square" lIns="0" tIns="0" rIns="0" bIns="0" rtlCol="0" anchor="ctr"/>
          <a:lstStyle/>
          <a:p>
            <a:pPr marL="0" indent="0" algn="l">
              <a:buNone/>
            </a:pPr>
            <a:r>
              <a:rPr lang="en-US" sz="2800" b="1" dirty="0">
                <a:solidFill>
                  <a:srgbClr val="0B1C3F"/>
                </a:solidFill>
                <a:latin typeface="Cambria" pitchFamily="34" charset="0"/>
                <a:ea typeface="Cambria" pitchFamily="34" charset="-122"/>
                <a:cs typeface="Cambria" pitchFamily="34" charset="-120"/>
              </a:rPr>
              <a:t>Accident Detection</a:t>
            </a:r>
            <a:endParaRPr lang="en-US" sz="2800" dirty="0"/>
          </a:p>
        </p:txBody>
      </p:sp>
      <p:sp>
        <p:nvSpPr>
          <p:cNvPr id="5" name="Shape 3"/>
          <p:cNvSpPr/>
          <p:nvPr/>
        </p:nvSpPr>
        <p:spPr>
          <a:xfrm>
            <a:off x="457200" y="795528"/>
            <a:ext cx="1097280" cy="54864"/>
          </a:xfrm>
          <a:prstGeom prst="rect">
            <a:avLst/>
          </a:prstGeom>
          <a:solidFill>
            <a:srgbClr val="0D9488"/>
          </a:solidFill>
          <a:ln/>
        </p:spPr>
      </p:sp>
      <p:sp>
        <p:nvSpPr>
          <p:cNvPr id="6" name="Shape 4"/>
          <p:cNvSpPr/>
          <p:nvPr/>
        </p:nvSpPr>
        <p:spPr>
          <a:xfrm>
            <a:off x="365760" y="1005840"/>
            <a:ext cx="2743200" cy="1188720"/>
          </a:xfrm>
          <a:prstGeom prst="roundRect">
            <a:avLst>
              <a:gd name="adj" fmla="val 7692"/>
            </a:avLst>
          </a:prstGeom>
          <a:solidFill>
            <a:srgbClr val="0B1C3F"/>
          </a:solidFill>
          <a:ln/>
          <a:effectLst>
            <a:outerShdw blurRad="101600" dist="25400" dir="2700000" algn="bl" rotWithShape="0">
              <a:srgbClr val="000000">
                <a:alpha val="18000"/>
              </a:srgbClr>
            </a:outerShdw>
          </a:effectLst>
        </p:spPr>
      </p:sp>
      <p:sp>
        <p:nvSpPr>
          <p:cNvPr id="7" name="Text 5"/>
          <p:cNvSpPr/>
          <p:nvPr/>
        </p:nvSpPr>
        <p:spPr>
          <a:xfrm>
            <a:off x="365760" y="1097280"/>
            <a:ext cx="2743200" cy="548640"/>
          </a:xfrm>
          <a:prstGeom prst="rect">
            <a:avLst/>
          </a:prstGeom>
          <a:noFill/>
          <a:ln/>
        </p:spPr>
        <p:txBody>
          <a:bodyPr wrap="square" lIns="0" tIns="0" rIns="0" bIns="0"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99.3%</a:t>
            </a:r>
            <a:endParaRPr lang="en-US" sz="3200" dirty="0"/>
          </a:p>
        </p:txBody>
      </p:sp>
      <p:sp>
        <p:nvSpPr>
          <p:cNvPr id="8" name="Text 6"/>
          <p:cNvSpPr/>
          <p:nvPr/>
        </p:nvSpPr>
        <p:spPr>
          <a:xfrm>
            <a:off x="365760" y="1645920"/>
            <a:ext cx="2743200" cy="320040"/>
          </a:xfrm>
          <a:prstGeom prst="rect">
            <a:avLst/>
          </a:prstGeom>
          <a:noFill/>
          <a:ln/>
        </p:spPr>
        <p:txBody>
          <a:bodyPr wrap="square" lIns="0" tIns="0" rIns="0" bIns="0" rtlCol="0" anchor="ctr"/>
          <a:lstStyle/>
          <a:p>
            <a:pPr marL="0" indent="0" algn="ctr">
              <a:buNone/>
            </a:pPr>
            <a:r>
              <a:rPr lang="en-US" sz="900" dirty="0">
                <a:solidFill>
                  <a:srgbClr val="14B8A6"/>
                </a:solidFill>
              </a:rPr>
              <a:t>mAP@0.5</a:t>
            </a:r>
            <a:endParaRPr lang="en-US" sz="900" dirty="0"/>
          </a:p>
        </p:txBody>
      </p:sp>
      <p:sp>
        <p:nvSpPr>
          <p:cNvPr id="9" name="Shape 7"/>
          <p:cNvSpPr/>
          <p:nvPr/>
        </p:nvSpPr>
        <p:spPr>
          <a:xfrm>
            <a:off x="365760" y="2331720"/>
            <a:ext cx="2743200" cy="868680"/>
          </a:xfrm>
          <a:prstGeom prst="roundRect">
            <a:avLst>
              <a:gd name="adj" fmla="val 10526"/>
            </a:avLst>
          </a:prstGeom>
          <a:solidFill>
            <a:srgbClr val="0B1C3F"/>
          </a:solidFill>
          <a:ln/>
          <a:effectLst>
            <a:outerShdw blurRad="101600" dist="25400" dir="2700000" algn="bl" rotWithShape="0">
              <a:srgbClr val="000000">
                <a:alpha val="18000"/>
              </a:srgbClr>
            </a:outerShdw>
          </a:effectLst>
        </p:spPr>
      </p:sp>
      <p:sp>
        <p:nvSpPr>
          <p:cNvPr id="10" name="Text 8"/>
          <p:cNvSpPr/>
          <p:nvPr/>
        </p:nvSpPr>
        <p:spPr>
          <a:xfrm>
            <a:off x="365760" y="2423160"/>
            <a:ext cx="2743200" cy="548640"/>
          </a:xfrm>
          <a:prstGeom prst="rect">
            <a:avLst/>
          </a:prstGeom>
          <a:noFill/>
          <a:ln/>
        </p:spPr>
        <p:txBody>
          <a:bodyPr wrap="square" lIns="0" tIns="0" rIns="0" bIns="0"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YOLOv12</a:t>
            </a:r>
            <a:endParaRPr lang="en-US" sz="3200" dirty="0"/>
          </a:p>
        </p:txBody>
      </p:sp>
      <p:sp>
        <p:nvSpPr>
          <p:cNvPr id="11" name="Text 9"/>
          <p:cNvSpPr/>
          <p:nvPr/>
        </p:nvSpPr>
        <p:spPr>
          <a:xfrm>
            <a:off x="365760" y="2971800"/>
            <a:ext cx="2743200" cy="320040"/>
          </a:xfrm>
          <a:prstGeom prst="rect">
            <a:avLst/>
          </a:prstGeom>
          <a:noFill/>
          <a:ln/>
        </p:spPr>
        <p:txBody>
          <a:bodyPr wrap="square" lIns="0" tIns="0" rIns="0" bIns="0" rtlCol="0" anchor="ctr"/>
          <a:lstStyle/>
          <a:p>
            <a:pPr marL="0" indent="0" algn="ctr">
              <a:buNone/>
            </a:pPr>
            <a:r>
              <a:rPr lang="en-US" sz="900" dirty="0">
                <a:solidFill>
                  <a:srgbClr val="14B8A6"/>
                </a:solidFill>
              </a:rPr>
              <a:t>Architecture</a:t>
            </a:r>
            <a:endParaRPr lang="en-US" sz="900" dirty="0"/>
          </a:p>
        </p:txBody>
      </p:sp>
      <p:sp>
        <p:nvSpPr>
          <p:cNvPr id="12" name="Shape 10"/>
          <p:cNvSpPr/>
          <p:nvPr/>
        </p:nvSpPr>
        <p:spPr>
          <a:xfrm>
            <a:off x="3383280" y="1005840"/>
            <a:ext cx="5394960" cy="3749040"/>
          </a:xfrm>
          <a:prstGeom prst="roundRect">
            <a:avLst>
              <a:gd name="adj" fmla="val 2439"/>
            </a:avLst>
          </a:prstGeom>
          <a:solidFill>
            <a:srgbClr val="FFFFFF"/>
          </a:solidFill>
          <a:ln/>
          <a:effectLst>
            <a:outerShdw blurRad="127000" dist="25400" dir="2700000" algn="bl" rotWithShape="0">
              <a:srgbClr val="000000">
                <a:alpha val="12000"/>
              </a:srgbClr>
            </a:outerShdw>
          </a:effectLst>
        </p:spPr>
      </p:sp>
      <p:sp>
        <p:nvSpPr>
          <p:cNvPr id="13" name="Text 11"/>
          <p:cNvSpPr/>
          <p:nvPr/>
        </p:nvSpPr>
        <p:spPr>
          <a:xfrm>
            <a:off x="3566160" y="1097280"/>
            <a:ext cx="5029200" cy="365760"/>
          </a:xfrm>
          <a:prstGeom prst="rect">
            <a:avLst/>
          </a:prstGeom>
          <a:noFill/>
          <a:ln/>
        </p:spPr>
        <p:txBody>
          <a:bodyPr wrap="square" lIns="0" tIns="0" rIns="0" bIns="0" rtlCol="0" anchor="ctr"/>
          <a:lstStyle/>
          <a:p>
            <a:pPr marL="0" indent="0">
              <a:buNone/>
            </a:pPr>
            <a:r>
              <a:rPr lang="en-US" sz="1400" b="1" dirty="0">
                <a:solidFill>
                  <a:srgbClr val="0B1C3F"/>
                </a:solidFill>
                <a:latin typeface="Cambria" pitchFamily="34" charset="0"/>
                <a:ea typeface="Cambria" pitchFamily="34" charset="-122"/>
                <a:cs typeface="Cambria" pitchFamily="34" charset="-120"/>
              </a:rPr>
              <a:t>Model Overview</a:t>
            </a:r>
            <a:endParaRPr lang="en-US" sz="1400" dirty="0"/>
          </a:p>
        </p:txBody>
      </p:sp>
      <p:sp>
        <p:nvSpPr>
          <p:cNvPr id="14" name="Text 12"/>
          <p:cNvSpPr/>
          <p:nvPr/>
        </p:nvSpPr>
        <p:spPr>
          <a:xfrm>
            <a:off x="3566160" y="1554480"/>
            <a:ext cx="5029200" cy="301752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Goal: Instantly identify vehicle collisions on highways and intersections</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Near-perfect 99.3% accuracy — critical for triggering automated emergency dispatch without false alarms</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Detects multi-vehicle pile-ups, single-vehicle impacts, and rollover events</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Sub-second alert latency enables proactive emergency response coordination</a:t>
            </a:r>
            <a:endParaRPr lang="en-US" sz="1200" dirty="0"/>
          </a:p>
        </p:txBody>
      </p:sp>
      <p:sp>
        <p:nvSpPr>
          <p:cNvPr id="15" name="Shape 13"/>
          <p:cNvSpPr/>
          <p:nvPr/>
        </p:nvSpPr>
        <p:spPr>
          <a:xfrm>
            <a:off x="822960" y="3429000"/>
            <a:ext cx="1371600" cy="1371600"/>
          </a:xfrm>
          <a:prstGeom prst="line">
            <a:avLst/>
          </a:prstGeom>
          <a:solidFill>
            <a:srgbClr val="FEE2E2"/>
          </a:solidFill>
          <a:ln/>
        </p:spPr>
      </p:sp>
      <p:pic>
        <p:nvPicPr>
          <p:cNvPr id="16" name="Image 0" descr="preencoded.png"/>
          <p:cNvPicPr>
            <a:picLocks noChangeAspect="1"/>
          </p:cNvPicPr>
          <p:nvPr/>
        </p:nvPicPr>
        <p:blipFill>
          <a:blip r:embed="rId3"/>
          <a:stretch>
            <a:fillRect/>
          </a:stretch>
        </p:blipFill>
        <p:spPr>
          <a:xfrm>
            <a:off x="914400" y="3520440"/>
            <a:ext cx="1188720" cy="118872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4 · MODEL 02</a:t>
            </a:r>
            <a:endParaRPr lang="en-US" sz="900" dirty="0"/>
          </a:p>
        </p:txBody>
      </p:sp>
      <p:sp>
        <p:nvSpPr>
          <p:cNvPr id="4" name="Text 2"/>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License Plate Detection</a:t>
            </a:r>
            <a:endParaRPr lang="en-US" sz="3000" dirty="0"/>
          </a:p>
        </p:txBody>
      </p:sp>
      <p:sp>
        <p:nvSpPr>
          <p:cNvPr id="5" name="Shape 3"/>
          <p:cNvSpPr/>
          <p:nvPr/>
        </p:nvSpPr>
        <p:spPr>
          <a:xfrm>
            <a:off x="457200" y="850392"/>
            <a:ext cx="1097280" cy="54864"/>
          </a:xfrm>
          <a:prstGeom prst="rect">
            <a:avLst/>
          </a:prstGeom>
          <a:solidFill>
            <a:srgbClr val="0D9488"/>
          </a:solidFill>
          <a:ln/>
        </p:spPr>
      </p:sp>
      <p:sp>
        <p:nvSpPr>
          <p:cNvPr id="6" name="Shape 4"/>
          <p:cNvSpPr/>
          <p:nvPr/>
        </p:nvSpPr>
        <p:spPr>
          <a:xfrm>
            <a:off x="365760" y="1005840"/>
            <a:ext cx="2743200" cy="1188720"/>
          </a:xfrm>
          <a:prstGeom prst="roundRect">
            <a:avLst>
              <a:gd name="adj" fmla="val 7692"/>
            </a:avLst>
          </a:prstGeom>
          <a:solidFill>
            <a:srgbClr val="0B1C3F"/>
          </a:solidFill>
          <a:ln/>
          <a:effectLst>
            <a:outerShdw blurRad="101600" dist="25400" dir="2700000" algn="bl" rotWithShape="0">
              <a:srgbClr val="000000">
                <a:alpha val="18000"/>
              </a:srgbClr>
            </a:outerShdw>
          </a:effectLst>
        </p:spPr>
      </p:sp>
      <p:sp>
        <p:nvSpPr>
          <p:cNvPr id="7" name="Text 5"/>
          <p:cNvSpPr/>
          <p:nvPr/>
        </p:nvSpPr>
        <p:spPr>
          <a:xfrm>
            <a:off x="365760" y="1097280"/>
            <a:ext cx="2743200" cy="548640"/>
          </a:xfrm>
          <a:prstGeom prst="rect">
            <a:avLst/>
          </a:prstGeom>
          <a:noFill/>
          <a:ln/>
        </p:spPr>
        <p:txBody>
          <a:bodyPr wrap="square" lIns="0" tIns="0" rIns="0" bIns="0" rtlCol="0" anchor="ctr"/>
          <a:lstStyle/>
          <a:p>
            <a:pPr marL="0" indent="0" algn="ctr">
              <a:buNone/>
            </a:pPr>
            <a:r>
              <a:rPr lang="en-US" sz="3200" b="1" dirty="0" smtClean="0">
                <a:solidFill>
                  <a:srgbClr val="FBBF24"/>
                </a:solidFill>
                <a:latin typeface="Cambria" pitchFamily="34" charset="0"/>
                <a:ea typeface="Cambria" pitchFamily="34" charset="-122"/>
                <a:cs typeface="Cambria" pitchFamily="34" charset="-120"/>
              </a:rPr>
              <a:t>98.4%</a:t>
            </a:r>
            <a:endParaRPr lang="en-US" sz="3200" dirty="0"/>
          </a:p>
        </p:txBody>
      </p:sp>
      <p:sp>
        <p:nvSpPr>
          <p:cNvPr id="8" name="Text 6"/>
          <p:cNvSpPr/>
          <p:nvPr/>
        </p:nvSpPr>
        <p:spPr>
          <a:xfrm>
            <a:off x="365760" y="1645920"/>
            <a:ext cx="2743200" cy="320040"/>
          </a:xfrm>
          <a:prstGeom prst="rect">
            <a:avLst/>
          </a:prstGeom>
          <a:noFill/>
          <a:ln/>
        </p:spPr>
        <p:txBody>
          <a:bodyPr wrap="square" lIns="0" tIns="0" rIns="0" bIns="0" rtlCol="0" anchor="ctr"/>
          <a:lstStyle/>
          <a:p>
            <a:pPr marL="0" indent="0" algn="ctr">
              <a:buNone/>
            </a:pPr>
            <a:r>
              <a:rPr lang="en-US" sz="900" dirty="0">
                <a:solidFill>
                  <a:srgbClr val="14B8A6"/>
                </a:solidFill>
              </a:rPr>
              <a:t>mAP@0.5</a:t>
            </a:r>
            <a:endParaRPr lang="en-US" sz="900" dirty="0"/>
          </a:p>
        </p:txBody>
      </p:sp>
      <p:sp>
        <p:nvSpPr>
          <p:cNvPr id="9" name="Shape 7"/>
          <p:cNvSpPr/>
          <p:nvPr/>
        </p:nvSpPr>
        <p:spPr>
          <a:xfrm>
            <a:off x="365760" y="2331720"/>
            <a:ext cx="2743200" cy="868680"/>
          </a:xfrm>
          <a:prstGeom prst="roundRect">
            <a:avLst>
              <a:gd name="adj" fmla="val 10526"/>
            </a:avLst>
          </a:prstGeom>
          <a:solidFill>
            <a:srgbClr val="0B1C3F"/>
          </a:solidFill>
          <a:ln/>
          <a:effectLst>
            <a:outerShdw blurRad="101600" dist="25400" dir="2700000" algn="bl" rotWithShape="0">
              <a:srgbClr val="000000">
                <a:alpha val="18000"/>
              </a:srgbClr>
            </a:outerShdw>
          </a:effectLst>
        </p:spPr>
      </p:sp>
      <p:sp>
        <p:nvSpPr>
          <p:cNvPr id="10" name="Text 8"/>
          <p:cNvSpPr/>
          <p:nvPr/>
        </p:nvSpPr>
        <p:spPr>
          <a:xfrm>
            <a:off x="365760" y="2423160"/>
            <a:ext cx="2743200" cy="548640"/>
          </a:xfrm>
          <a:prstGeom prst="rect">
            <a:avLst/>
          </a:prstGeom>
          <a:noFill/>
          <a:ln/>
        </p:spPr>
        <p:txBody>
          <a:bodyPr wrap="square" lIns="0" tIns="0" rIns="0" bIns="0"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YOLOv11</a:t>
            </a:r>
            <a:endParaRPr lang="en-US" sz="3200" dirty="0"/>
          </a:p>
        </p:txBody>
      </p:sp>
      <p:sp>
        <p:nvSpPr>
          <p:cNvPr id="11" name="Text 9"/>
          <p:cNvSpPr/>
          <p:nvPr/>
        </p:nvSpPr>
        <p:spPr>
          <a:xfrm>
            <a:off x="365760" y="2971800"/>
            <a:ext cx="2743200" cy="320040"/>
          </a:xfrm>
          <a:prstGeom prst="rect">
            <a:avLst/>
          </a:prstGeom>
          <a:noFill/>
          <a:ln/>
        </p:spPr>
        <p:txBody>
          <a:bodyPr wrap="square" lIns="0" tIns="0" rIns="0" bIns="0" rtlCol="0" anchor="ctr"/>
          <a:lstStyle/>
          <a:p>
            <a:pPr marL="0" indent="0" algn="ctr">
              <a:buNone/>
            </a:pPr>
            <a:r>
              <a:rPr lang="en-US" sz="900" dirty="0">
                <a:solidFill>
                  <a:srgbClr val="14B8A6"/>
                </a:solidFill>
              </a:rPr>
              <a:t>Architecture</a:t>
            </a:r>
            <a:endParaRPr lang="en-US" sz="900" dirty="0"/>
          </a:p>
        </p:txBody>
      </p:sp>
      <p:sp>
        <p:nvSpPr>
          <p:cNvPr id="12" name="Shape 10"/>
          <p:cNvSpPr/>
          <p:nvPr/>
        </p:nvSpPr>
        <p:spPr>
          <a:xfrm>
            <a:off x="3383280" y="1005840"/>
            <a:ext cx="5394960" cy="3749040"/>
          </a:xfrm>
          <a:prstGeom prst="roundRect">
            <a:avLst>
              <a:gd name="adj" fmla="val 2439"/>
            </a:avLst>
          </a:prstGeom>
          <a:solidFill>
            <a:srgbClr val="0E2140"/>
          </a:solidFill>
          <a:ln/>
          <a:effectLst>
            <a:outerShdw blurRad="127000" dist="25400" dir="2700000" algn="bl" rotWithShape="0">
              <a:srgbClr val="000000">
                <a:alpha val="12000"/>
              </a:srgbClr>
            </a:outerShdw>
          </a:effectLst>
        </p:spPr>
      </p:sp>
      <p:sp>
        <p:nvSpPr>
          <p:cNvPr id="13" name="Text 11"/>
          <p:cNvSpPr/>
          <p:nvPr/>
        </p:nvSpPr>
        <p:spPr>
          <a:xfrm>
            <a:off x="3566160" y="1097280"/>
            <a:ext cx="502920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Model Overview</a:t>
            </a:r>
            <a:endParaRPr lang="en-US" sz="1400" dirty="0"/>
          </a:p>
        </p:txBody>
      </p:sp>
      <p:sp>
        <p:nvSpPr>
          <p:cNvPr id="14" name="Text 12"/>
          <p:cNvSpPr/>
          <p:nvPr/>
        </p:nvSpPr>
        <p:spPr>
          <a:xfrm>
            <a:off x="3566160" y="1554480"/>
            <a:ext cx="5029200" cy="301752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Goal: Locate vehicle license plates accurately, even at high speeds or challenging angles</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Acts as the critical first step before OCR — tells the text-recognition engine exactly where to look</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Handles partial occlusion, motion blur, varying lighting conditions, and skewed angles</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Feeds directly into the License Plate OCR model (Model 03) in a sequential pipeline</a:t>
            </a:r>
            <a:endParaRPr lang="en-US" sz="1200" dirty="0"/>
          </a:p>
        </p:txBody>
      </p:sp>
      <p:sp>
        <p:nvSpPr>
          <p:cNvPr id="15" name="Shape 13"/>
          <p:cNvSpPr/>
          <p:nvPr/>
        </p:nvSpPr>
        <p:spPr>
          <a:xfrm>
            <a:off x="822960" y="3429000"/>
            <a:ext cx="1371600" cy="1371600"/>
          </a:xfrm>
          <a:prstGeom prst="line">
            <a:avLst/>
          </a:prstGeom>
          <a:solidFill>
            <a:srgbClr val="042F2E"/>
          </a:solidFill>
          <a:ln/>
        </p:spPr>
      </p:sp>
      <p:pic>
        <p:nvPicPr>
          <p:cNvPr id="16" name="Image 0" descr="preencoded.png"/>
          <p:cNvPicPr>
            <a:picLocks noChangeAspect="1"/>
          </p:cNvPicPr>
          <p:nvPr/>
        </p:nvPicPr>
        <p:blipFill>
          <a:blip r:embed="rId3"/>
          <a:stretch>
            <a:fillRect/>
          </a:stretch>
        </p:blipFill>
        <p:spPr>
          <a:xfrm>
            <a:off x="914400" y="3520440"/>
            <a:ext cx="1188720" cy="118872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4 · MODEL 03</a:t>
            </a:r>
            <a:endParaRPr lang="en-US" sz="900" dirty="0"/>
          </a:p>
        </p:txBody>
      </p:sp>
      <p:sp>
        <p:nvSpPr>
          <p:cNvPr id="4" name="Text 2"/>
          <p:cNvSpPr/>
          <p:nvPr/>
        </p:nvSpPr>
        <p:spPr>
          <a:xfrm>
            <a:off x="457200" y="201168"/>
            <a:ext cx="8229600" cy="548640"/>
          </a:xfrm>
          <a:prstGeom prst="rect">
            <a:avLst/>
          </a:prstGeom>
          <a:noFill/>
          <a:ln/>
        </p:spPr>
        <p:txBody>
          <a:bodyPr wrap="square" lIns="0" tIns="0" rIns="0" bIns="0" rtlCol="0" anchor="ctr"/>
          <a:lstStyle/>
          <a:p>
            <a:pPr marL="0" indent="0" algn="l">
              <a:buNone/>
            </a:pPr>
            <a:r>
              <a:rPr lang="en-US" sz="2800" b="1" dirty="0">
                <a:solidFill>
                  <a:srgbClr val="0B1C3F"/>
                </a:solidFill>
                <a:latin typeface="Cambria" pitchFamily="34" charset="0"/>
                <a:ea typeface="Cambria" pitchFamily="34" charset="-122"/>
                <a:cs typeface="Cambria" pitchFamily="34" charset="-120"/>
              </a:rPr>
              <a:t>License Plate Chars &amp; Numbers OCR</a:t>
            </a:r>
            <a:endParaRPr lang="en-US" sz="2800" dirty="0"/>
          </a:p>
        </p:txBody>
      </p:sp>
      <p:sp>
        <p:nvSpPr>
          <p:cNvPr id="5" name="Shape 3"/>
          <p:cNvSpPr/>
          <p:nvPr/>
        </p:nvSpPr>
        <p:spPr>
          <a:xfrm>
            <a:off x="457200" y="795528"/>
            <a:ext cx="1097280" cy="54864"/>
          </a:xfrm>
          <a:prstGeom prst="rect">
            <a:avLst/>
          </a:prstGeom>
          <a:solidFill>
            <a:srgbClr val="0D9488"/>
          </a:solidFill>
          <a:ln/>
        </p:spPr>
      </p:sp>
      <p:sp>
        <p:nvSpPr>
          <p:cNvPr id="6" name="Shape 4"/>
          <p:cNvSpPr/>
          <p:nvPr/>
        </p:nvSpPr>
        <p:spPr>
          <a:xfrm>
            <a:off x="365760" y="1005840"/>
            <a:ext cx="2743200" cy="1188720"/>
          </a:xfrm>
          <a:prstGeom prst="roundRect">
            <a:avLst>
              <a:gd name="adj" fmla="val 7692"/>
            </a:avLst>
          </a:prstGeom>
          <a:solidFill>
            <a:srgbClr val="0B1C3F"/>
          </a:solidFill>
          <a:ln/>
          <a:effectLst>
            <a:outerShdw blurRad="101600" dist="25400" dir="2700000" algn="bl" rotWithShape="0">
              <a:srgbClr val="000000">
                <a:alpha val="18000"/>
              </a:srgbClr>
            </a:outerShdw>
          </a:effectLst>
        </p:spPr>
      </p:sp>
      <p:sp>
        <p:nvSpPr>
          <p:cNvPr id="7" name="Text 5"/>
          <p:cNvSpPr/>
          <p:nvPr/>
        </p:nvSpPr>
        <p:spPr>
          <a:xfrm>
            <a:off x="365760" y="1097280"/>
            <a:ext cx="2743200" cy="548640"/>
          </a:xfrm>
          <a:prstGeom prst="rect">
            <a:avLst/>
          </a:prstGeom>
          <a:noFill/>
          <a:ln/>
        </p:spPr>
        <p:txBody>
          <a:bodyPr wrap="square" lIns="0" tIns="0" rIns="0" bIns="0" rtlCol="0" anchor="ctr"/>
          <a:lstStyle/>
          <a:p>
            <a:pPr marL="0" indent="0" algn="ctr">
              <a:buNone/>
            </a:pPr>
            <a:r>
              <a:rPr lang="en-US" sz="3200" b="1" dirty="0" smtClean="0">
                <a:solidFill>
                  <a:srgbClr val="FBBF24"/>
                </a:solidFill>
                <a:latin typeface="Cambria" pitchFamily="34" charset="0"/>
                <a:ea typeface="Cambria" pitchFamily="34" charset="-122"/>
                <a:cs typeface="Cambria" pitchFamily="34" charset="-120"/>
              </a:rPr>
              <a:t>98.2%</a:t>
            </a:r>
            <a:endParaRPr lang="en-US" sz="3200" dirty="0"/>
          </a:p>
        </p:txBody>
      </p:sp>
      <p:sp>
        <p:nvSpPr>
          <p:cNvPr id="8" name="Text 6"/>
          <p:cNvSpPr/>
          <p:nvPr/>
        </p:nvSpPr>
        <p:spPr>
          <a:xfrm>
            <a:off x="365760" y="1645920"/>
            <a:ext cx="2743200" cy="320040"/>
          </a:xfrm>
          <a:prstGeom prst="rect">
            <a:avLst/>
          </a:prstGeom>
          <a:noFill/>
          <a:ln/>
        </p:spPr>
        <p:txBody>
          <a:bodyPr wrap="square" lIns="0" tIns="0" rIns="0" bIns="0" rtlCol="0" anchor="ctr"/>
          <a:lstStyle/>
          <a:p>
            <a:pPr marL="0" indent="0" algn="ctr">
              <a:buNone/>
            </a:pPr>
            <a:r>
              <a:rPr lang="en-US" sz="900" dirty="0">
                <a:solidFill>
                  <a:srgbClr val="14B8A6"/>
                </a:solidFill>
              </a:rPr>
              <a:t>mAP@0.5</a:t>
            </a:r>
            <a:endParaRPr lang="en-US" sz="900" dirty="0"/>
          </a:p>
        </p:txBody>
      </p:sp>
      <p:sp>
        <p:nvSpPr>
          <p:cNvPr id="9" name="Shape 7"/>
          <p:cNvSpPr/>
          <p:nvPr/>
        </p:nvSpPr>
        <p:spPr>
          <a:xfrm>
            <a:off x="365760" y="2331720"/>
            <a:ext cx="2743200" cy="868680"/>
          </a:xfrm>
          <a:prstGeom prst="roundRect">
            <a:avLst>
              <a:gd name="adj" fmla="val 10526"/>
            </a:avLst>
          </a:prstGeom>
          <a:solidFill>
            <a:srgbClr val="0B1C3F"/>
          </a:solidFill>
          <a:ln/>
          <a:effectLst>
            <a:outerShdw blurRad="101600" dist="25400" dir="2700000" algn="bl" rotWithShape="0">
              <a:srgbClr val="000000">
                <a:alpha val="18000"/>
              </a:srgbClr>
            </a:outerShdw>
          </a:effectLst>
        </p:spPr>
      </p:sp>
      <p:sp>
        <p:nvSpPr>
          <p:cNvPr id="10" name="Text 8"/>
          <p:cNvSpPr/>
          <p:nvPr/>
        </p:nvSpPr>
        <p:spPr>
          <a:xfrm>
            <a:off x="365760" y="2423160"/>
            <a:ext cx="2743200" cy="548640"/>
          </a:xfrm>
          <a:prstGeom prst="rect">
            <a:avLst/>
          </a:prstGeom>
          <a:noFill/>
          <a:ln/>
        </p:spPr>
        <p:txBody>
          <a:bodyPr wrap="square" lIns="0" tIns="0" rIns="0" bIns="0"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YOLOv12</a:t>
            </a:r>
            <a:endParaRPr lang="en-US" sz="3200" dirty="0"/>
          </a:p>
        </p:txBody>
      </p:sp>
      <p:sp>
        <p:nvSpPr>
          <p:cNvPr id="11" name="Text 9"/>
          <p:cNvSpPr/>
          <p:nvPr/>
        </p:nvSpPr>
        <p:spPr>
          <a:xfrm>
            <a:off x="365760" y="2971800"/>
            <a:ext cx="2743200" cy="320040"/>
          </a:xfrm>
          <a:prstGeom prst="rect">
            <a:avLst/>
          </a:prstGeom>
          <a:noFill/>
          <a:ln/>
        </p:spPr>
        <p:txBody>
          <a:bodyPr wrap="square" lIns="0" tIns="0" rIns="0" bIns="0" rtlCol="0" anchor="ctr"/>
          <a:lstStyle/>
          <a:p>
            <a:pPr marL="0" indent="0" algn="ctr">
              <a:buNone/>
            </a:pPr>
            <a:r>
              <a:rPr lang="en-US" sz="900" dirty="0">
                <a:solidFill>
                  <a:srgbClr val="14B8A6"/>
                </a:solidFill>
              </a:rPr>
              <a:t>Architecture</a:t>
            </a:r>
            <a:endParaRPr lang="en-US" sz="900" dirty="0"/>
          </a:p>
        </p:txBody>
      </p:sp>
      <p:sp>
        <p:nvSpPr>
          <p:cNvPr id="12" name="Shape 10"/>
          <p:cNvSpPr/>
          <p:nvPr/>
        </p:nvSpPr>
        <p:spPr>
          <a:xfrm>
            <a:off x="3383280" y="1005840"/>
            <a:ext cx="5394960" cy="3749040"/>
          </a:xfrm>
          <a:prstGeom prst="roundRect">
            <a:avLst>
              <a:gd name="adj" fmla="val 2439"/>
            </a:avLst>
          </a:prstGeom>
          <a:solidFill>
            <a:srgbClr val="FFFFFF"/>
          </a:solidFill>
          <a:ln/>
          <a:effectLst>
            <a:outerShdw blurRad="127000" dist="25400" dir="2700000" algn="bl" rotWithShape="0">
              <a:srgbClr val="000000">
                <a:alpha val="12000"/>
              </a:srgbClr>
            </a:outerShdw>
          </a:effectLst>
        </p:spPr>
      </p:sp>
      <p:sp>
        <p:nvSpPr>
          <p:cNvPr id="13" name="Text 11"/>
          <p:cNvSpPr/>
          <p:nvPr/>
        </p:nvSpPr>
        <p:spPr>
          <a:xfrm>
            <a:off x="3566160" y="1097280"/>
            <a:ext cx="5029200" cy="365760"/>
          </a:xfrm>
          <a:prstGeom prst="rect">
            <a:avLst/>
          </a:prstGeom>
          <a:noFill/>
          <a:ln/>
        </p:spPr>
        <p:txBody>
          <a:bodyPr wrap="square" lIns="0" tIns="0" rIns="0" bIns="0" rtlCol="0" anchor="ctr"/>
          <a:lstStyle/>
          <a:p>
            <a:pPr marL="0" indent="0">
              <a:buNone/>
            </a:pPr>
            <a:r>
              <a:rPr lang="en-US" sz="1400" b="1" dirty="0">
                <a:solidFill>
                  <a:srgbClr val="0B1C3F"/>
                </a:solidFill>
                <a:latin typeface="Cambria" pitchFamily="34" charset="0"/>
                <a:ea typeface="Cambria" pitchFamily="34" charset="-122"/>
                <a:cs typeface="Cambria" pitchFamily="34" charset="-120"/>
              </a:rPr>
              <a:t>Model Overview</a:t>
            </a:r>
            <a:endParaRPr lang="en-US" sz="1400" dirty="0"/>
          </a:p>
        </p:txBody>
      </p:sp>
      <p:sp>
        <p:nvSpPr>
          <p:cNvPr id="14" name="Text 12"/>
          <p:cNvSpPr/>
          <p:nvPr/>
        </p:nvSpPr>
        <p:spPr>
          <a:xfrm>
            <a:off x="3566160" y="1554480"/>
            <a:ext cx="5029200" cy="301752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Goal: Extract the exact alphanumeric characters from the detected license plate</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98.3% accuracy enables reliable logging of tolling data and tracking of stolen vehicles</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Enables automated citation issuance for traffic violations without human review</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Operates in a two-stage pipeline: plate localization → character recognition</a:t>
            </a:r>
            <a:endParaRPr lang="en-US" sz="1200" dirty="0"/>
          </a:p>
        </p:txBody>
      </p:sp>
      <p:sp>
        <p:nvSpPr>
          <p:cNvPr id="15" name="Shape 13"/>
          <p:cNvSpPr/>
          <p:nvPr/>
        </p:nvSpPr>
        <p:spPr>
          <a:xfrm>
            <a:off x="457200" y="3383280"/>
            <a:ext cx="2560320" cy="1005840"/>
          </a:xfrm>
          <a:prstGeom prst="roundRect">
            <a:avLst>
              <a:gd name="adj" fmla="val 9091"/>
            </a:avLst>
          </a:prstGeom>
          <a:solidFill>
            <a:srgbClr val="0B1C3F"/>
          </a:solidFill>
          <a:ln/>
        </p:spPr>
      </p:sp>
      <p:sp>
        <p:nvSpPr>
          <p:cNvPr id="16" name="Text 14"/>
          <p:cNvSpPr/>
          <p:nvPr/>
        </p:nvSpPr>
        <p:spPr>
          <a:xfrm>
            <a:off x="457200" y="3383280"/>
            <a:ext cx="2560320" cy="1005840"/>
          </a:xfrm>
          <a:prstGeom prst="rect">
            <a:avLst/>
          </a:prstGeom>
          <a:noFill/>
          <a:ln/>
        </p:spPr>
        <p:txBody>
          <a:bodyPr wrap="square" lIns="0" tIns="0" rIns="0" bIns="0" rtlCol="0" anchor="ctr"/>
          <a:lstStyle/>
          <a:p>
            <a:pPr marL="0" indent="0" algn="ctr">
              <a:buNone/>
            </a:pPr>
            <a:r>
              <a:rPr lang="en-US" sz="2600" b="1" dirty="0">
                <a:solidFill>
                  <a:srgbClr val="FBBF24"/>
                </a:solidFill>
                <a:latin typeface="Cambria" pitchFamily="34" charset="0"/>
                <a:ea typeface="Cambria" pitchFamily="34" charset="-122"/>
                <a:cs typeface="Cambria" pitchFamily="34" charset="-120"/>
              </a:rPr>
              <a:t>ABC 1234</a:t>
            </a:r>
            <a:endParaRPr lang="en-US" sz="26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4 · MODEL 04</a:t>
            </a:r>
            <a:endParaRPr lang="en-US" sz="900" dirty="0"/>
          </a:p>
        </p:txBody>
      </p:sp>
      <p:sp>
        <p:nvSpPr>
          <p:cNvPr id="4" name="Text 2"/>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Traffic Signs Detection &amp; OCR</a:t>
            </a:r>
            <a:endParaRPr lang="en-US" sz="3000" dirty="0"/>
          </a:p>
        </p:txBody>
      </p:sp>
      <p:sp>
        <p:nvSpPr>
          <p:cNvPr id="5" name="Shape 3"/>
          <p:cNvSpPr/>
          <p:nvPr/>
        </p:nvSpPr>
        <p:spPr>
          <a:xfrm>
            <a:off x="457200" y="850392"/>
            <a:ext cx="1097280" cy="54864"/>
          </a:xfrm>
          <a:prstGeom prst="rect">
            <a:avLst/>
          </a:prstGeom>
          <a:solidFill>
            <a:srgbClr val="0D9488"/>
          </a:solidFill>
          <a:ln/>
        </p:spPr>
      </p:sp>
      <p:sp>
        <p:nvSpPr>
          <p:cNvPr id="6" name="Shape 4"/>
          <p:cNvSpPr/>
          <p:nvPr/>
        </p:nvSpPr>
        <p:spPr>
          <a:xfrm>
            <a:off x="365760" y="1005840"/>
            <a:ext cx="2743200" cy="1188720"/>
          </a:xfrm>
          <a:prstGeom prst="roundRect">
            <a:avLst>
              <a:gd name="adj" fmla="val 7692"/>
            </a:avLst>
          </a:prstGeom>
          <a:solidFill>
            <a:srgbClr val="0B1C3F"/>
          </a:solidFill>
          <a:ln/>
          <a:effectLst>
            <a:outerShdw blurRad="101600" dist="25400" dir="2700000" algn="bl" rotWithShape="0">
              <a:srgbClr val="000000">
                <a:alpha val="18000"/>
              </a:srgbClr>
            </a:outerShdw>
          </a:effectLst>
        </p:spPr>
      </p:sp>
      <p:sp>
        <p:nvSpPr>
          <p:cNvPr id="7" name="Text 5"/>
          <p:cNvSpPr/>
          <p:nvPr/>
        </p:nvSpPr>
        <p:spPr>
          <a:xfrm>
            <a:off x="365760" y="1097280"/>
            <a:ext cx="2743200" cy="548640"/>
          </a:xfrm>
          <a:prstGeom prst="rect">
            <a:avLst/>
          </a:prstGeom>
          <a:noFill/>
          <a:ln/>
        </p:spPr>
        <p:txBody>
          <a:bodyPr wrap="square" lIns="0" tIns="0" rIns="0" bIns="0"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98.4%</a:t>
            </a:r>
            <a:endParaRPr lang="en-US" sz="3200" dirty="0"/>
          </a:p>
        </p:txBody>
      </p:sp>
      <p:sp>
        <p:nvSpPr>
          <p:cNvPr id="8" name="Text 6"/>
          <p:cNvSpPr/>
          <p:nvPr/>
        </p:nvSpPr>
        <p:spPr>
          <a:xfrm>
            <a:off x="365760" y="1645920"/>
            <a:ext cx="2743200" cy="320040"/>
          </a:xfrm>
          <a:prstGeom prst="rect">
            <a:avLst/>
          </a:prstGeom>
          <a:noFill/>
          <a:ln/>
        </p:spPr>
        <p:txBody>
          <a:bodyPr wrap="square" lIns="0" tIns="0" rIns="0" bIns="0" rtlCol="0" anchor="ctr"/>
          <a:lstStyle/>
          <a:p>
            <a:pPr marL="0" indent="0" algn="ctr">
              <a:buNone/>
            </a:pPr>
            <a:r>
              <a:rPr lang="en-US" sz="900" dirty="0">
                <a:solidFill>
                  <a:srgbClr val="14B8A6"/>
                </a:solidFill>
              </a:rPr>
              <a:t>mAP@0.5</a:t>
            </a:r>
            <a:endParaRPr lang="en-US" sz="900" dirty="0"/>
          </a:p>
        </p:txBody>
      </p:sp>
      <p:sp>
        <p:nvSpPr>
          <p:cNvPr id="9" name="Shape 7"/>
          <p:cNvSpPr/>
          <p:nvPr/>
        </p:nvSpPr>
        <p:spPr>
          <a:xfrm>
            <a:off x="365760" y="2331720"/>
            <a:ext cx="2743200" cy="868680"/>
          </a:xfrm>
          <a:prstGeom prst="roundRect">
            <a:avLst>
              <a:gd name="adj" fmla="val 10526"/>
            </a:avLst>
          </a:prstGeom>
          <a:solidFill>
            <a:srgbClr val="0B1C3F"/>
          </a:solidFill>
          <a:ln/>
          <a:effectLst>
            <a:outerShdw blurRad="101600" dist="25400" dir="2700000" algn="bl" rotWithShape="0">
              <a:srgbClr val="000000">
                <a:alpha val="18000"/>
              </a:srgbClr>
            </a:outerShdw>
          </a:effectLst>
        </p:spPr>
      </p:sp>
      <p:sp>
        <p:nvSpPr>
          <p:cNvPr id="10" name="Text 8"/>
          <p:cNvSpPr/>
          <p:nvPr/>
        </p:nvSpPr>
        <p:spPr>
          <a:xfrm>
            <a:off x="365760" y="2423160"/>
            <a:ext cx="2743200" cy="548640"/>
          </a:xfrm>
          <a:prstGeom prst="rect">
            <a:avLst/>
          </a:prstGeom>
          <a:noFill/>
          <a:ln/>
        </p:spPr>
        <p:txBody>
          <a:bodyPr wrap="square" lIns="0" tIns="0" rIns="0" bIns="0"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YOLOv11</a:t>
            </a:r>
            <a:endParaRPr lang="en-US" sz="3200" dirty="0"/>
          </a:p>
        </p:txBody>
      </p:sp>
      <p:sp>
        <p:nvSpPr>
          <p:cNvPr id="11" name="Text 9"/>
          <p:cNvSpPr/>
          <p:nvPr/>
        </p:nvSpPr>
        <p:spPr>
          <a:xfrm>
            <a:off x="365760" y="2971800"/>
            <a:ext cx="2743200" cy="320040"/>
          </a:xfrm>
          <a:prstGeom prst="rect">
            <a:avLst/>
          </a:prstGeom>
          <a:noFill/>
          <a:ln/>
        </p:spPr>
        <p:txBody>
          <a:bodyPr wrap="square" lIns="0" tIns="0" rIns="0" bIns="0" rtlCol="0" anchor="ctr"/>
          <a:lstStyle/>
          <a:p>
            <a:pPr marL="0" indent="0" algn="ctr">
              <a:buNone/>
            </a:pPr>
            <a:r>
              <a:rPr lang="en-US" sz="900" dirty="0">
                <a:solidFill>
                  <a:srgbClr val="14B8A6"/>
                </a:solidFill>
              </a:rPr>
              <a:t>Architecture</a:t>
            </a:r>
            <a:endParaRPr lang="en-US" sz="900" dirty="0"/>
          </a:p>
        </p:txBody>
      </p:sp>
      <p:sp>
        <p:nvSpPr>
          <p:cNvPr id="12" name="Shape 10"/>
          <p:cNvSpPr/>
          <p:nvPr/>
        </p:nvSpPr>
        <p:spPr>
          <a:xfrm>
            <a:off x="3383280" y="1005840"/>
            <a:ext cx="5394960" cy="3749040"/>
          </a:xfrm>
          <a:prstGeom prst="roundRect">
            <a:avLst>
              <a:gd name="adj" fmla="val 2439"/>
            </a:avLst>
          </a:prstGeom>
          <a:solidFill>
            <a:srgbClr val="0E2140"/>
          </a:solidFill>
          <a:ln/>
          <a:effectLst>
            <a:outerShdw blurRad="127000" dist="25400" dir="2700000" algn="bl" rotWithShape="0">
              <a:srgbClr val="000000">
                <a:alpha val="12000"/>
              </a:srgbClr>
            </a:outerShdw>
          </a:effectLst>
        </p:spPr>
      </p:sp>
      <p:sp>
        <p:nvSpPr>
          <p:cNvPr id="13" name="Text 11"/>
          <p:cNvSpPr/>
          <p:nvPr/>
        </p:nvSpPr>
        <p:spPr>
          <a:xfrm>
            <a:off x="3566160" y="1097280"/>
            <a:ext cx="502920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Model Overview</a:t>
            </a:r>
            <a:endParaRPr lang="en-US" sz="1400" dirty="0"/>
          </a:p>
        </p:txBody>
      </p:sp>
      <p:sp>
        <p:nvSpPr>
          <p:cNvPr id="14" name="Text 12"/>
          <p:cNvSpPr/>
          <p:nvPr/>
        </p:nvSpPr>
        <p:spPr>
          <a:xfrm>
            <a:off x="3566160" y="1554480"/>
            <a:ext cx="5029200" cy="301752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Goal: Read and understand road infrastructure signs in real time</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Accurately identifies speed limits, stop signs, and warning notices at road surveying speed</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Provides vital context for autonomous vehicle mapping and road condition databases</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OCR component extracts posted speed limits and regulatory text from detected signs</a:t>
            </a:r>
            <a:endParaRPr lang="en-US" sz="1200" dirty="0"/>
          </a:p>
        </p:txBody>
      </p:sp>
      <p:sp>
        <p:nvSpPr>
          <p:cNvPr id="15" name="Shape 13"/>
          <p:cNvSpPr/>
          <p:nvPr/>
        </p:nvSpPr>
        <p:spPr>
          <a:xfrm>
            <a:off x="502920" y="3383280"/>
            <a:ext cx="2468880" cy="1005840"/>
          </a:xfrm>
          <a:prstGeom prst="rect">
            <a:avLst/>
          </a:prstGeom>
          <a:solidFill>
            <a:srgbClr val="EF4444"/>
          </a:solidFill>
          <a:ln/>
        </p:spPr>
      </p:sp>
      <p:sp>
        <p:nvSpPr>
          <p:cNvPr id="16" name="Text 14"/>
          <p:cNvSpPr/>
          <p:nvPr/>
        </p:nvSpPr>
        <p:spPr>
          <a:xfrm>
            <a:off x="502920" y="3383280"/>
            <a:ext cx="2468880" cy="100584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STOP</a:t>
            </a:r>
            <a:endParaRPr lang="en-US" sz="30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4 · MODEL 05</a:t>
            </a:r>
            <a:endParaRPr lang="en-US" sz="900" dirty="0"/>
          </a:p>
        </p:txBody>
      </p:sp>
      <p:sp>
        <p:nvSpPr>
          <p:cNvPr id="4" name="Text 2"/>
          <p:cNvSpPr/>
          <p:nvPr/>
        </p:nvSpPr>
        <p:spPr>
          <a:xfrm>
            <a:off x="457200" y="201168"/>
            <a:ext cx="8229600" cy="548640"/>
          </a:xfrm>
          <a:prstGeom prst="rect">
            <a:avLst/>
          </a:prstGeom>
          <a:noFill/>
          <a:ln/>
        </p:spPr>
        <p:txBody>
          <a:bodyPr wrap="square" lIns="0" tIns="0" rIns="0" bIns="0" rtlCol="0" anchor="ctr"/>
          <a:lstStyle/>
          <a:p>
            <a:pPr marL="0" indent="0" algn="l">
              <a:buNone/>
            </a:pPr>
            <a:r>
              <a:rPr lang="en-US" sz="2800" b="1" dirty="0">
                <a:solidFill>
                  <a:srgbClr val="0B1C3F"/>
                </a:solidFill>
                <a:latin typeface="Cambria" pitchFamily="34" charset="0"/>
                <a:ea typeface="Cambria" pitchFamily="34" charset="-122"/>
                <a:cs typeface="Cambria" pitchFamily="34" charset="-120"/>
              </a:rPr>
              <a:t>Vehicle Detection &amp; Tracking</a:t>
            </a:r>
            <a:endParaRPr lang="en-US" sz="2800" dirty="0"/>
          </a:p>
        </p:txBody>
      </p:sp>
      <p:sp>
        <p:nvSpPr>
          <p:cNvPr id="5" name="Shape 3"/>
          <p:cNvSpPr/>
          <p:nvPr/>
        </p:nvSpPr>
        <p:spPr>
          <a:xfrm>
            <a:off x="457200" y="795528"/>
            <a:ext cx="1097280" cy="54864"/>
          </a:xfrm>
          <a:prstGeom prst="rect">
            <a:avLst/>
          </a:prstGeom>
          <a:solidFill>
            <a:srgbClr val="0D9488"/>
          </a:solidFill>
          <a:ln/>
        </p:spPr>
      </p:sp>
      <p:sp>
        <p:nvSpPr>
          <p:cNvPr id="6" name="Shape 4"/>
          <p:cNvSpPr/>
          <p:nvPr/>
        </p:nvSpPr>
        <p:spPr>
          <a:xfrm>
            <a:off x="365760" y="1005840"/>
            <a:ext cx="2743200" cy="1188720"/>
          </a:xfrm>
          <a:prstGeom prst="roundRect">
            <a:avLst>
              <a:gd name="adj" fmla="val 7692"/>
            </a:avLst>
          </a:prstGeom>
          <a:solidFill>
            <a:srgbClr val="0B1C3F"/>
          </a:solidFill>
          <a:ln/>
          <a:effectLst>
            <a:outerShdw blurRad="101600" dist="25400" dir="2700000" algn="bl" rotWithShape="0">
              <a:srgbClr val="000000">
                <a:alpha val="18000"/>
              </a:srgbClr>
            </a:outerShdw>
          </a:effectLst>
        </p:spPr>
      </p:sp>
      <p:sp>
        <p:nvSpPr>
          <p:cNvPr id="7" name="Text 5"/>
          <p:cNvSpPr/>
          <p:nvPr/>
        </p:nvSpPr>
        <p:spPr>
          <a:xfrm>
            <a:off x="365760" y="1097280"/>
            <a:ext cx="2743200" cy="548640"/>
          </a:xfrm>
          <a:prstGeom prst="rect">
            <a:avLst/>
          </a:prstGeom>
          <a:noFill/>
          <a:ln/>
        </p:spPr>
        <p:txBody>
          <a:bodyPr wrap="square" lIns="0" tIns="0" rIns="0" bIns="0"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97.4%</a:t>
            </a:r>
            <a:endParaRPr lang="en-US" sz="3200" dirty="0"/>
          </a:p>
        </p:txBody>
      </p:sp>
      <p:sp>
        <p:nvSpPr>
          <p:cNvPr id="8" name="Text 6"/>
          <p:cNvSpPr/>
          <p:nvPr/>
        </p:nvSpPr>
        <p:spPr>
          <a:xfrm>
            <a:off x="365760" y="1645920"/>
            <a:ext cx="2743200" cy="320040"/>
          </a:xfrm>
          <a:prstGeom prst="rect">
            <a:avLst/>
          </a:prstGeom>
          <a:noFill/>
          <a:ln/>
        </p:spPr>
        <p:txBody>
          <a:bodyPr wrap="square" lIns="0" tIns="0" rIns="0" bIns="0" rtlCol="0" anchor="ctr"/>
          <a:lstStyle/>
          <a:p>
            <a:pPr marL="0" indent="0" algn="ctr">
              <a:buNone/>
            </a:pPr>
            <a:r>
              <a:rPr lang="en-US" sz="900" dirty="0">
                <a:solidFill>
                  <a:srgbClr val="14B8A6"/>
                </a:solidFill>
              </a:rPr>
              <a:t>mAP@0.5</a:t>
            </a:r>
            <a:endParaRPr lang="en-US" sz="900" dirty="0"/>
          </a:p>
        </p:txBody>
      </p:sp>
      <p:sp>
        <p:nvSpPr>
          <p:cNvPr id="9" name="Shape 7"/>
          <p:cNvSpPr/>
          <p:nvPr/>
        </p:nvSpPr>
        <p:spPr>
          <a:xfrm>
            <a:off x="365760" y="2331720"/>
            <a:ext cx="2743200" cy="868680"/>
          </a:xfrm>
          <a:prstGeom prst="roundRect">
            <a:avLst>
              <a:gd name="adj" fmla="val 10526"/>
            </a:avLst>
          </a:prstGeom>
          <a:solidFill>
            <a:srgbClr val="0B1C3F"/>
          </a:solidFill>
          <a:ln/>
          <a:effectLst>
            <a:outerShdw blurRad="101600" dist="25400" dir="2700000" algn="bl" rotWithShape="0">
              <a:srgbClr val="000000">
                <a:alpha val="18000"/>
              </a:srgbClr>
            </a:outerShdw>
          </a:effectLst>
        </p:spPr>
      </p:sp>
      <p:sp>
        <p:nvSpPr>
          <p:cNvPr id="10" name="Text 8"/>
          <p:cNvSpPr/>
          <p:nvPr/>
        </p:nvSpPr>
        <p:spPr>
          <a:xfrm>
            <a:off x="365760" y="2423160"/>
            <a:ext cx="2743200" cy="548640"/>
          </a:xfrm>
          <a:prstGeom prst="rect">
            <a:avLst/>
          </a:prstGeom>
          <a:noFill/>
          <a:ln/>
        </p:spPr>
        <p:txBody>
          <a:bodyPr wrap="square" lIns="0" tIns="0" rIns="0" bIns="0"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YOLOv11</a:t>
            </a:r>
            <a:endParaRPr lang="en-US" sz="3200" dirty="0"/>
          </a:p>
        </p:txBody>
      </p:sp>
      <p:sp>
        <p:nvSpPr>
          <p:cNvPr id="11" name="Text 9"/>
          <p:cNvSpPr/>
          <p:nvPr/>
        </p:nvSpPr>
        <p:spPr>
          <a:xfrm>
            <a:off x="365760" y="2971800"/>
            <a:ext cx="2743200" cy="320040"/>
          </a:xfrm>
          <a:prstGeom prst="rect">
            <a:avLst/>
          </a:prstGeom>
          <a:noFill/>
          <a:ln/>
        </p:spPr>
        <p:txBody>
          <a:bodyPr wrap="square" lIns="0" tIns="0" rIns="0" bIns="0" rtlCol="0" anchor="ctr"/>
          <a:lstStyle/>
          <a:p>
            <a:pPr marL="0" indent="0" algn="ctr">
              <a:buNone/>
            </a:pPr>
            <a:r>
              <a:rPr lang="en-US" sz="900" dirty="0">
                <a:solidFill>
                  <a:srgbClr val="14B8A6"/>
                </a:solidFill>
              </a:rPr>
              <a:t>Architecture</a:t>
            </a:r>
            <a:endParaRPr lang="en-US" sz="900" dirty="0"/>
          </a:p>
        </p:txBody>
      </p:sp>
      <p:sp>
        <p:nvSpPr>
          <p:cNvPr id="12" name="Shape 10"/>
          <p:cNvSpPr/>
          <p:nvPr/>
        </p:nvSpPr>
        <p:spPr>
          <a:xfrm>
            <a:off x="3383280" y="1005840"/>
            <a:ext cx="5394960" cy="3749040"/>
          </a:xfrm>
          <a:prstGeom prst="roundRect">
            <a:avLst>
              <a:gd name="adj" fmla="val 2439"/>
            </a:avLst>
          </a:prstGeom>
          <a:solidFill>
            <a:srgbClr val="FFFFFF"/>
          </a:solidFill>
          <a:ln/>
          <a:effectLst>
            <a:outerShdw blurRad="127000" dist="25400" dir="2700000" algn="bl" rotWithShape="0">
              <a:srgbClr val="000000">
                <a:alpha val="12000"/>
              </a:srgbClr>
            </a:outerShdw>
          </a:effectLst>
        </p:spPr>
      </p:sp>
      <p:sp>
        <p:nvSpPr>
          <p:cNvPr id="13" name="Text 11"/>
          <p:cNvSpPr/>
          <p:nvPr/>
        </p:nvSpPr>
        <p:spPr>
          <a:xfrm>
            <a:off x="3566160" y="1097280"/>
            <a:ext cx="5029200" cy="365760"/>
          </a:xfrm>
          <a:prstGeom prst="rect">
            <a:avLst/>
          </a:prstGeom>
          <a:noFill/>
          <a:ln/>
        </p:spPr>
        <p:txBody>
          <a:bodyPr wrap="square" lIns="0" tIns="0" rIns="0" bIns="0" rtlCol="0" anchor="ctr"/>
          <a:lstStyle/>
          <a:p>
            <a:pPr marL="0" indent="0">
              <a:buNone/>
            </a:pPr>
            <a:r>
              <a:rPr lang="en-US" sz="1400" b="1" dirty="0">
                <a:solidFill>
                  <a:srgbClr val="0B1C3F"/>
                </a:solidFill>
                <a:latin typeface="Cambria" pitchFamily="34" charset="0"/>
                <a:ea typeface="Cambria" pitchFamily="34" charset="-122"/>
                <a:cs typeface="Cambria" pitchFamily="34" charset="-120"/>
              </a:rPr>
              <a:t>Model Overview</a:t>
            </a:r>
            <a:endParaRPr lang="en-US" sz="1400" dirty="0"/>
          </a:p>
        </p:txBody>
      </p:sp>
      <p:sp>
        <p:nvSpPr>
          <p:cNvPr id="14" name="Text 12"/>
          <p:cNvSpPr/>
          <p:nvPr/>
        </p:nvSpPr>
        <p:spPr>
          <a:xfrm>
            <a:off x="3566160" y="1554480"/>
            <a:ext cx="5029200" cy="301752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Goal: Identify and classify different types of vehicles — cars, trucks, buses, motorcycles</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Essential for traffic flow analysis and real-time congestion monitoring</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Calculates road wear-and-tear based on heavy vehicle density over time</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Enables city planners to optimize lane allocation and signal timing dynamically</a:t>
            </a:r>
            <a:endParaRPr lang="en-US" sz="1200" dirty="0"/>
          </a:p>
        </p:txBody>
      </p:sp>
      <p:sp>
        <p:nvSpPr>
          <p:cNvPr id="15" name="Shape 13"/>
          <p:cNvSpPr/>
          <p:nvPr/>
        </p:nvSpPr>
        <p:spPr>
          <a:xfrm>
            <a:off x="384048" y="3383280"/>
            <a:ext cx="1280160" cy="384048"/>
          </a:xfrm>
          <a:prstGeom prst="roundRect">
            <a:avLst>
              <a:gd name="adj" fmla="val 14286"/>
            </a:avLst>
          </a:prstGeom>
          <a:solidFill>
            <a:srgbClr val="0B1C3F"/>
          </a:solidFill>
          <a:ln/>
        </p:spPr>
      </p:sp>
      <p:sp>
        <p:nvSpPr>
          <p:cNvPr id="16" name="Text 14"/>
          <p:cNvSpPr/>
          <p:nvPr/>
        </p:nvSpPr>
        <p:spPr>
          <a:xfrm>
            <a:off x="384048" y="3383280"/>
            <a:ext cx="1280160" cy="384048"/>
          </a:xfrm>
          <a:prstGeom prst="rect">
            <a:avLst/>
          </a:prstGeom>
          <a:noFill/>
          <a:ln/>
        </p:spPr>
        <p:txBody>
          <a:bodyPr wrap="square" lIns="0" tIns="0" rIns="0" bIns="0" rtlCol="0" anchor="ctr"/>
          <a:lstStyle/>
          <a:p>
            <a:pPr marL="0" indent="0" algn="ctr">
              <a:buNone/>
            </a:pPr>
            <a:r>
              <a:rPr lang="en-US" sz="1100" b="1" dirty="0">
                <a:solidFill>
                  <a:srgbClr val="FFFFFF"/>
                </a:solidFill>
              </a:rPr>
              <a:t>Car</a:t>
            </a:r>
            <a:endParaRPr lang="en-US" sz="1100" dirty="0"/>
          </a:p>
        </p:txBody>
      </p:sp>
      <p:sp>
        <p:nvSpPr>
          <p:cNvPr id="17" name="Shape 15"/>
          <p:cNvSpPr/>
          <p:nvPr/>
        </p:nvSpPr>
        <p:spPr>
          <a:xfrm>
            <a:off x="1801368" y="3383280"/>
            <a:ext cx="1280160" cy="384048"/>
          </a:xfrm>
          <a:prstGeom prst="roundRect">
            <a:avLst>
              <a:gd name="adj" fmla="val 14286"/>
            </a:avLst>
          </a:prstGeom>
          <a:solidFill>
            <a:srgbClr val="0B1C3F"/>
          </a:solidFill>
          <a:ln/>
        </p:spPr>
      </p:sp>
      <p:sp>
        <p:nvSpPr>
          <p:cNvPr id="18" name="Text 16"/>
          <p:cNvSpPr/>
          <p:nvPr/>
        </p:nvSpPr>
        <p:spPr>
          <a:xfrm>
            <a:off x="1801368" y="3383280"/>
            <a:ext cx="1280160" cy="384048"/>
          </a:xfrm>
          <a:prstGeom prst="rect">
            <a:avLst/>
          </a:prstGeom>
          <a:noFill/>
          <a:ln/>
        </p:spPr>
        <p:txBody>
          <a:bodyPr wrap="square" lIns="0" tIns="0" rIns="0" bIns="0" rtlCol="0" anchor="ctr"/>
          <a:lstStyle/>
          <a:p>
            <a:pPr marL="0" indent="0" algn="ctr">
              <a:buNone/>
            </a:pPr>
            <a:r>
              <a:rPr lang="en-US" sz="1100" b="1" dirty="0">
                <a:solidFill>
                  <a:srgbClr val="FFFFFF"/>
                </a:solidFill>
              </a:rPr>
              <a:t>Truck</a:t>
            </a:r>
            <a:endParaRPr lang="en-US" sz="1100" dirty="0"/>
          </a:p>
        </p:txBody>
      </p:sp>
      <p:sp>
        <p:nvSpPr>
          <p:cNvPr id="19" name="Shape 17"/>
          <p:cNvSpPr/>
          <p:nvPr/>
        </p:nvSpPr>
        <p:spPr>
          <a:xfrm>
            <a:off x="384048" y="3931920"/>
            <a:ext cx="1280160" cy="384048"/>
          </a:xfrm>
          <a:prstGeom prst="roundRect">
            <a:avLst>
              <a:gd name="adj" fmla="val 14286"/>
            </a:avLst>
          </a:prstGeom>
          <a:solidFill>
            <a:srgbClr val="0B1C3F"/>
          </a:solidFill>
          <a:ln/>
        </p:spPr>
      </p:sp>
      <p:sp>
        <p:nvSpPr>
          <p:cNvPr id="20" name="Text 18"/>
          <p:cNvSpPr/>
          <p:nvPr/>
        </p:nvSpPr>
        <p:spPr>
          <a:xfrm>
            <a:off x="384048" y="3931920"/>
            <a:ext cx="1280160" cy="384048"/>
          </a:xfrm>
          <a:prstGeom prst="rect">
            <a:avLst/>
          </a:prstGeom>
          <a:noFill/>
          <a:ln/>
        </p:spPr>
        <p:txBody>
          <a:bodyPr wrap="square" lIns="0" tIns="0" rIns="0" bIns="0" rtlCol="0" anchor="ctr"/>
          <a:lstStyle/>
          <a:p>
            <a:pPr marL="0" indent="0" algn="ctr">
              <a:buNone/>
            </a:pPr>
            <a:r>
              <a:rPr lang="en-US" sz="1100" b="1" dirty="0">
                <a:solidFill>
                  <a:srgbClr val="FFFFFF"/>
                </a:solidFill>
              </a:rPr>
              <a:t>Bus</a:t>
            </a:r>
            <a:endParaRPr lang="en-US" sz="1100" dirty="0"/>
          </a:p>
        </p:txBody>
      </p:sp>
      <p:sp>
        <p:nvSpPr>
          <p:cNvPr id="21" name="Shape 19"/>
          <p:cNvSpPr/>
          <p:nvPr/>
        </p:nvSpPr>
        <p:spPr>
          <a:xfrm>
            <a:off x="1801368" y="3931920"/>
            <a:ext cx="1280160" cy="384048"/>
          </a:xfrm>
          <a:prstGeom prst="roundRect">
            <a:avLst>
              <a:gd name="adj" fmla="val 14286"/>
            </a:avLst>
          </a:prstGeom>
          <a:solidFill>
            <a:srgbClr val="0B1C3F"/>
          </a:solidFill>
          <a:ln/>
        </p:spPr>
      </p:sp>
      <p:sp>
        <p:nvSpPr>
          <p:cNvPr id="22" name="Text 20"/>
          <p:cNvSpPr/>
          <p:nvPr/>
        </p:nvSpPr>
        <p:spPr>
          <a:xfrm>
            <a:off x="1801368" y="3931920"/>
            <a:ext cx="1280160" cy="384048"/>
          </a:xfrm>
          <a:prstGeom prst="rect">
            <a:avLst/>
          </a:prstGeom>
          <a:noFill/>
          <a:ln/>
        </p:spPr>
        <p:txBody>
          <a:bodyPr wrap="square" lIns="0" tIns="0" rIns="0" bIns="0" rtlCol="0" anchor="ctr"/>
          <a:lstStyle/>
          <a:p>
            <a:pPr marL="0" indent="0" algn="ctr">
              <a:buNone/>
            </a:pPr>
            <a:r>
              <a:rPr lang="en-US" sz="1100" b="1" dirty="0">
                <a:solidFill>
                  <a:srgbClr val="FFFFFF"/>
                </a:solidFill>
              </a:rPr>
              <a:t>Motorcycle</a:t>
            </a:r>
            <a:endParaRPr lang="en-US" sz="11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4 · MODEL 06</a:t>
            </a:r>
            <a:endParaRPr lang="en-US" sz="900" dirty="0"/>
          </a:p>
        </p:txBody>
      </p:sp>
      <p:sp>
        <p:nvSpPr>
          <p:cNvPr id="4" name="Text 2"/>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Fire &amp; Smoke Detection</a:t>
            </a:r>
            <a:endParaRPr lang="en-US" sz="3000" dirty="0"/>
          </a:p>
        </p:txBody>
      </p:sp>
      <p:sp>
        <p:nvSpPr>
          <p:cNvPr id="5" name="Shape 3"/>
          <p:cNvSpPr/>
          <p:nvPr/>
        </p:nvSpPr>
        <p:spPr>
          <a:xfrm>
            <a:off x="457200" y="850392"/>
            <a:ext cx="1097280" cy="54864"/>
          </a:xfrm>
          <a:prstGeom prst="rect">
            <a:avLst/>
          </a:prstGeom>
          <a:solidFill>
            <a:srgbClr val="0D9488"/>
          </a:solidFill>
          <a:ln/>
        </p:spPr>
      </p:sp>
      <p:sp>
        <p:nvSpPr>
          <p:cNvPr id="6" name="Shape 4"/>
          <p:cNvSpPr/>
          <p:nvPr/>
        </p:nvSpPr>
        <p:spPr>
          <a:xfrm>
            <a:off x="365760" y="1005840"/>
            <a:ext cx="2743200" cy="1188720"/>
          </a:xfrm>
          <a:prstGeom prst="roundRect">
            <a:avLst>
              <a:gd name="adj" fmla="val 7692"/>
            </a:avLst>
          </a:prstGeom>
          <a:solidFill>
            <a:srgbClr val="0B1C3F"/>
          </a:solidFill>
          <a:ln/>
          <a:effectLst>
            <a:outerShdw blurRad="101600" dist="25400" dir="2700000" algn="bl" rotWithShape="0">
              <a:srgbClr val="000000">
                <a:alpha val="18000"/>
              </a:srgbClr>
            </a:outerShdw>
          </a:effectLst>
        </p:spPr>
      </p:sp>
      <p:sp>
        <p:nvSpPr>
          <p:cNvPr id="7" name="Text 5"/>
          <p:cNvSpPr/>
          <p:nvPr/>
        </p:nvSpPr>
        <p:spPr>
          <a:xfrm>
            <a:off x="365760" y="1097280"/>
            <a:ext cx="2743200" cy="548640"/>
          </a:xfrm>
          <a:prstGeom prst="rect">
            <a:avLst/>
          </a:prstGeom>
          <a:noFill/>
          <a:ln/>
        </p:spPr>
        <p:txBody>
          <a:bodyPr wrap="square" lIns="0" tIns="0" rIns="0" bIns="0"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74.4%</a:t>
            </a:r>
            <a:endParaRPr lang="en-US" sz="3200" dirty="0"/>
          </a:p>
        </p:txBody>
      </p:sp>
      <p:sp>
        <p:nvSpPr>
          <p:cNvPr id="8" name="Text 6"/>
          <p:cNvSpPr/>
          <p:nvPr/>
        </p:nvSpPr>
        <p:spPr>
          <a:xfrm>
            <a:off x="365760" y="1645920"/>
            <a:ext cx="2743200" cy="320040"/>
          </a:xfrm>
          <a:prstGeom prst="rect">
            <a:avLst/>
          </a:prstGeom>
          <a:noFill/>
          <a:ln/>
        </p:spPr>
        <p:txBody>
          <a:bodyPr wrap="square" lIns="0" tIns="0" rIns="0" bIns="0" rtlCol="0" anchor="ctr"/>
          <a:lstStyle/>
          <a:p>
            <a:pPr marL="0" indent="0" algn="ctr">
              <a:buNone/>
            </a:pPr>
            <a:r>
              <a:rPr lang="en-US" sz="900" dirty="0">
                <a:solidFill>
                  <a:srgbClr val="14B8A6"/>
                </a:solidFill>
              </a:rPr>
              <a:t>mAP@0.5</a:t>
            </a:r>
            <a:endParaRPr lang="en-US" sz="900" dirty="0"/>
          </a:p>
        </p:txBody>
      </p:sp>
      <p:sp>
        <p:nvSpPr>
          <p:cNvPr id="9" name="Shape 7"/>
          <p:cNvSpPr/>
          <p:nvPr/>
        </p:nvSpPr>
        <p:spPr>
          <a:xfrm>
            <a:off x="365760" y="2331720"/>
            <a:ext cx="2743200" cy="868680"/>
          </a:xfrm>
          <a:prstGeom prst="roundRect">
            <a:avLst>
              <a:gd name="adj" fmla="val 10526"/>
            </a:avLst>
          </a:prstGeom>
          <a:solidFill>
            <a:srgbClr val="0B1C3F"/>
          </a:solidFill>
          <a:ln/>
          <a:effectLst>
            <a:outerShdw blurRad="101600" dist="25400" dir="2700000" algn="bl" rotWithShape="0">
              <a:srgbClr val="000000">
                <a:alpha val="18000"/>
              </a:srgbClr>
            </a:outerShdw>
          </a:effectLst>
        </p:spPr>
      </p:sp>
      <p:sp>
        <p:nvSpPr>
          <p:cNvPr id="10" name="Text 8"/>
          <p:cNvSpPr/>
          <p:nvPr/>
        </p:nvSpPr>
        <p:spPr>
          <a:xfrm>
            <a:off x="365760" y="2423160"/>
            <a:ext cx="2743200" cy="548640"/>
          </a:xfrm>
          <a:prstGeom prst="rect">
            <a:avLst/>
          </a:prstGeom>
          <a:noFill/>
          <a:ln/>
        </p:spPr>
        <p:txBody>
          <a:bodyPr wrap="square" lIns="0" tIns="0" rIns="0" bIns="0"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YOLOv11</a:t>
            </a:r>
            <a:endParaRPr lang="en-US" sz="3200" dirty="0"/>
          </a:p>
        </p:txBody>
      </p:sp>
      <p:sp>
        <p:nvSpPr>
          <p:cNvPr id="11" name="Text 9"/>
          <p:cNvSpPr/>
          <p:nvPr/>
        </p:nvSpPr>
        <p:spPr>
          <a:xfrm>
            <a:off x="365760" y="2971800"/>
            <a:ext cx="2743200" cy="320040"/>
          </a:xfrm>
          <a:prstGeom prst="rect">
            <a:avLst/>
          </a:prstGeom>
          <a:noFill/>
          <a:ln/>
        </p:spPr>
        <p:txBody>
          <a:bodyPr wrap="square" lIns="0" tIns="0" rIns="0" bIns="0" rtlCol="0" anchor="ctr"/>
          <a:lstStyle/>
          <a:p>
            <a:pPr marL="0" indent="0" algn="ctr">
              <a:buNone/>
            </a:pPr>
            <a:r>
              <a:rPr lang="en-US" sz="900" dirty="0">
                <a:solidFill>
                  <a:srgbClr val="14B8A6"/>
                </a:solidFill>
              </a:rPr>
              <a:t>Architecture</a:t>
            </a:r>
            <a:endParaRPr lang="en-US" sz="900" dirty="0"/>
          </a:p>
        </p:txBody>
      </p:sp>
      <p:sp>
        <p:nvSpPr>
          <p:cNvPr id="12" name="Shape 10"/>
          <p:cNvSpPr/>
          <p:nvPr/>
        </p:nvSpPr>
        <p:spPr>
          <a:xfrm>
            <a:off x="3383280" y="1005840"/>
            <a:ext cx="5394960" cy="3749040"/>
          </a:xfrm>
          <a:prstGeom prst="roundRect">
            <a:avLst>
              <a:gd name="adj" fmla="val 2439"/>
            </a:avLst>
          </a:prstGeom>
          <a:solidFill>
            <a:srgbClr val="0E2140"/>
          </a:solidFill>
          <a:ln/>
          <a:effectLst>
            <a:outerShdw blurRad="127000" dist="25400" dir="2700000" algn="bl" rotWithShape="0">
              <a:srgbClr val="000000">
                <a:alpha val="12000"/>
              </a:srgbClr>
            </a:outerShdw>
          </a:effectLst>
        </p:spPr>
      </p:sp>
      <p:sp>
        <p:nvSpPr>
          <p:cNvPr id="13" name="Text 11"/>
          <p:cNvSpPr/>
          <p:nvPr/>
        </p:nvSpPr>
        <p:spPr>
          <a:xfrm>
            <a:off x="3566160" y="1097280"/>
            <a:ext cx="502920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Model Overview</a:t>
            </a:r>
            <a:endParaRPr lang="en-US" sz="1400" dirty="0"/>
          </a:p>
        </p:txBody>
      </p:sp>
      <p:sp>
        <p:nvSpPr>
          <p:cNvPr id="14" name="Text 12"/>
          <p:cNvSpPr/>
          <p:nvPr/>
        </p:nvSpPr>
        <p:spPr>
          <a:xfrm>
            <a:off x="3566160" y="1554480"/>
            <a:ext cx="5029200" cy="301752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Goal: Detect early signs of vehicle fires, forest fires near highways, or environmental hazards</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74.4% accuracy is highly effective for raising early-warning alerts — every second saved reduces damage</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Inherently challenging: smoke is amorphous, changes shape, and varies in density and color</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Triggers automated operator notifications for rapid emergency intervention</a:t>
            </a:r>
            <a:endParaRPr lang="en-US" sz="1200" dirty="0"/>
          </a:p>
        </p:txBody>
      </p:sp>
      <p:sp>
        <p:nvSpPr>
          <p:cNvPr id="15" name="Shape 13"/>
          <p:cNvSpPr/>
          <p:nvPr/>
        </p:nvSpPr>
        <p:spPr>
          <a:xfrm>
            <a:off x="731520" y="3337560"/>
            <a:ext cx="1508760" cy="1508760"/>
          </a:xfrm>
          <a:prstGeom prst="line">
            <a:avLst/>
          </a:prstGeom>
          <a:solidFill>
            <a:srgbClr val="431407"/>
          </a:solidFill>
          <a:ln/>
        </p:spPr>
      </p:sp>
      <p:pic>
        <p:nvPicPr>
          <p:cNvPr id="16" name="Image 0" descr="preencoded.png"/>
          <p:cNvPicPr>
            <a:picLocks noChangeAspect="1"/>
          </p:cNvPicPr>
          <p:nvPr/>
        </p:nvPicPr>
        <p:blipFill>
          <a:blip r:embed="rId3"/>
          <a:stretch>
            <a:fillRect/>
          </a:stretch>
        </p:blipFill>
        <p:spPr>
          <a:xfrm>
            <a:off x="822960" y="3429000"/>
            <a:ext cx="1325880" cy="132588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4 · MODEL 07</a:t>
            </a:r>
            <a:endParaRPr lang="en-US" sz="900" dirty="0"/>
          </a:p>
        </p:txBody>
      </p:sp>
      <p:sp>
        <p:nvSpPr>
          <p:cNvPr id="4" name="Text 2"/>
          <p:cNvSpPr/>
          <p:nvPr/>
        </p:nvSpPr>
        <p:spPr>
          <a:xfrm>
            <a:off x="457200" y="201168"/>
            <a:ext cx="8229600" cy="548640"/>
          </a:xfrm>
          <a:prstGeom prst="rect">
            <a:avLst/>
          </a:prstGeom>
          <a:noFill/>
          <a:ln/>
        </p:spPr>
        <p:txBody>
          <a:bodyPr wrap="square" lIns="0" tIns="0" rIns="0" bIns="0" rtlCol="0" anchor="ctr"/>
          <a:lstStyle/>
          <a:p>
            <a:pPr marL="0" indent="0" algn="l">
              <a:buNone/>
            </a:pPr>
            <a:r>
              <a:rPr lang="en-US" sz="2800" b="1" dirty="0">
                <a:solidFill>
                  <a:srgbClr val="0B1C3F"/>
                </a:solidFill>
                <a:latin typeface="Cambria" pitchFamily="34" charset="0"/>
                <a:ea typeface="Cambria" pitchFamily="34" charset="-122"/>
                <a:cs typeface="Cambria" pitchFamily="34" charset="-120"/>
              </a:rPr>
              <a:t>Car Dashboard Elements Detection</a:t>
            </a:r>
            <a:endParaRPr lang="en-US" sz="2800" dirty="0"/>
          </a:p>
        </p:txBody>
      </p:sp>
      <p:sp>
        <p:nvSpPr>
          <p:cNvPr id="5" name="Shape 3"/>
          <p:cNvSpPr/>
          <p:nvPr/>
        </p:nvSpPr>
        <p:spPr>
          <a:xfrm>
            <a:off x="457200" y="795528"/>
            <a:ext cx="1097280" cy="54864"/>
          </a:xfrm>
          <a:prstGeom prst="rect">
            <a:avLst/>
          </a:prstGeom>
          <a:solidFill>
            <a:srgbClr val="0D9488"/>
          </a:solidFill>
          <a:ln/>
        </p:spPr>
      </p:sp>
      <p:sp>
        <p:nvSpPr>
          <p:cNvPr id="6" name="Shape 4"/>
          <p:cNvSpPr/>
          <p:nvPr/>
        </p:nvSpPr>
        <p:spPr>
          <a:xfrm>
            <a:off x="365760" y="1005840"/>
            <a:ext cx="2743200" cy="1188720"/>
          </a:xfrm>
          <a:prstGeom prst="roundRect">
            <a:avLst>
              <a:gd name="adj" fmla="val 7692"/>
            </a:avLst>
          </a:prstGeom>
          <a:solidFill>
            <a:srgbClr val="0B1C3F"/>
          </a:solidFill>
          <a:ln/>
          <a:effectLst>
            <a:outerShdw blurRad="101600" dist="25400" dir="2700000" algn="bl" rotWithShape="0">
              <a:srgbClr val="000000">
                <a:alpha val="18000"/>
              </a:srgbClr>
            </a:outerShdw>
          </a:effectLst>
        </p:spPr>
      </p:sp>
      <p:sp>
        <p:nvSpPr>
          <p:cNvPr id="7" name="Text 5"/>
          <p:cNvSpPr/>
          <p:nvPr/>
        </p:nvSpPr>
        <p:spPr>
          <a:xfrm>
            <a:off x="365760" y="1097280"/>
            <a:ext cx="2743200" cy="548640"/>
          </a:xfrm>
          <a:prstGeom prst="rect">
            <a:avLst/>
          </a:prstGeom>
          <a:noFill/>
          <a:ln/>
        </p:spPr>
        <p:txBody>
          <a:bodyPr wrap="square" lIns="0" tIns="0" rIns="0" bIns="0" rtlCol="0" anchor="ctr"/>
          <a:lstStyle/>
          <a:p>
            <a:pPr marL="0" indent="0" algn="ctr">
              <a:buNone/>
            </a:pPr>
            <a:r>
              <a:rPr lang="en-US" sz="3200" b="1" dirty="0" smtClean="0">
                <a:solidFill>
                  <a:srgbClr val="FBBF24"/>
                </a:solidFill>
                <a:latin typeface="Cambria" pitchFamily="34" charset="0"/>
                <a:ea typeface="Cambria" pitchFamily="34" charset="-122"/>
                <a:cs typeface="Cambria" pitchFamily="34" charset="-120"/>
              </a:rPr>
              <a:t>85.2%</a:t>
            </a:r>
            <a:endParaRPr lang="en-US" sz="3200" dirty="0"/>
          </a:p>
        </p:txBody>
      </p:sp>
      <p:sp>
        <p:nvSpPr>
          <p:cNvPr id="8" name="Text 6"/>
          <p:cNvSpPr/>
          <p:nvPr/>
        </p:nvSpPr>
        <p:spPr>
          <a:xfrm>
            <a:off x="365760" y="1645920"/>
            <a:ext cx="2743200" cy="320040"/>
          </a:xfrm>
          <a:prstGeom prst="rect">
            <a:avLst/>
          </a:prstGeom>
          <a:noFill/>
          <a:ln/>
        </p:spPr>
        <p:txBody>
          <a:bodyPr wrap="square" lIns="0" tIns="0" rIns="0" bIns="0" rtlCol="0" anchor="ctr"/>
          <a:lstStyle/>
          <a:p>
            <a:pPr marL="0" indent="0" algn="ctr">
              <a:buNone/>
            </a:pPr>
            <a:r>
              <a:rPr lang="en-US" sz="900" dirty="0">
                <a:solidFill>
                  <a:srgbClr val="14B8A6"/>
                </a:solidFill>
              </a:rPr>
              <a:t>mAP@0.5</a:t>
            </a:r>
            <a:endParaRPr lang="en-US" sz="900" dirty="0"/>
          </a:p>
        </p:txBody>
      </p:sp>
      <p:sp>
        <p:nvSpPr>
          <p:cNvPr id="9" name="Shape 7"/>
          <p:cNvSpPr/>
          <p:nvPr/>
        </p:nvSpPr>
        <p:spPr>
          <a:xfrm>
            <a:off x="365760" y="2331720"/>
            <a:ext cx="2743200" cy="868680"/>
          </a:xfrm>
          <a:prstGeom prst="roundRect">
            <a:avLst>
              <a:gd name="adj" fmla="val 10526"/>
            </a:avLst>
          </a:prstGeom>
          <a:solidFill>
            <a:srgbClr val="0B1C3F"/>
          </a:solidFill>
          <a:ln/>
          <a:effectLst>
            <a:outerShdw blurRad="101600" dist="25400" dir="2700000" algn="bl" rotWithShape="0">
              <a:srgbClr val="000000">
                <a:alpha val="18000"/>
              </a:srgbClr>
            </a:outerShdw>
          </a:effectLst>
        </p:spPr>
      </p:sp>
      <p:sp>
        <p:nvSpPr>
          <p:cNvPr id="10" name="Text 8"/>
          <p:cNvSpPr/>
          <p:nvPr/>
        </p:nvSpPr>
        <p:spPr>
          <a:xfrm>
            <a:off x="365760" y="2423160"/>
            <a:ext cx="2743200" cy="548640"/>
          </a:xfrm>
          <a:prstGeom prst="rect">
            <a:avLst/>
          </a:prstGeom>
          <a:noFill/>
          <a:ln/>
        </p:spPr>
        <p:txBody>
          <a:bodyPr wrap="square" lIns="0" tIns="0" rIns="0" bIns="0"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YOLOv11</a:t>
            </a:r>
            <a:endParaRPr lang="en-US" sz="3200" dirty="0"/>
          </a:p>
        </p:txBody>
      </p:sp>
      <p:sp>
        <p:nvSpPr>
          <p:cNvPr id="11" name="Text 9"/>
          <p:cNvSpPr/>
          <p:nvPr/>
        </p:nvSpPr>
        <p:spPr>
          <a:xfrm>
            <a:off x="365760" y="2971800"/>
            <a:ext cx="2743200" cy="320040"/>
          </a:xfrm>
          <a:prstGeom prst="rect">
            <a:avLst/>
          </a:prstGeom>
          <a:noFill/>
          <a:ln/>
        </p:spPr>
        <p:txBody>
          <a:bodyPr wrap="square" lIns="0" tIns="0" rIns="0" bIns="0" rtlCol="0" anchor="ctr"/>
          <a:lstStyle/>
          <a:p>
            <a:pPr marL="0" indent="0" algn="ctr">
              <a:buNone/>
            </a:pPr>
            <a:r>
              <a:rPr lang="en-US" sz="900" dirty="0">
                <a:solidFill>
                  <a:srgbClr val="14B8A6"/>
                </a:solidFill>
              </a:rPr>
              <a:t>Architecture</a:t>
            </a:r>
            <a:endParaRPr lang="en-US" sz="900" dirty="0"/>
          </a:p>
        </p:txBody>
      </p:sp>
      <p:sp>
        <p:nvSpPr>
          <p:cNvPr id="12" name="Shape 10"/>
          <p:cNvSpPr/>
          <p:nvPr/>
        </p:nvSpPr>
        <p:spPr>
          <a:xfrm>
            <a:off x="3383280" y="1005840"/>
            <a:ext cx="5394960" cy="3749040"/>
          </a:xfrm>
          <a:prstGeom prst="roundRect">
            <a:avLst>
              <a:gd name="adj" fmla="val 2439"/>
            </a:avLst>
          </a:prstGeom>
          <a:solidFill>
            <a:srgbClr val="FFFFFF"/>
          </a:solidFill>
          <a:ln/>
          <a:effectLst>
            <a:outerShdw blurRad="127000" dist="25400" dir="2700000" algn="bl" rotWithShape="0">
              <a:srgbClr val="000000">
                <a:alpha val="12000"/>
              </a:srgbClr>
            </a:outerShdw>
          </a:effectLst>
        </p:spPr>
      </p:sp>
      <p:sp>
        <p:nvSpPr>
          <p:cNvPr id="13" name="Text 11"/>
          <p:cNvSpPr/>
          <p:nvPr/>
        </p:nvSpPr>
        <p:spPr>
          <a:xfrm>
            <a:off x="3566160" y="1097280"/>
            <a:ext cx="5029200" cy="365760"/>
          </a:xfrm>
          <a:prstGeom prst="rect">
            <a:avLst/>
          </a:prstGeom>
          <a:noFill/>
          <a:ln/>
        </p:spPr>
        <p:txBody>
          <a:bodyPr wrap="square" lIns="0" tIns="0" rIns="0" bIns="0" rtlCol="0" anchor="ctr"/>
          <a:lstStyle/>
          <a:p>
            <a:pPr marL="0" indent="0">
              <a:buNone/>
            </a:pPr>
            <a:r>
              <a:rPr lang="en-US" sz="1400" b="1" dirty="0">
                <a:solidFill>
                  <a:srgbClr val="0B1C3F"/>
                </a:solidFill>
                <a:latin typeface="Cambria" pitchFamily="34" charset="0"/>
                <a:ea typeface="Cambria" pitchFamily="34" charset="-122"/>
                <a:cs typeface="Cambria" pitchFamily="34" charset="-120"/>
              </a:rPr>
              <a:t>Model Overview</a:t>
            </a:r>
            <a:endParaRPr lang="en-US" sz="1400" dirty="0"/>
          </a:p>
        </p:txBody>
      </p:sp>
      <p:sp>
        <p:nvSpPr>
          <p:cNvPr id="14" name="Text 12"/>
          <p:cNvSpPr/>
          <p:nvPr/>
        </p:nvSpPr>
        <p:spPr>
          <a:xfrm>
            <a:off x="3566160" y="1554480"/>
            <a:ext cx="5029200" cy="301752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Goal: Analyze internal dashcam footage to detect dashboard warning lights — check engine, ABS, seatbelt</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Provides crucial context for fleet management companies monitoring driver behavior</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Enables insurance providers to assess vehicle health at time of incident without manual inspection</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Unique value proposition for commercial fleet operators reducing maintenance costs proactively</a:t>
            </a:r>
            <a:endParaRPr lang="en-US" sz="1200" dirty="0"/>
          </a:p>
        </p:txBody>
      </p:sp>
      <p:sp>
        <p:nvSpPr>
          <p:cNvPr id="15" name="Shape 13"/>
          <p:cNvSpPr/>
          <p:nvPr/>
        </p:nvSpPr>
        <p:spPr>
          <a:xfrm>
            <a:off x="731520" y="3337560"/>
            <a:ext cx="1508760" cy="1508760"/>
          </a:xfrm>
          <a:prstGeom prst="line">
            <a:avLst/>
          </a:prstGeom>
          <a:solidFill>
            <a:srgbClr val="E0F2FE"/>
          </a:solidFill>
          <a:ln/>
        </p:spPr>
      </p:sp>
      <p:pic>
        <p:nvPicPr>
          <p:cNvPr id="16" name="Image 0" descr="preencoded.png"/>
          <p:cNvPicPr>
            <a:picLocks noChangeAspect="1"/>
          </p:cNvPicPr>
          <p:nvPr/>
        </p:nvPicPr>
        <p:blipFill>
          <a:blip r:embed="rId3"/>
          <a:stretch>
            <a:fillRect/>
          </a:stretch>
        </p:blipFill>
        <p:spPr>
          <a:xfrm>
            <a:off x="822960" y="3429000"/>
            <a:ext cx="1325880" cy="132588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4 · MODEL 08</a:t>
            </a:r>
            <a:endParaRPr lang="en-US" sz="900" dirty="0"/>
          </a:p>
        </p:txBody>
      </p:sp>
      <p:sp>
        <p:nvSpPr>
          <p:cNvPr id="4" name="Text 2"/>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Cracks &amp; Potholes Detection</a:t>
            </a:r>
            <a:endParaRPr lang="en-US" sz="3000" dirty="0"/>
          </a:p>
        </p:txBody>
      </p:sp>
      <p:sp>
        <p:nvSpPr>
          <p:cNvPr id="5" name="Shape 3"/>
          <p:cNvSpPr/>
          <p:nvPr/>
        </p:nvSpPr>
        <p:spPr>
          <a:xfrm>
            <a:off x="457200" y="850392"/>
            <a:ext cx="1097280" cy="54864"/>
          </a:xfrm>
          <a:prstGeom prst="rect">
            <a:avLst/>
          </a:prstGeom>
          <a:solidFill>
            <a:srgbClr val="0D9488"/>
          </a:solidFill>
          <a:ln/>
        </p:spPr>
      </p:sp>
      <p:sp>
        <p:nvSpPr>
          <p:cNvPr id="6" name="Shape 4"/>
          <p:cNvSpPr/>
          <p:nvPr/>
        </p:nvSpPr>
        <p:spPr>
          <a:xfrm>
            <a:off x="365760" y="1005840"/>
            <a:ext cx="2743200" cy="1188720"/>
          </a:xfrm>
          <a:prstGeom prst="roundRect">
            <a:avLst>
              <a:gd name="adj" fmla="val 7692"/>
            </a:avLst>
          </a:prstGeom>
          <a:solidFill>
            <a:srgbClr val="0B1C3F"/>
          </a:solidFill>
          <a:ln/>
          <a:effectLst>
            <a:outerShdw blurRad="101600" dist="25400" dir="2700000" algn="bl" rotWithShape="0">
              <a:srgbClr val="000000">
                <a:alpha val="18000"/>
              </a:srgbClr>
            </a:outerShdw>
          </a:effectLst>
        </p:spPr>
      </p:sp>
      <p:sp>
        <p:nvSpPr>
          <p:cNvPr id="7" name="Text 5"/>
          <p:cNvSpPr/>
          <p:nvPr/>
        </p:nvSpPr>
        <p:spPr>
          <a:xfrm>
            <a:off x="365760" y="1097280"/>
            <a:ext cx="2743200" cy="548640"/>
          </a:xfrm>
          <a:prstGeom prst="rect">
            <a:avLst/>
          </a:prstGeom>
          <a:noFill/>
          <a:ln/>
        </p:spPr>
        <p:txBody>
          <a:bodyPr wrap="square" lIns="0" tIns="0" rIns="0" bIns="0" rtlCol="0" anchor="ctr"/>
          <a:lstStyle/>
          <a:p>
            <a:pPr marL="0" indent="0" algn="ctr">
              <a:buNone/>
            </a:pPr>
            <a:r>
              <a:rPr lang="en-US" sz="3200" b="1" dirty="0" smtClean="0">
                <a:solidFill>
                  <a:srgbClr val="FBBF24"/>
                </a:solidFill>
                <a:latin typeface="Cambria" pitchFamily="34" charset="0"/>
                <a:ea typeface="Cambria" pitchFamily="34" charset="-122"/>
                <a:cs typeface="Cambria" pitchFamily="34" charset="-120"/>
              </a:rPr>
              <a:t>70.6%</a:t>
            </a:r>
            <a:endParaRPr lang="en-US" sz="3200" dirty="0"/>
          </a:p>
        </p:txBody>
      </p:sp>
      <p:sp>
        <p:nvSpPr>
          <p:cNvPr id="8" name="Text 6"/>
          <p:cNvSpPr/>
          <p:nvPr/>
        </p:nvSpPr>
        <p:spPr>
          <a:xfrm>
            <a:off x="365760" y="1645920"/>
            <a:ext cx="2743200" cy="320040"/>
          </a:xfrm>
          <a:prstGeom prst="rect">
            <a:avLst/>
          </a:prstGeom>
          <a:noFill/>
          <a:ln/>
        </p:spPr>
        <p:txBody>
          <a:bodyPr wrap="square" lIns="0" tIns="0" rIns="0" bIns="0" rtlCol="0" anchor="ctr"/>
          <a:lstStyle/>
          <a:p>
            <a:pPr marL="0" indent="0" algn="ctr">
              <a:buNone/>
            </a:pPr>
            <a:r>
              <a:rPr lang="en-US" sz="900" dirty="0">
                <a:solidFill>
                  <a:srgbClr val="14B8A6"/>
                </a:solidFill>
              </a:rPr>
              <a:t>mAP@0.5</a:t>
            </a:r>
            <a:endParaRPr lang="en-US" sz="900" dirty="0"/>
          </a:p>
        </p:txBody>
      </p:sp>
      <p:sp>
        <p:nvSpPr>
          <p:cNvPr id="9" name="Shape 7"/>
          <p:cNvSpPr/>
          <p:nvPr/>
        </p:nvSpPr>
        <p:spPr>
          <a:xfrm>
            <a:off x="365760" y="2331720"/>
            <a:ext cx="2743200" cy="868680"/>
          </a:xfrm>
          <a:prstGeom prst="roundRect">
            <a:avLst>
              <a:gd name="adj" fmla="val 10526"/>
            </a:avLst>
          </a:prstGeom>
          <a:solidFill>
            <a:srgbClr val="0B1C3F"/>
          </a:solidFill>
          <a:ln/>
          <a:effectLst>
            <a:outerShdw blurRad="101600" dist="25400" dir="2700000" algn="bl" rotWithShape="0">
              <a:srgbClr val="000000">
                <a:alpha val="18000"/>
              </a:srgbClr>
            </a:outerShdw>
          </a:effectLst>
        </p:spPr>
      </p:sp>
      <p:sp>
        <p:nvSpPr>
          <p:cNvPr id="10" name="Text 8"/>
          <p:cNvSpPr/>
          <p:nvPr/>
        </p:nvSpPr>
        <p:spPr>
          <a:xfrm>
            <a:off x="365760" y="2423160"/>
            <a:ext cx="2743200" cy="548640"/>
          </a:xfrm>
          <a:prstGeom prst="rect">
            <a:avLst/>
          </a:prstGeom>
          <a:noFill/>
          <a:ln/>
        </p:spPr>
        <p:txBody>
          <a:bodyPr wrap="square" lIns="0" tIns="0" rIns="0" bIns="0"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YOLOv11</a:t>
            </a:r>
            <a:endParaRPr lang="en-US" sz="3200" dirty="0"/>
          </a:p>
        </p:txBody>
      </p:sp>
      <p:sp>
        <p:nvSpPr>
          <p:cNvPr id="11" name="Text 9"/>
          <p:cNvSpPr/>
          <p:nvPr/>
        </p:nvSpPr>
        <p:spPr>
          <a:xfrm>
            <a:off x="365760" y="2971800"/>
            <a:ext cx="2743200" cy="320040"/>
          </a:xfrm>
          <a:prstGeom prst="rect">
            <a:avLst/>
          </a:prstGeom>
          <a:noFill/>
          <a:ln/>
        </p:spPr>
        <p:txBody>
          <a:bodyPr wrap="square" lIns="0" tIns="0" rIns="0" bIns="0" rtlCol="0" anchor="ctr"/>
          <a:lstStyle/>
          <a:p>
            <a:pPr marL="0" indent="0" algn="ctr">
              <a:buNone/>
            </a:pPr>
            <a:r>
              <a:rPr lang="en-US" sz="900" dirty="0">
                <a:solidFill>
                  <a:srgbClr val="14B8A6"/>
                </a:solidFill>
              </a:rPr>
              <a:t>Architecture</a:t>
            </a:r>
            <a:endParaRPr lang="en-US" sz="900" dirty="0"/>
          </a:p>
        </p:txBody>
      </p:sp>
      <p:sp>
        <p:nvSpPr>
          <p:cNvPr id="12" name="Shape 10"/>
          <p:cNvSpPr/>
          <p:nvPr/>
        </p:nvSpPr>
        <p:spPr>
          <a:xfrm>
            <a:off x="3383280" y="1005840"/>
            <a:ext cx="5394960" cy="3749040"/>
          </a:xfrm>
          <a:prstGeom prst="roundRect">
            <a:avLst>
              <a:gd name="adj" fmla="val 2439"/>
            </a:avLst>
          </a:prstGeom>
          <a:solidFill>
            <a:srgbClr val="0E2140"/>
          </a:solidFill>
          <a:ln/>
          <a:effectLst>
            <a:outerShdw blurRad="127000" dist="25400" dir="2700000" algn="bl" rotWithShape="0">
              <a:srgbClr val="000000">
                <a:alpha val="12000"/>
              </a:srgbClr>
            </a:outerShdw>
          </a:effectLst>
        </p:spPr>
      </p:sp>
      <p:sp>
        <p:nvSpPr>
          <p:cNvPr id="13" name="Text 11"/>
          <p:cNvSpPr/>
          <p:nvPr/>
        </p:nvSpPr>
        <p:spPr>
          <a:xfrm>
            <a:off x="3566160" y="1097280"/>
            <a:ext cx="502920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Model Overview</a:t>
            </a:r>
            <a:endParaRPr lang="en-US" sz="1400" dirty="0"/>
          </a:p>
        </p:txBody>
      </p:sp>
      <p:sp>
        <p:nvSpPr>
          <p:cNvPr id="14" name="Text 12"/>
          <p:cNvSpPr/>
          <p:nvPr/>
        </p:nvSpPr>
        <p:spPr>
          <a:xfrm>
            <a:off x="3566160" y="1554480"/>
            <a:ext cx="5029200" cy="301752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Goal: Identify complex, irregular road surface anomalies — alligator cracking and deep potholes</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Eliminates the need for expensive manual road surveying with LiDAR-equipped vehicles</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Allows cities to dispatch repair crews exactly where they are needed most, based on AI severity scoring</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Lower mAP reflects the genuine visual complexity of irregular, amorphous surface anomalies</a:t>
            </a:r>
            <a:endParaRPr lang="en-US" sz="1200" dirty="0"/>
          </a:p>
        </p:txBody>
      </p:sp>
      <p:sp>
        <p:nvSpPr>
          <p:cNvPr id="15" name="Shape 13"/>
          <p:cNvSpPr/>
          <p:nvPr/>
        </p:nvSpPr>
        <p:spPr>
          <a:xfrm>
            <a:off x="731520" y="3337560"/>
            <a:ext cx="1508760" cy="1508760"/>
          </a:xfrm>
          <a:prstGeom prst="line">
            <a:avLst/>
          </a:prstGeom>
          <a:solidFill>
            <a:srgbClr val="1C1200"/>
          </a:solidFill>
          <a:ln/>
        </p:spPr>
      </p:sp>
      <p:pic>
        <p:nvPicPr>
          <p:cNvPr id="16" name="Image 0" descr="preencoded.png"/>
          <p:cNvPicPr>
            <a:picLocks noChangeAspect="1"/>
          </p:cNvPicPr>
          <p:nvPr/>
        </p:nvPicPr>
        <p:blipFill>
          <a:blip r:embed="rId3"/>
          <a:stretch>
            <a:fillRect/>
          </a:stretch>
        </p:blipFill>
        <p:spPr>
          <a:xfrm>
            <a:off x="822960" y="3429000"/>
            <a:ext cx="1325880" cy="1325880"/>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4 · MODEL 09</a:t>
            </a:r>
            <a:endParaRPr lang="en-US" sz="900" dirty="0"/>
          </a:p>
        </p:txBody>
      </p:sp>
      <p:sp>
        <p:nvSpPr>
          <p:cNvPr id="4" name="Text 2"/>
          <p:cNvSpPr/>
          <p:nvPr/>
        </p:nvSpPr>
        <p:spPr>
          <a:xfrm>
            <a:off x="457200" y="201168"/>
            <a:ext cx="8229600" cy="548640"/>
          </a:xfrm>
          <a:prstGeom prst="rect">
            <a:avLst/>
          </a:prstGeom>
          <a:noFill/>
          <a:ln/>
        </p:spPr>
        <p:txBody>
          <a:bodyPr wrap="square" lIns="0" tIns="0" rIns="0" bIns="0" rtlCol="0" anchor="ctr"/>
          <a:lstStyle/>
          <a:p>
            <a:pPr marL="0" indent="0" algn="l">
              <a:buNone/>
            </a:pPr>
            <a:r>
              <a:rPr lang="en-US" sz="2800" b="1" dirty="0">
                <a:solidFill>
                  <a:srgbClr val="0B1C3F"/>
                </a:solidFill>
                <a:latin typeface="Cambria" pitchFamily="34" charset="0"/>
                <a:ea typeface="Cambria" pitchFamily="34" charset="-122"/>
                <a:cs typeface="Cambria" pitchFamily="34" charset="-120"/>
              </a:rPr>
              <a:t>Car Damage Classification</a:t>
            </a:r>
            <a:endParaRPr lang="en-US" sz="2800" dirty="0"/>
          </a:p>
        </p:txBody>
      </p:sp>
      <p:sp>
        <p:nvSpPr>
          <p:cNvPr id="5" name="Shape 3"/>
          <p:cNvSpPr/>
          <p:nvPr/>
        </p:nvSpPr>
        <p:spPr>
          <a:xfrm>
            <a:off x="457200" y="795528"/>
            <a:ext cx="1097280" cy="54864"/>
          </a:xfrm>
          <a:prstGeom prst="rect">
            <a:avLst/>
          </a:prstGeom>
          <a:solidFill>
            <a:srgbClr val="0D9488"/>
          </a:solidFill>
          <a:ln/>
        </p:spPr>
      </p:sp>
      <p:sp>
        <p:nvSpPr>
          <p:cNvPr id="6" name="Shape 4"/>
          <p:cNvSpPr/>
          <p:nvPr/>
        </p:nvSpPr>
        <p:spPr>
          <a:xfrm>
            <a:off x="365760" y="1005840"/>
            <a:ext cx="3931920" cy="3749040"/>
          </a:xfrm>
          <a:prstGeom prst="roundRect">
            <a:avLst>
              <a:gd name="adj" fmla="val 2439"/>
            </a:avLst>
          </a:prstGeom>
          <a:solidFill>
            <a:srgbClr val="FFFFFF"/>
          </a:solidFill>
          <a:ln/>
          <a:effectLst>
            <a:outerShdw blurRad="127000" dist="25400" dir="2700000" algn="bl" rotWithShape="0">
              <a:srgbClr val="000000">
                <a:alpha val="12000"/>
              </a:srgbClr>
            </a:outerShdw>
          </a:effectLst>
        </p:spPr>
      </p:sp>
      <p:sp>
        <p:nvSpPr>
          <p:cNvPr id="7" name="Text 5"/>
          <p:cNvSpPr/>
          <p:nvPr/>
        </p:nvSpPr>
        <p:spPr>
          <a:xfrm>
            <a:off x="548640" y="1097280"/>
            <a:ext cx="3657600" cy="365760"/>
          </a:xfrm>
          <a:prstGeom prst="rect">
            <a:avLst/>
          </a:prstGeom>
          <a:noFill/>
          <a:ln/>
        </p:spPr>
        <p:txBody>
          <a:bodyPr wrap="square" lIns="0" tIns="0" rIns="0" bIns="0" rtlCol="0" anchor="ctr"/>
          <a:lstStyle/>
          <a:p>
            <a:pPr marL="0" indent="0">
              <a:buNone/>
            </a:pPr>
            <a:r>
              <a:rPr lang="en-US" sz="1400" b="1" dirty="0">
                <a:solidFill>
                  <a:srgbClr val="0B1C3F"/>
                </a:solidFill>
                <a:latin typeface="Cambria" pitchFamily="34" charset="0"/>
                <a:ea typeface="Cambria" pitchFamily="34" charset="-122"/>
                <a:cs typeface="Cambria" pitchFamily="34" charset="-120"/>
              </a:rPr>
              <a:t>Dual-Model Architecture</a:t>
            </a:r>
            <a:endParaRPr lang="en-US" sz="1400" dirty="0"/>
          </a:p>
        </p:txBody>
      </p:sp>
      <p:sp>
        <p:nvSpPr>
          <p:cNvPr id="8" name="Shape 6"/>
          <p:cNvSpPr/>
          <p:nvPr/>
        </p:nvSpPr>
        <p:spPr>
          <a:xfrm>
            <a:off x="502920" y="1600200"/>
            <a:ext cx="3566160" cy="1280160"/>
          </a:xfrm>
          <a:prstGeom prst="roundRect">
            <a:avLst>
              <a:gd name="adj" fmla="val 7143"/>
            </a:avLst>
          </a:prstGeom>
          <a:solidFill>
            <a:srgbClr val="0B1C3F"/>
          </a:solidFill>
          <a:ln/>
          <a:effectLst>
            <a:outerShdw blurRad="127000" dist="25400" dir="2700000" algn="bl" rotWithShape="0">
              <a:srgbClr val="000000">
                <a:alpha val="12000"/>
              </a:srgbClr>
            </a:outerShdw>
          </a:effectLst>
        </p:spPr>
      </p:sp>
      <p:sp>
        <p:nvSpPr>
          <p:cNvPr id="9" name="Text 7"/>
          <p:cNvSpPr/>
          <p:nvPr/>
        </p:nvSpPr>
        <p:spPr>
          <a:xfrm>
            <a:off x="502920" y="1645920"/>
            <a:ext cx="3566160" cy="411480"/>
          </a:xfrm>
          <a:prstGeom prst="rect">
            <a:avLst/>
          </a:prstGeom>
          <a:noFill/>
          <a:ln/>
        </p:spPr>
        <p:txBody>
          <a:bodyPr wrap="square" lIns="0" tIns="0" rIns="0" bIns="0" rtlCol="0" anchor="ctr"/>
          <a:lstStyle/>
          <a:p>
            <a:pPr marL="0" indent="0" algn="ctr">
              <a:buNone/>
            </a:pPr>
            <a:r>
              <a:rPr lang="en-US" sz="1800" b="1" dirty="0" err="1" smtClean="0">
                <a:solidFill>
                  <a:srgbClr val="0D9488"/>
                </a:solidFill>
                <a:latin typeface="Cambria" pitchFamily="34" charset="0"/>
                <a:ea typeface="Cambria" pitchFamily="34" charset="-122"/>
                <a:cs typeface="Cambria" pitchFamily="34" charset="-120"/>
              </a:rPr>
              <a:t>UNet</a:t>
            </a:r>
            <a:endParaRPr lang="en-US" sz="1800" dirty="0"/>
          </a:p>
        </p:txBody>
      </p:sp>
      <p:sp>
        <p:nvSpPr>
          <p:cNvPr id="10" name="Text 8"/>
          <p:cNvSpPr/>
          <p:nvPr/>
        </p:nvSpPr>
        <p:spPr>
          <a:xfrm>
            <a:off x="594360" y="2103120"/>
            <a:ext cx="3383280" cy="685800"/>
          </a:xfrm>
          <a:prstGeom prst="rect">
            <a:avLst/>
          </a:prstGeom>
          <a:noFill/>
          <a:ln/>
        </p:spPr>
        <p:txBody>
          <a:bodyPr wrap="square" lIns="50800" tIns="50800" rIns="50800" bIns="50800" rtlCol="0" anchor="ctr"/>
          <a:lstStyle/>
          <a:p>
            <a:pPr marL="0" indent="0" algn="ctr">
              <a:buNone/>
            </a:pPr>
            <a:r>
              <a:rPr lang="en-US" sz="1100" dirty="0" smtClean="0">
                <a:solidFill>
                  <a:srgbClr val="CBD5E1"/>
                </a:solidFill>
                <a:latin typeface="Calibri" pitchFamily="34" charset="0"/>
                <a:ea typeface="Calibri" pitchFamily="34" charset="-122"/>
                <a:cs typeface="Calibri" pitchFamily="34" charset="-120"/>
              </a:rPr>
              <a:t>Pixel wise segmentation</a:t>
            </a:r>
            <a:endParaRPr lang="en-US" sz="1100" dirty="0"/>
          </a:p>
        </p:txBody>
      </p:sp>
      <p:sp>
        <p:nvSpPr>
          <p:cNvPr id="11" name="Text 9"/>
          <p:cNvSpPr/>
          <p:nvPr/>
        </p:nvSpPr>
        <p:spPr>
          <a:xfrm>
            <a:off x="457200" y="2880360"/>
            <a:ext cx="3840480" cy="411480"/>
          </a:xfrm>
          <a:prstGeom prst="rect">
            <a:avLst/>
          </a:prstGeom>
          <a:noFill/>
          <a:ln/>
        </p:spPr>
        <p:txBody>
          <a:bodyPr wrap="square" lIns="0" tIns="0" rIns="0" bIns="0" rtlCol="0" anchor="ctr"/>
          <a:lstStyle/>
          <a:p>
            <a:pPr marL="0" indent="0" algn="ctr">
              <a:buNone/>
            </a:pPr>
            <a:r>
              <a:rPr lang="en-US" sz="2200" b="1" dirty="0">
                <a:solidFill>
                  <a:srgbClr val="0D9488"/>
                </a:solidFill>
              </a:rPr>
              <a:t>+</a:t>
            </a:r>
            <a:endParaRPr lang="en-US" sz="2200" dirty="0"/>
          </a:p>
        </p:txBody>
      </p:sp>
      <p:sp>
        <p:nvSpPr>
          <p:cNvPr id="12" name="Shape 10"/>
          <p:cNvSpPr/>
          <p:nvPr/>
        </p:nvSpPr>
        <p:spPr>
          <a:xfrm>
            <a:off x="502920" y="3291840"/>
            <a:ext cx="3566160" cy="1280160"/>
          </a:xfrm>
          <a:prstGeom prst="roundRect">
            <a:avLst>
              <a:gd name="adj" fmla="val 7143"/>
            </a:avLst>
          </a:prstGeom>
          <a:solidFill>
            <a:srgbClr val="082A26"/>
          </a:solidFill>
          <a:ln/>
          <a:effectLst>
            <a:outerShdw blurRad="127000" dist="25400" dir="2700000" algn="bl" rotWithShape="0">
              <a:srgbClr val="000000">
                <a:alpha val="12000"/>
              </a:srgbClr>
            </a:outerShdw>
          </a:effectLst>
        </p:spPr>
      </p:sp>
      <p:sp>
        <p:nvSpPr>
          <p:cNvPr id="13" name="Text 11"/>
          <p:cNvSpPr/>
          <p:nvPr/>
        </p:nvSpPr>
        <p:spPr>
          <a:xfrm>
            <a:off x="502920" y="3337560"/>
            <a:ext cx="3566160" cy="411480"/>
          </a:xfrm>
          <a:prstGeom prst="rect">
            <a:avLst/>
          </a:prstGeom>
          <a:noFill/>
          <a:ln/>
        </p:spPr>
        <p:txBody>
          <a:bodyPr wrap="square" lIns="0" tIns="0" rIns="0" bIns="0" rtlCol="0" anchor="ctr"/>
          <a:lstStyle/>
          <a:p>
            <a:pPr marL="0" indent="0" algn="ctr">
              <a:buNone/>
            </a:pPr>
            <a:r>
              <a:rPr lang="en-US" sz="1800" b="1" dirty="0">
                <a:solidFill>
                  <a:srgbClr val="FBBF24"/>
                </a:solidFill>
                <a:latin typeface="Cambria" pitchFamily="34" charset="0"/>
                <a:ea typeface="Cambria" pitchFamily="34" charset="-122"/>
                <a:cs typeface="Cambria" pitchFamily="34" charset="-120"/>
              </a:rPr>
              <a:t>EfficientNet</a:t>
            </a:r>
            <a:endParaRPr lang="en-US" sz="1800" dirty="0"/>
          </a:p>
        </p:txBody>
      </p:sp>
      <p:sp>
        <p:nvSpPr>
          <p:cNvPr id="14" name="Text 12"/>
          <p:cNvSpPr/>
          <p:nvPr/>
        </p:nvSpPr>
        <p:spPr>
          <a:xfrm>
            <a:off x="594360" y="3794760"/>
            <a:ext cx="3383280" cy="685800"/>
          </a:xfrm>
          <a:prstGeom prst="rect">
            <a:avLst/>
          </a:prstGeom>
          <a:noFill/>
          <a:ln/>
        </p:spPr>
        <p:txBody>
          <a:bodyPr wrap="square" lIns="50800" tIns="50800" rIns="50800" bIns="50800" rtlCol="0" anchor="ctr"/>
          <a:lstStyle/>
          <a:p>
            <a:pPr marL="0" indent="0" algn="ctr">
              <a:buNone/>
            </a:pPr>
            <a:r>
              <a:rPr lang="en-US" sz="1100" dirty="0">
                <a:solidFill>
                  <a:srgbClr val="A7F3D0"/>
                </a:solidFill>
                <a:latin typeface="Calibri" pitchFamily="34" charset="0"/>
                <a:ea typeface="Calibri" pitchFamily="34" charset="-122"/>
                <a:cs typeface="Calibri" pitchFamily="34" charset="-120"/>
              </a:rPr>
              <a:t>Classification Backbone</a:t>
            </a:r>
            <a:endParaRPr lang="en-US" sz="1100" dirty="0"/>
          </a:p>
          <a:p>
            <a:pPr marL="0" indent="0" algn="ctr">
              <a:buNone/>
            </a:pPr>
            <a:r>
              <a:rPr lang="en-US" sz="1100" dirty="0">
                <a:solidFill>
                  <a:srgbClr val="A7F3D0"/>
                </a:solidFill>
                <a:latin typeface="Calibri" pitchFamily="34" charset="0"/>
                <a:ea typeface="Calibri" pitchFamily="34" charset="-122"/>
                <a:cs typeface="Calibri" pitchFamily="34" charset="-120"/>
              </a:rPr>
              <a:t>Provides severity &amp; type assessment for insurance claims</a:t>
            </a:r>
            <a:endParaRPr lang="en-US" sz="1100" dirty="0"/>
          </a:p>
        </p:txBody>
      </p:sp>
      <p:sp>
        <p:nvSpPr>
          <p:cNvPr id="15" name="Shape 13"/>
          <p:cNvSpPr/>
          <p:nvPr/>
        </p:nvSpPr>
        <p:spPr>
          <a:xfrm>
            <a:off x="4572000" y="1005840"/>
            <a:ext cx="4206240" cy="3749040"/>
          </a:xfrm>
          <a:prstGeom prst="roundRect">
            <a:avLst>
              <a:gd name="adj" fmla="val 2439"/>
            </a:avLst>
          </a:prstGeom>
          <a:solidFill>
            <a:srgbClr val="FFFFFF"/>
          </a:solidFill>
          <a:ln/>
          <a:effectLst>
            <a:outerShdw blurRad="127000" dist="25400" dir="2700000" algn="bl" rotWithShape="0">
              <a:srgbClr val="000000">
                <a:alpha val="12000"/>
              </a:srgbClr>
            </a:outerShdw>
          </a:effectLst>
        </p:spPr>
      </p:sp>
      <p:sp>
        <p:nvSpPr>
          <p:cNvPr id="16" name="Text 14"/>
          <p:cNvSpPr/>
          <p:nvPr/>
        </p:nvSpPr>
        <p:spPr>
          <a:xfrm>
            <a:off x="4754880" y="1097280"/>
            <a:ext cx="3840480" cy="365760"/>
          </a:xfrm>
          <a:prstGeom prst="rect">
            <a:avLst/>
          </a:prstGeom>
          <a:noFill/>
          <a:ln/>
        </p:spPr>
        <p:txBody>
          <a:bodyPr wrap="square" lIns="0" tIns="0" rIns="0" bIns="0" rtlCol="0" anchor="ctr"/>
          <a:lstStyle/>
          <a:p>
            <a:pPr marL="0" indent="0">
              <a:buNone/>
            </a:pPr>
            <a:r>
              <a:rPr lang="en-US" sz="1400" b="1" dirty="0">
                <a:solidFill>
                  <a:srgbClr val="0B1C3F"/>
                </a:solidFill>
                <a:latin typeface="Cambria" pitchFamily="34" charset="0"/>
                <a:ea typeface="Cambria" pitchFamily="34" charset="-122"/>
                <a:cs typeface="Cambria" pitchFamily="34" charset="-120"/>
              </a:rPr>
              <a:t>Use Cases</a:t>
            </a:r>
            <a:endParaRPr lang="en-US" sz="1400" dirty="0"/>
          </a:p>
        </p:txBody>
      </p:sp>
      <p:sp>
        <p:nvSpPr>
          <p:cNvPr id="17" name="Text 15"/>
          <p:cNvSpPr/>
          <p:nvPr/>
        </p:nvSpPr>
        <p:spPr>
          <a:xfrm>
            <a:off x="4754880" y="1554480"/>
            <a:ext cx="3840480" cy="301752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Insurance claim automation — AI-assessed damage severity before human adjuster review</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Fleet management — remote vehicle health monitoring without physical inspection</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Accident documentation — objective evidence of pre/post-collision vehicle condition</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Rental car damage assessment — automated checkout and return damage logging</a:t>
            </a:r>
            <a:endParaRPr lang="en-US" sz="12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5 · BACKEND DEEP DIVE</a:t>
            </a:r>
            <a:endParaRPr lang="en-US" sz="900" dirty="0"/>
          </a:p>
        </p:txBody>
      </p:sp>
      <p:sp>
        <p:nvSpPr>
          <p:cNvPr id="4" name="Text 2"/>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The Video Bottleneck</a:t>
            </a:r>
            <a:endParaRPr lang="en-US" sz="3000" dirty="0"/>
          </a:p>
        </p:txBody>
      </p:sp>
      <p:sp>
        <p:nvSpPr>
          <p:cNvPr id="5" name="Shape 3"/>
          <p:cNvSpPr/>
          <p:nvPr/>
        </p:nvSpPr>
        <p:spPr>
          <a:xfrm>
            <a:off x="457200" y="850392"/>
            <a:ext cx="1097280" cy="54864"/>
          </a:xfrm>
          <a:prstGeom prst="rect">
            <a:avLst/>
          </a:prstGeom>
          <a:solidFill>
            <a:srgbClr val="0D9488"/>
          </a:solidFill>
          <a:ln/>
        </p:spPr>
      </p:sp>
      <p:sp>
        <p:nvSpPr>
          <p:cNvPr id="6" name="Shape 4"/>
          <p:cNvSpPr/>
          <p:nvPr/>
        </p:nvSpPr>
        <p:spPr>
          <a:xfrm>
            <a:off x="365760" y="1005840"/>
            <a:ext cx="8412480" cy="914400"/>
          </a:xfrm>
          <a:prstGeom prst="roundRect">
            <a:avLst>
              <a:gd name="adj" fmla="val 10000"/>
            </a:avLst>
          </a:prstGeom>
          <a:solidFill>
            <a:srgbClr val="2D1010"/>
          </a:solidFill>
          <a:ln/>
          <a:effectLst>
            <a:outerShdw blurRad="127000" dist="25400" dir="2700000" algn="bl" rotWithShape="0">
              <a:srgbClr val="000000">
                <a:alpha val="12000"/>
              </a:srgbClr>
            </a:outerShdw>
          </a:effectLst>
        </p:spPr>
      </p:sp>
      <p:sp>
        <p:nvSpPr>
          <p:cNvPr id="7" name="Text 5"/>
          <p:cNvSpPr/>
          <p:nvPr/>
        </p:nvSpPr>
        <p:spPr>
          <a:xfrm>
            <a:off x="548640" y="1051560"/>
            <a:ext cx="8046720" cy="777240"/>
          </a:xfrm>
          <a:prstGeom prst="rect">
            <a:avLst/>
          </a:prstGeom>
          <a:noFill/>
          <a:ln/>
        </p:spPr>
        <p:txBody>
          <a:bodyPr wrap="square" lIns="50800" tIns="50800" rIns="50800" bIns="50800" rtlCol="0" anchor="ctr"/>
          <a:lstStyle/>
          <a:p>
            <a:pPr marL="0" indent="0">
              <a:buNone/>
            </a:pPr>
            <a:r>
              <a:rPr lang="en-US" sz="1300" dirty="0">
                <a:solidFill>
                  <a:srgbClr val="FCA5A5"/>
                </a:solidFill>
                <a:latin typeface="Calibri" pitchFamily="34" charset="0"/>
                <a:ea typeface="Calibri" pitchFamily="34" charset="-122"/>
                <a:cs typeface="Calibri" pitchFamily="34" charset="-120"/>
              </a:rPr>
              <a:t>Video files are massive. Processing a 5-minute dashcam video frame-by-frame takes significant compute time — creating a major UX challenge.</a:t>
            </a:r>
            <a:endParaRPr lang="en-US" sz="1300" dirty="0"/>
          </a:p>
        </p:txBody>
      </p:sp>
      <p:sp>
        <p:nvSpPr>
          <p:cNvPr id="8" name="Shape 6"/>
          <p:cNvSpPr/>
          <p:nvPr/>
        </p:nvSpPr>
        <p:spPr>
          <a:xfrm>
            <a:off x="457200" y="2103120"/>
            <a:ext cx="8229600" cy="868680"/>
          </a:xfrm>
          <a:prstGeom prst="roundRect">
            <a:avLst>
              <a:gd name="adj" fmla="val 10526"/>
            </a:avLst>
          </a:prstGeom>
          <a:solidFill>
            <a:srgbClr val="0E2140"/>
          </a:solidFill>
          <a:ln/>
          <a:effectLst>
            <a:outerShdw blurRad="127000" dist="25400" dir="2700000" algn="bl" rotWithShape="0">
              <a:srgbClr val="000000">
                <a:alpha val="12000"/>
              </a:srgbClr>
            </a:outerShdw>
          </a:effectLst>
        </p:spPr>
      </p:sp>
      <p:sp>
        <p:nvSpPr>
          <p:cNvPr id="9" name="Shape 7"/>
          <p:cNvSpPr/>
          <p:nvPr/>
        </p:nvSpPr>
        <p:spPr>
          <a:xfrm>
            <a:off x="502920" y="2212848"/>
            <a:ext cx="411480" cy="640080"/>
          </a:xfrm>
          <a:prstGeom prst="roundRect">
            <a:avLst>
              <a:gd name="adj" fmla="val 11111"/>
            </a:avLst>
          </a:prstGeom>
          <a:solidFill>
            <a:srgbClr val="EF4444"/>
          </a:solidFill>
          <a:ln/>
        </p:spPr>
      </p:sp>
      <p:sp>
        <p:nvSpPr>
          <p:cNvPr id="10" name="Text 8"/>
          <p:cNvSpPr/>
          <p:nvPr/>
        </p:nvSpPr>
        <p:spPr>
          <a:xfrm>
            <a:off x="502920" y="2212848"/>
            <a:ext cx="4114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9"/>
          <p:cNvSpPr/>
          <p:nvPr/>
        </p:nvSpPr>
        <p:spPr>
          <a:xfrm>
            <a:off x="1051560" y="2176272"/>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Raw File Size</a:t>
            </a:r>
            <a:endParaRPr lang="en-US" sz="1200" dirty="0"/>
          </a:p>
        </p:txBody>
      </p:sp>
      <p:sp>
        <p:nvSpPr>
          <p:cNvPr id="12" name="Text 10"/>
          <p:cNvSpPr/>
          <p:nvPr/>
        </p:nvSpPr>
        <p:spPr>
          <a:xfrm>
            <a:off x="1051560" y="2532888"/>
            <a:ext cx="7498080" cy="347472"/>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 5-minute 1080p dashcam video = 500MB–2GB of raw data to parse, decompress, and process frame by frame.</a:t>
            </a:r>
            <a:endParaRPr lang="en-US" sz="1100" dirty="0"/>
          </a:p>
        </p:txBody>
      </p:sp>
      <p:sp>
        <p:nvSpPr>
          <p:cNvPr id="13" name="Shape 11"/>
          <p:cNvSpPr/>
          <p:nvPr/>
        </p:nvSpPr>
        <p:spPr>
          <a:xfrm>
            <a:off x="457200" y="3108960"/>
            <a:ext cx="8229600" cy="868680"/>
          </a:xfrm>
          <a:prstGeom prst="roundRect">
            <a:avLst>
              <a:gd name="adj" fmla="val 10526"/>
            </a:avLst>
          </a:prstGeom>
          <a:solidFill>
            <a:srgbClr val="0E2140"/>
          </a:solidFill>
          <a:ln/>
          <a:effectLst>
            <a:outerShdw blurRad="127000" dist="25400" dir="2700000" algn="bl" rotWithShape="0">
              <a:srgbClr val="000000">
                <a:alpha val="12000"/>
              </a:srgbClr>
            </a:outerShdw>
          </a:effectLst>
        </p:spPr>
      </p:sp>
      <p:sp>
        <p:nvSpPr>
          <p:cNvPr id="14" name="Shape 12"/>
          <p:cNvSpPr/>
          <p:nvPr/>
        </p:nvSpPr>
        <p:spPr>
          <a:xfrm>
            <a:off x="502920" y="3218688"/>
            <a:ext cx="411480" cy="640080"/>
          </a:xfrm>
          <a:prstGeom prst="roundRect">
            <a:avLst>
              <a:gd name="adj" fmla="val 11111"/>
            </a:avLst>
          </a:prstGeom>
          <a:solidFill>
            <a:srgbClr val="EF4444"/>
          </a:solidFill>
          <a:ln/>
        </p:spPr>
      </p:sp>
      <p:sp>
        <p:nvSpPr>
          <p:cNvPr id="15" name="Text 13"/>
          <p:cNvSpPr/>
          <p:nvPr/>
        </p:nvSpPr>
        <p:spPr>
          <a:xfrm>
            <a:off x="502920" y="3218688"/>
            <a:ext cx="4114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4"/>
          <p:cNvSpPr/>
          <p:nvPr/>
        </p:nvSpPr>
        <p:spPr>
          <a:xfrm>
            <a:off x="1051560" y="3182112"/>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Compute Intensity</a:t>
            </a:r>
            <a:endParaRPr lang="en-US" sz="1200" dirty="0"/>
          </a:p>
        </p:txBody>
      </p:sp>
      <p:sp>
        <p:nvSpPr>
          <p:cNvPr id="17" name="Text 15"/>
          <p:cNvSpPr/>
          <p:nvPr/>
        </p:nvSpPr>
        <p:spPr>
          <a:xfrm>
            <a:off x="1051560" y="3538728"/>
            <a:ext cx="7498080" cy="347472"/>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Each frame requires an AI inference pass — thousands of GPU operations per second of video. Sequential processing is simply too slow.</a:t>
            </a:r>
            <a:endParaRPr lang="en-US" sz="1100" dirty="0"/>
          </a:p>
        </p:txBody>
      </p:sp>
      <p:sp>
        <p:nvSpPr>
          <p:cNvPr id="18" name="Shape 16"/>
          <p:cNvSpPr/>
          <p:nvPr/>
        </p:nvSpPr>
        <p:spPr>
          <a:xfrm>
            <a:off x="457200" y="4114800"/>
            <a:ext cx="8229600" cy="868680"/>
          </a:xfrm>
          <a:prstGeom prst="roundRect">
            <a:avLst>
              <a:gd name="adj" fmla="val 10526"/>
            </a:avLst>
          </a:prstGeom>
          <a:solidFill>
            <a:srgbClr val="0E2140"/>
          </a:solidFill>
          <a:ln/>
          <a:effectLst>
            <a:outerShdw blurRad="127000" dist="25400" dir="2700000" algn="bl" rotWithShape="0">
              <a:srgbClr val="000000">
                <a:alpha val="12000"/>
              </a:srgbClr>
            </a:outerShdw>
          </a:effectLst>
        </p:spPr>
      </p:sp>
      <p:sp>
        <p:nvSpPr>
          <p:cNvPr id="19" name="Shape 17"/>
          <p:cNvSpPr/>
          <p:nvPr/>
        </p:nvSpPr>
        <p:spPr>
          <a:xfrm>
            <a:off x="502920" y="4224528"/>
            <a:ext cx="411480" cy="640080"/>
          </a:xfrm>
          <a:prstGeom prst="roundRect">
            <a:avLst>
              <a:gd name="adj" fmla="val 11111"/>
            </a:avLst>
          </a:prstGeom>
          <a:solidFill>
            <a:srgbClr val="EF4444"/>
          </a:solidFill>
          <a:ln/>
        </p:spPr>
      </p:sp>
      <p:sp>
        <p:nvSpPr>
          <p:cNvPr id="20" name="Text 18"/>
          <p:cNvSpPr/>
          <p:nvPr/>
        </p:nvSpPr>
        <p:spPr>
          <a:xfrm>
            <a:off x="502920" y="4224528"/>
            <a:ext cx="4114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9"/>
          <p:cNvSpPr/>
          <p:nvPr/>
        </p:nvSpPr>
        <p:spPr>
          <a:xfrm>
            <a:off x="1051560" y="4187952"/>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Frontend Lag</a:t>
            </a:r>
            <a:endParaRPr lang="en-US" sz="1200" dirty="0"/>
          </a:p>
        </p:txBody>
      </p:sp>
      <p:sp>
        <p:nvSpPr>
          <p:cNvPr id="22" name="Text 20"/>
          <p:cNvSpPr/>
          <p:nvPr/>
        </p:nvSpPr>
        <p:spPr>
          <a:xfrm>
            <a:off x="1051560" y="4544568"/>
            <a:ext cx="7498080" cy="347472"/>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If the frontend waits for the entire video before showing results, users experience an unacceptable loading screen. This kills user adoption.</a:t>
            </a:r>
            <a:endParaRPr lang="en-US" sz="11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5 · BACKEND DEEP DIVE</a:t>
            </a:r>
            <a:endParaRPr lang="en-US" sz="900" dirty="0"/>
          </a:p>
        </p:txBody>
      </p:sp>
      <p:sp>
        <p:nvSpPr>
          <p:cNvPr id="4" name="Text 2"/>
          <p:cNvSpPr/>
          <p:nvPr/>
        </p:nvSpPr>
        <p:spPr>
          <a:xfrm>
            <a:off x="457200" y="201168"/>
            <a:ext cx="8229600" cy="548640"/>
          </a:xfrm>
          <a:prstGeom prst="rect">
            <a:avLst/>
          </a:prstGeom>
          <a:noFill/>
          <a:ln/>
        </p:spPr>
        <p:txBody>
          <a:bodyPr wrap="square" lIns="0" tIns="0" rIns="0" bIns="0" rtlCol="0" anchor="ctr"/>
          <a:lstStyle/>
          <a:p>
            <a:pPr marL="0" indent="0" algn="l">
              <a:buNone/>
            </a:pPr>
            <a:r>
              <a:rPr lang="en-US" sz="2800" b="1" dirty="0">
                <a:solidFill>
                  <a:srgbClr val="0B1C3F"/>
                </a:solidFill>
                <a:latin typeface="Cambria" pitchFamily="34" charset="0"/>
                <a:ea typeface="Cambria" pitchFamily="34" charset="-122"/>
                <a:cs typeface="Cambria" pitchFamily="34" charset="-120"/>
              </a:rPr>
              <a:t>Real-Time Data Streaming</a:t>
            </a:r>
            <a:endParaRPr lang="en-US" sz="2800" dirty="0"/>
          </a:p>
        </p:txBody>
      </p:sp>
      <p:sp>
        <p:nvSpPr>
          <p:cNvPr id="5" name="Shape 3"/>
          <p:cNvSpPr/>
          <p:nvPr/>
        </p:nvSpPr>
        <p:spPr>
          <a:xfrm>
            <a:off x="457200" y="795528"/>
            <a:ext cx="1097280" cy="54864"/>
          </a:xfrm>
          <a:prstGeom prst="rect">
            <a:avLst/>
          </a:prstGeom>
          <a:solidFill>
            <a:srgbClr val="0D9488"/>
          </a:solidFill>
          <a:ln/>
        </p:spPr>
      </p:sp>
      <p:sp>
        <p:nvSpPr>
          <p:cNvPr id="19" name="Shape 17"/>
          <p:cNvSpPr/>
          <p:nvPr/>
        </p:nvSpPr>
        <p:spPr>
          <a:xfrm>
            <a:off x="4663440" y="1005840"/>
            <a:ext cx="4114800" cy="3749040"/>
          </a:xfrm>
          <a:prstGeom prst="roundRect">
            <a:avLst>
              <a:gd name="adj" fmla="val 2439"/>
            </a:avLst>
          </a:prstGeom>
          <a:solidFill>
            <a:srgbClr val="FFFFFF"/>
          </a:solidFill>
          <a:ln/>
          <a:effectLst>
            <a:outerShdw blurRad="127000" dist="25400" dir="2700000" algn="bl" rotWithShape="0">
              <a:srgbClr val="000000">
                <a:alpha val="12000"/>
              </a:srgbClr>
            </a:outerShdw>
          </a:effectLst>
        </p:spPr>
      </p:sp>
      <p:sp>
        <p:nvSpPr>
          <p:cNvPr id="20" name="Text 18"/>
          <p:cNvSpPr/>
          <p:nvPr/>
        </p:nvSpPr>
        <p:spPr>
          <a:xfrm>
            <a:off x="4846320" y="1097280"/>
            <a:ext cx="3749040" cy="365760"/>
          </a:xfrm>
          <a:prstGeom prst="rect">
            <a:avLst/>
          </a:prstGeom>
          <a:noFill/>
          <a:ln/>
        </p:spPr>
        <p:txBody>
          <a:bodyPr wrap="square" lIns="0" tIns="0" rIns="0" bIns="0" rtlCol="0" anchor="ctr"/>
          <a:lstStyle/>
          <a:p>
            <a:pPr marL="0" indent="0">
              <a:buNone/>
            </a:pPr>
            <a:r>
              <a:rPr lang="en-US" sz="1400" b="1" dirty="0">
                <a:solidFill>
                  <a:srgbClr val="0B1C3F"/>
                </a:solidFill>
                <a:latin typeface="Cambria" pitchFamily="34" charset="0"/>
                <a:ea typeface="Cambria" pitchFamily="34" charset="-122"/>
                <a:cs typeface="Cambria" pitchFamily="34" charset="-120"/>
              </a:rPr>
              <a:t>How Streaming Solves It</a:t>
            </a:r>
            <a:endParaRPr lang="en-US" sz="1400" dirty="0"/>
          </a:p>
        </p:txBody>
      </p:sp>
      <p:sp>
        <p:nvSpPr>
          <p:cNvPr id="21" name="Text 19"/>
          <p:cNvSpPr/>
          <p:nvPr/>
        </p:nvSpPr>
        <p:spPr>
          <a:xfrm>
            <a:off x="4846320" y="1600200"/>
            <a:ext cx="3749040" cy="292608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FastAPI uses hidden specialized /stream endpoints — not exposed in standard UI but critical to performance</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Asynchronous generators yield AI results frame-by-frame as they are computed</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Results are streamed using application/x-ndjson (Newline Delimited JSON) — one JSON object per line, per frame</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The frontend receives and renders detections incrementally without waiting for full video processing</a:t>
            </a:r>
            <a:endParaRPr lang="en-US" sz="1200" dirty="0"/>
          </a:p>
        </p:txBody>
      </p:sp>
      <p:pic>
        <p:nvPicPr>
          <p:cNvPr id="22" name="WhatsApp Video 2026-06-13 at 2.59.09 AM">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317166" y="942369"/>
            <a:ext cx="1898659" cy="4376079"/>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2"/>
                                        </p:tgtEl>
                                      </p:cBhvr>
                                    </p:cmd>
                                  </p:childTnLst>
                                </p:cTn>
                              </p:par>
                            </p:childTnLst>
                          </p:cTn>
                        </p:par>
                      </p:childTnLst>
                    </p:cTn>
                  </p:par>
                </p:childTnLst>
              </p:cTn>
              <p:nextCondLst>
                <p:cond evt="onClick" delay="0">
                  <p:tgtEl>
                    <p:spTgt spid="22"/>
                  </p:tgtEl>
                </p:cond>
              </p:nextCondLst>
            </p:seq>
            <p:video>
              <p:cMediaNode vol="80000">
                <p:cTn id="7" fill="hold" display="0">
                  <p:stCondLst>
                    <p:cond delay="indefinite"/>
                  </p:stCondLst>
                </p:cTn>
                <p:tgtEl>
                  <p:spTgt spid="22"/>
                </p:tgtEl>
              </p:cMediaNode>
            </p:vide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C32"/>
        </a:solidFill>
        <a:effectLst/>
      </p:bgPr>
    </p:bg>
    <p:spTree>
      <p:nvGrpSpPr>
        <p:cNvPr id="1" name=""/>
        <p:cNvGrpSpPr/>
        <p:nvPr/>
      </p:nvGrpSpPr>
      <p:grpSpPr>
        <a:xfrm>
          <a:off x="0" y="0"/>
          <a:ext cx="0" cy="0"/>
          <a:chOff x="0" y="0"/>
          <a:chExt cx="0" cy="0"/>
        </a:xfrm>
      </p:grpSpPr>
      <p:sp>
        <p:nvSpPr>
          <p:cNvPr id="2" name="Shape 0"/>
          <p:cNvSpPr/>
          <p:nvPr/>
        </p:nvSpPr>
        <p:spPr>
          <a:xfrm>
            <a:off x="457200" y="54864"/>
            <a:ext cx="2560320" cy="201168"/>
          </a:xfrm>
          <a:prstGeom prst="roundRect">
            <a:avLst>
              <a:gd name="adj" fmla="val 22727"/>
            </a:avLst>
          </a:prstGeom>
          <a:solidFill>
            <a:srgbClr val="0D9488"/>
          </a:solidFill>
          <a:ln/>
        </p:spPr>
      </p:sp>
      <p:sp>
        <p:nvSpPr>
          <p:cNvPr id="3" name="Text 1"/>
          <p:cNvSpPr/>
          <p:nvPr/>
        </p:nvSpPr>
        <p:spPr>
          <a:xfrm>
            <a:off x="457200" y="54864"/>
            <a:ext cx="2560320" cy="201168"/>
          </a:xfrm>
          <a:prstGeom prst="rect">
            <a:avLst/>
          </a:prstGeom>
          <a:noFill/>
          <a:ln/>
        </p:spPr>
        <p:txBody>
          <a:bodyPr wrap="square" lIns="0" tIns="0" rIns="0" bIns="0" rtlCol="0" anchor="ctr"/>
          <a:lstStyle/>
          <a:p>
            <a:pPr algn="ctr"/>
            <a:r>
              <a:rPr lang="en-US" sz="900" b="1" dirty="0">
                <a:solidFill>
                  <a:srgbClr val="FFFFFF"/>
                </a:solidFill>
              </a:rPr>
              <a:t>PART 5 · BACKEND DEEP DIVE</a:t>
            </a:r>
            <a:endParaRPr lang="en-US" sz="900" dirty="0"/>
          </a:p>
        </p:txBody>
      </p:sp>
      <p:sp>
        <p:nvSpPr>
          <p:cNvPr id="4" name="Text 2"/>
          <p:cNvSpPr/>
          <p:nvPr/>
        </p:nvSpPr>
        <p:spPr>
          <a:xfrm>
            <a:off x="457200" y="256032"/>
            <a:ext cx="8229600" cy="566928"/>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The Microservice Advantage</a:t>
            </a:r>
            <a:endParaRPr lang="en-US" sz="3200" dirty="0"/>
          </a:p>
        </p:txBody>
      </p:sp>
      <p:sp>
        <p:nvSpPr>
          <p:cNvPr id="5" name="Shape 3"/>
          <p:cNvSpPr/>
          <p:nvPr/>
        </p:nvSpPr>
        <p:spPr>
          <a:xfrm>
            <a:off x="457200" y="850392"/>
            <a:ext cx="1188720" cy="64008"/>
          </a:xfrm>
          <a:prstGeom prst="roundRect">
            <a:avLst>
              <a:gd name="adj" fmla="val 42857"/>
            </a:avLst>
          </a:prstGeom>
          <a:solidFill>
            <a:srgbClr val="0D9488"/>
          </a:solidFill>
          <a:ln/>
        </p:spPr>
      </p:sp>
      <p:sp>
        <p:nvSpPr>
          <p:cNvPr id="6" name="Shape 4"/>
          <p:cNvSpPr/>
          <p:nvPr/>
        </p:nvSpPr>
        <p:spPr>
          <a:xfrm>
            <a:off x="365760" y="1024128"/>
            <a:ext cx="3931920" cy="3858768"/>
          </a:xfrm>
          <a:prstGeom prst="roundRect">
            <a:avLst>
              <a:gd name="adj" fmla="val 2844"/>
            </a:avLst>
          </a:prstGeom>
          <a:solidFill>
            <a:srgbClr val="180A0A"/>
          </a:solidFill>
          <a:ln/>
          <a:effectLst>
            <a:outerShdw blurRad="127000" dist="25400" dir="2700000" algn="bl" rotWithShape="0">
              <a:srgbClr val="000000">
                <a:alpha val="18000"/>
              </a:srgbClr>
            </a:outerShdw>
          </a:effectLst>
        </p:spPr>
      </p:sp>
      <p:sp>
        <p:nvSpPr>
          <p:cNvPr id="7" name="Shape 5"/>
          <p:cNvSpPr/>
          <p:nvPr/>
        </p:nvSpPr>
        <p:spPr>
          <a:xfrm>
            <a:off x="475488" y="1115568"/>
            <a:ext cx="3703320" cy="384048"/>
          </a:xfrm>
          <a:prstGeom prst="roundRect">
            <a:avLst>
              <a:gd name="adj" fmla="val 16667"/>
            </a:avLst>
          </a:prstGeom>
          <a:solidFill>
            <a:srgbClr val="7F1D1D"/>
          </a:solidFill>
          <a:ln/>
        </p:spPr>
      </p:sp>
      <p:sp>
        <p:nvSpPr>
          <p:cNvPr id="8" name="Text 6"/>
          <p:cNvSpPr/>
          <p:nvPr/>
        </p:nvSpPr>
        <p:spPr>
          <a:xfrm>
            <a:off x="475488" y="1115568"/>
            <a:ext cx="3703320" cy="384048"/>
          </a:xfrm>
          <a:prstGeom prst="rect">
            <a:avLst/>
          </a:prstGeom>
          <a:noFill/>
          <a:ln/>
        </p:spPr>
        <p:txBody>
          <a:bodyPr wrap="square" lIns="0" tIns="0" rIns="0" bIns="0" rtlCol="0" anchor="ctr"/>
          <a:lstStyle/>
          <a:p>
            <a:pPr marL="0" indent="0" algn="ctr">
              <a:buNone/>
            </a:pPr>
            <a:r>
              <a:rPr lang="en-US" sz="1300" b="1" dirty="0">
                <a:solidFill>
                  <a:srgbClr val="FCA5A5"/>
                </a:solidFill>
                <a:latin typeface="Cambria" pitchFamily="34" charset="0"/>
                <a:ea typeface="Cambria" pitchFamily="34" charset="-122"/>
                <a:cs typeface="Cambria" pitchFamily="34" charset="-120"/>
              </a:rPr>
              <a:t>❌  Without Isolation</a:t>
            </a:r>
            <a:endParaRPr lang="en-US" sz="1300" dirty="0"/>
          </a:p>
        </p:txBody>
      </p:sp>
      <p:sp>
        <p:nvSpPr>
          <p:cNvPr id="9" name="Shape 7"/>
          <p:cNvSpPr/>
          <p:nvPr/>
        </p:nvSpPr>
        <p:spPr>
          <a:xfrm>
            <a:off x="594360" y="1664208"/>
            <a:ext cx="3474720" cy="1417320"/>
          </a:xfrm>
          <a:prstGeom prst="roundRect">
            <a:avLst>
              <a:gd name="adj" fmla="val 6452"/>
            </a:avLst>
          </a:prstGeom>
          <a:solidFill>
            <a:srgbClr val="2D1010"/>
          </a:solidFill>
          <a:ln/>
        </p:spPr>
      </p:sp>
      <p:sp>
        <p:nvSpPr>
          <p:cNvPr id="10" name="Text 8"/>
          <p:cNvSpPr/>
          <p:nvPr/>
        </p:nvSpPr>
        <p:spPr>
          <a:xfrm>
            <a:off x="594360" y="1709928"/>
            <a:ext cx="3474720" cy="292608"/>
          </a:xfrm>
          <a:prstGeom prst="rect">
            <a:avLst/>
          </a:prstGeom>
          <a:noFill/>
          <a:ln/>
        </p:spPr>
        <p:txBody>
          <a:bodyPr wrap="square" lIns="0" tIns="0" rIns="0" bIns="0" rtlCol="0" anchor="ctr"/>
          <a:lstStyle/>
          <a:p>
            <a:pPr marL="0" indent="0" algn="ctr">
              <a:buNone/>
            </a:pPr>
            <a:r>
              <a:rPr lang="en-US" sz="1100" b="1" dirty="0">
                <a:solidFill>
                  <a:srgbClr val="FCA5A5"/>
                </a:solidFill>
                <a:latin typeface="Courier New" pitchFamily="34" charset="0"/>
                <a:ea typeface="Courier New" pitchFamily="34" charset="-122"/>
                <a:cs typeface="Courier New" pitchFamily="34" charset="-120"/>
              </a:rPr>
              <a:t>Laravel App</a:t>
            </a:r>
            <a:endParaRPr lang="en-US" sz="1100" dirty="0"/>
          </a:p>
        </p:txBody>
      </p:sp>
      <p:sp>
        <p:nvSpPr>
          <p:cNvPr id="11" name="Shape 9"/>
          <p:cNvSpPr/>
          <p:nvPr/>
        </p:nvSpPr>
        <p:spPr>
          <a:xfrm>
            <a:off x="822960" y="2029968"/>
            <a:ext cx="3017520" cy="0"/>
          </a:xfrm>
          <a:prstGeom prst="line">
            <a:avLst/>
          </a:prstGeom>
          <a:noFill/>
          <a:ln w="12700">
            <a:solidFill>
              <a:srgbClr val="4A1A1A"/>
            </a:solidFill>
            <a:prstDash val="solid"/>
          </a:ln>
        </p:spPr>
      </p:sp>
      <p:sp>
        <p:nvSpPr>
          <p:cNvPr id="12" name="Text 10"/>
          <p:cNvSpPr/>
          <p:nvPr/>
        </p:nvSpPr>
        <p:spPr>
          <a:xfrm>
            <a:off x="594360" y="2084832"/>
            <a:ext cx="3474720" cy="256032"/>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 AI Models loaded inside</a:t>
            </a:r>
            <a:endParaRPr lang="en-US" sz="1000" dirty="0"/>
          </a:p>
        </p:txBody>
      </p:sp>
      <p:sp>
        <p:nvSpPr>
          <p:cNvPr id="13" name="Text 11"/>
          <p:cNvSpPr/>
          <p:nvPr/>
        </p:nvSpPr>
        <p:spPr>
          <a:xfrm>
            <a:off x="594360" y="2359152"/>
            <a:ext cx="3474720" cy="256032"/>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 Video processing inline</a:t>
            </a:r>
            <a:endParaRPr lang="en-US" sz="1000" dirty="0"/>
          </a:p>
        </p:txBody>
      </p:sp>
      <p:sp>
        <p:nvSpPr>
          <p:cNvPr id="14" name="Text 12"/>
          <p:cNvSpPr/>
          <p:nvPr/>
        </p:nvSpPr>
        <p:spPr>
          <a:xfrm>
            <a:off x="594360" y="2633472"/>
            <a:ext cx="3474720" cy="256032"/>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 GPU blocked per upload</a:t>
            </a:r>
            <a:endParaRPr lang="en-US" sz="1000" dirty="0"/>
          </a:p>
        </p:txBody>
      </p:sp>
      <p:pic>
        <p:nvPicPr>
          <p:cNvPr id="15" name="Image 0" descr="preencoded.png"/>
          <p:cNvPicPr>
            <a:picLocks noChangeAspect="1"/>
          </p:cNvPicPr>
          <p:nvPr/>
        </p:nvPicPr>
        <p:blipFill>
          <a:blip r:embed="rId3"/>
          <a:stretch>
            <a:fillRect/>
          </a:stretch>
        </p:blipFill>
        <p:spPr>
          <a:xfrm>
            <a:off x="685800" y="3218688"/>
            <a:ext cx="502920" cy="502920"/>
          </a:xfrm>
          <a:prstGeom prst="rect">
            <a:avLst/>
          </a:prstGeom>
        </p:spPr>
      </p:pic>
      <p:sp>
        <p:nvSpPr>
          <p:cNvPr id="16" name="Text 13"/>
          <p:cNvSpPr/>
          <p:nvPr/>
        </p:nvSpPr>
        <p:spPr>
          <a:xfrm>
            <a:off x="1261872" y="3218688"/>
            <a:ext cx="2880360" cy="640080"/>
          </a:xfrm>
          <a:prstGeom prst="rect">
            <a:avLst/>
          </a:prstGeom>
          <a:noFill/>
          <a:ln/>
        </p:spPr>
        <p:txBody>
          <a:bodyPr wrap="square" lIns="0" tIns="0" rIns="0" bIns="0" rtlCol="0" anchor="ctr"/>
          <a:lstStyle/>
          <a:p>
            <a:pPr marL="0" indent="0">
              <a:buNone/>
            </a:pPr>
            <a:r>
              <a:rPr lang="en-US" sz="1100" dirty="0">
                <a:solidFill>
                  <a:srgbClr val="FCA5A5"/>
                </a:solidFill>
                <a:latin typeface="Calibri" pitchFamily="34" charset="0"/>
                <a:ea typeface="Calibri" pitchFamily="34" charset="-122"/>
                <a:cs typeface="Calibri" pitchFamily="34" charset="-120"/>
              </a:rPr>
              <a:t>Website freezes on every video upload.</a:t>
            </a:r>
            <a:endParaRPr lang="en-US" sz="1100" dirty="0"/>
          </a:p>
          <a:p>
            <a:pPr marL="0" indent="0">
              <a:buNone/>
            </a:pPr>
            <a:r>
              <a:rPr lang="en-US" sz="1100" dirty="0">
                <a:solidFill>
                  <a:srgbClr val="FCA5A5"/>
                </a:solidFill>
                <a:latin typeface="Calibri" pitchFamily="34" charset="0"/>
                <a:ea typeface="Calibri" pitchFamily="34" charset="-122"/>
                <a:cs typeface="Calibri" pitchFamily="34" charset="-120"/>
              </a:rPr>
              <a:t>All users experience downtime simultaneously.</a:t>
            </a:r>
            <a:endParaRPr lang="en-US" sz="1100" dirty="0"/>
          </a:p>
        </p:txBody>
      </p:sp>
      <p:sp>
        <p:nvSpPr>
          <p:cNvPr id="17" name="Shape 14"/>
          <p:cNvSpPr/>
          <p:nvPr/>
        </p:nvSpPr>
        <p:spPr>
          <a:xfrm>
            <a:off x="594360" y="4005072"/>
            <a:ext cx="3474720" cy="640080"/>
          </a:xfrm>
          <a:prstGeom prst="roundRect">
            <a:avLst>
              <a:gd name="adj" fmla="val 10000"/>
            </a:avLst>
          </a:prstGeom>
          <a:solidFill>
            <a:srgbClr val="3B0707"/>
          </a:solidFill>
          <a:ln/>
        </p:spPr>
      </p:sp>
      <p:sp>
        <p:nvSpPr>
          <p:cNvPr id="18" name="Text 15"/>
          <p:cNvSpPr/>
          <p:nvPr/>
        </p:nvSpPr>
        <p:spPr>
          <a:xfrm>
            <a:off x="640080" y="4005072"/>
            <a:ext cx="3383280" cy="640080"/>
          </a:xfrm>
          <a:prstGeom prst="rect">
            <a:avLst/>
          </a:prstGeom>
          <a:noFill/>
          <a:ln/>
        </p:spPr>
        <p:txBody>
          <a:bodyPr wrap="square" lIns="50800" tIns="50800" rIns="50800" bIns="50800" rtlCol="0" anchor="ctr"/>
          <a:lstStyle/>
          <a:p>
            <a:pPr marL="0" indent="0" algn="ctr">
              <a:buNone/>
            </a:pPr>
            <a:r>
              <a:rPr lang="en-US" sz="1050" dirty="0">
                <a:solidFill>
                  <a:srgbClr val="FCA5A5"/>
                </a:solidFill>
                <a:latin typeface="Calibri" pitchFamily="34" charset="0"/>
                <a:ea typeface="Calibri" pitchFamily="34" charset="-122"/>
                <a:cs typeface="Calibri" pitchFamily="34" charset="-120"/>
              </a:rPr>
              <a:t>Result: Single point of failure — the app crashes,</a:t>
            </a:r>
            <a:endParaRPr lang="en-US" sz="1050" dirty="0"/>
          </a:p>
          <a:p>
            <a:pPr marL="0" indent="0" algn="ctr">
              <a:buNone/>
            </a:pPr>
            <a:r>
              <a:rPr lang="en-US" sz="1050" dirty="0">
                <a:solidFill>
                  <a:srgbClr val="FCA5A5"/>
                </a:solidFill>
                <a:latin typeface="Calibri" pitchFamily="34" charset="0"/>
                <a:ea typeface="Calibri" pitchFamily="34" charset="-122"/>
                <a:cs typeface="Calibri" pitchFamily="34" charset="-120"/>
              </a:rPr>
              <a:t>AI crashes, everything crashes together.</a:t>
            </a:r>
            <a:endParaRPr lang="en-US" sz="1050" dirty="0"/>
          </a:p>
        </p:txBody>
      </p:sp>
      <p:sp>
        <p:nvSpPr>
          <p:cNvPr id="19" name="Shape 16"/>
          <p:cNvSpPr/>
          <p:nvPr/>
        </p:nvSpPr>
        <p:spPr>
          <a:xfrm>
            <a:off x="4370832" y="2962656"/>
            <a:ext cx="402336" cy="0"/>
          </a:xfrm>
          <a:prstGeom prst="line">
            <a:avLst/>
          </a:prstGeom>
          <a:noFill/>
          <a:ln w="31750">
            <a:solidFill>
              <a:srgbClr val="0D9488"/>
            </a:solidFill>
            <a:prstDash val="solid"/>
          </a:ln>
        </p:spPr>
      </p:sp>
      <p:sp>
        <p:nvSpPr>
          <p:cNvPr id="20" name="Text 17"/>
          <p:cNvSpPr/>
          <p:nvPr/>
        </p:nvSpPr>
        <p:spPr>
          <a:xfrm>
            <a:off x="4315968" y="2706624"/>
            <a:ext cx="512064" cy="292608"/>
          </a:xfrm>
          <a:prstGeom prst="rect">
            <a:avLst/>
          </a:prstGeom>
          <a:noFill/>
          <a:ln/>
        </p:spPr>
        <p:txBody>
          <a:bodyPr wrap="square" lIns="0" tIns="0" rIns="0" bIns="0" rtlCol="0" anchor="ctr"/>
          <a:lstStyle/>
          <a:p>
            <a:pPr marL="0" indent="0" algn="ctr">
              <a:buNone/>
            </a:pPr>
            <a:r>
              <a:rPr lang="en-US" sz="1300" b="1" dirty="0">
                <a:solidFill>
                  <a:srgbClr val="FBBF24"/>
                </a:solidFill>
                <a:latin typeface="Cambria" pitchFamily="34" charset="0"/>
                <a:ea typeface="Cambria" pitchFamily="34" charset="-122"/>
                <a:cs typeface="Cambria" pitchFamily="34" charset="-120"/>
              </a:rPr>
              <a:t>VS</a:t>
            </a:r>
            <a:endParaRPr lang="en-US" sz="1300" dirty="0"/>
          </a:p>
        </p:txBody>
      </p:sp>
      <p:sp>
        <p:nvSpPr>
          <p:cNvPr id="21" name="Shape 18"/>
          <p:cNvSpPr/>
          <p:nvPr/>
        </p:nvSpPr>
        <p:spPr>
          <a:xfrm>
            <a:off x="4846320" y="1024128"/>
            <a:ext cx="3931920" cy="3858768"/>
          </a:xfrm>
          <a:prstGeom prst="roundRect">
            <a:avLst>
              <a:gd name="adj" fmla="val 2844"/>
            </a:avLst>
          </a:prstGeom>
          <a:solidFill>
            <a:srgbClr val="061A14"/>
          </a:solidFill>
          <a:ln/>
          <a:effectLst>
            <a:outerShdw blurRad="127000" dist="25400" dir="2700000" algn="bl" rotWithShape="0">
              <a:srgbClr val="000000">
                <a:alpha val="18000"/>
              </a:srgbClr>
            </a:outerShdw>
          </a:effectLst>
        </p:spPr>
      </p:sp>
      <p:sp>
        <p:nvSpPr>
          <p:cNvPr id="22" name="Shape 19"/>
          <p:cNvSpPr/>
          <p:nvPr/>
        </p:nvSpPr>
        <p:spPr>
          <a:xfrm>
            <a:off x="4956048" y="1115568"/>
            <a:ext cx="3703320" cy="384048"/>
          </a:xfrm>
          <a:prstGeom prst="roundRect">
            <a:avLst>
              <a:gd name="adj" fmla="val 16667"/>
            </a:avLst>
          </a:prstGeom>
          <a:solidFill>
            <a:srgbClr val="14532D"/>
          </a:solidFill>
          <a:ln/>
        </p:spPr>
      </p:sp>
      <p:sp>
        <p:nvSpPr>
          <p:cNvPr id="23" name="Text 20"/>
          <p:cNvSpPr/>
          <p:nvPr/>
        </p:nvSpPr>
        <p:spPr>
          <a:xfrm>
            <a:off x="4956048" y="1115568"/>
            <a:ext cx="3703320" cy="384048"/>
          </a:xfrm>
          <a:prstGeom prst="rect">
            <a:avLst/>
          </a:prstGeom>
          <a:noFill/>
          <a:ln/>
        </p:spPr>
        <p:txBody>
          <a:bodyPr wrap="square" lIns="0" tIns="0" rIns="0" bIns="0" rtlCol="0" anchor="ctr"/>
          <a:lstStyle/>
          <a:p>
            <a:pPr marL="0" indent="0" algn="ctr">
              <a:buNone/>
            </a:pPr>
            <a:r>
              <a:rPr lang="en-US" sz="1300" b="1" dirty="0">
                <a:solidFill>
                  <a:srgbClr val="A7F3D0"/>
                </a:solidFill>
                <a:latin typeface="Cambria" pitchFamily="34" charset="0"/>
                <a:ea typeface="Cambria" pitchFamily="34" charset="-122"/>
                <a:cs typeface="Cambria" pitchFamily="34" charset="-120"/>
              </a:rPr>
              <a:t>✅  With FastAPI Microservice</a:t>
            </a:r>
            <a:endParaRPr lang="en-US" sz="1300" dirty="0"/>
          </a:p>
        </p:txBody>
      </p:sp>
      <p:sp>
        <p:nvSpPr>
          <p:cNvPr id="24" name="Shape 21"/>
          <p:cNvSpPr/>
          <p:nvPr/>
        </p:nvSpPr>
        <p:spPr>
          <a:xfrm>
            <a:off x="5010912" y="1664208"/>
            <a:ext cx="1572768" cy="1417320"/>
          </a:xfrm>
          <a:prstGeom prst="roundRect">
            <a:avLst>
              <a:gd name="adj" fmla="val 5806"/>
            </a:avLst>
          </a:prstGeom>
          <a:solidFill>
            <a:srgbClr val="0B1C3F"/>
          </a:solidFill>
          <a:ln/>
        </p:spPr>
      </p:sp>
      <p:sp>
        <p:nvSpPr>
          <p:cNvPr id="25" name="Text 22"/>
          <p:cNvSpPr/>
          <p:nvPr/>
        </p:nvSpPr>
        <p:spPr>
          <a:xfrm>
            <a:off x="5010912" y="1719072"/>
            <a:ext cx="1572768" cy="457200"/>
          </a:xfrm>
          <a:prstGeom prst="rect">
            <a:avLst/>
          </a:prstGeom>
          <a:noFill/>
          <a:ln/>
        </p:spPr>
        <p:txBody>
          <a:bodyPr wrap="square" lIns="0" tIns="0" rIns="0" bIns="0" rtlCol="0" anchor="ctr"/>
          <a:lstStyle/>
          <a:p>
            <a:pPr marL="0" indent="0" algn="ctr">
              <a:buNone/>
            </a:pPr>
            <a:r>
              <a:rPr lang="en-US" sz="1100" b="1" dirty="0">
                <a:solidFill>
                  <a:srgbClr val="14B8A6"/>
                </a:solidFill>
                <a:latin typeface="Courier New" pitchFamily="34" charset="0"/>
                <a:ea typeface="Courier New" pitchFamily="34" charset="-122"/>
                <a:cs typeface="Courier New" pitchFamily="34" charset="-120"/>
              </a:rPr>
              <a:t>Laravel</a:t>
            </a:r>
            <a:endParaRPr lang="en-US" sz="1100" dirty="0"/>
          </a:p>
          <a:p>
            <a:pPr marL="0" indent="0" algn="ctr">
              <a:buNone/>
            </a:pPr>
            <a:r>
              <a:rPr lang="en-US" sz="1100" b="1" dirty="0">
                <a:solidFill>
                  <a:srgbClr val="14B8A6"/>
                </a:solidFill>
                <a:latin typeface="Courier New" pitchFamily="34" charset="0"/>
                <a:ea typeface="Courier New" pitchFamily="34" charset="-122"/>
                <a:cs typeface="Courier New" pitchFamily="34" charset="-120"/>
              </a:rPr>
              <a:t>App</a:t>
            </a:r>
            <a:endParaRPr lang="en-US" sz="1100" dirty="0"/>
          </a:p>
        </p:txBody>
      </p:sp>
      <p:sp>
        <p:nvSpPr>
          <p:cNvPr id="26" name="Shape 23"/>
          <p:cNvSpPr/>
          <p:nvPr/>
        </p:nvSpPr>
        <p:spPr>
          <a:xfrm>
            <a:off x="5120640" y="2212848"/>
            <a:ext cx="1353312" cy="0"/>
          </a:xfrm>
          <a:prstGeom prst="line">
            <a:avLst/>
          </a:prstGeom>
          <a:noFill/>
          <a:ln w="12700">
            <a:solidFill>
              <a:srgbClr val="1E3A5A"/>
            </a:solidFill>
            <a:prstDash val="solid"/>
          </a:ln>
        </p:spPr>
      </p:sp>
      <p:sp>
        <p:nvSpPr>
          <p:cNvPr id="27" name="Text 24"/>
          <p:cNvSpPr/>
          <p:nvPr/>
        </p:nvSpPr>
        <p:spPr>
          <a:xfrm>
            <a:off x="5047488" y="2267712"/>
            <a:ext cx="1499616" cy="713232"/>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UI / Logic</a:t>
            </a:r>
            <a:endParaRPr lang="en-US" sz="900" dirty="0"/>
          </a:p>
          <a:p>
            <a:pPr marL="0" indent="0" algn="ctr">
              <a:buNone/>
            </a:pPr>
            <a:r>
              <a:rPr lang="en-US" sz="900" dirty="0">
                <a:solidFill>
                  <a:srgbClr val="94A3B8"/>
                </a:solidFill>
                <a:latin typeface="Calibri" pitchFamily="34" charset="0"/>
                <a:ea typeface="Calibri" pitchFamily="34" charset="-122"/>
                <a:cs typeface="Calibri" pitchFamily="34" charset="-120"/>
              </a:rPr>
              <a:t>Users / Auth</a:t>
            </a:r>
            <a:endParaRPr lang="en-US" sz="900" dirty="0"/>
          </a:p>
        </p:txBody>
      </p:sp>
      <p:sp>
        <p:nvSpPr>
          <p:cNvPr id="28" name="Shape 25"/>
          <p:cNvSpPr/>
          <p:nvPr/>
        </p:nvSpPr>
        <p:spPr>
          <a:xfrm>
            <a:off x="6629400" y="2377440"/>
            <a:ext cx="347472" cy="0"/>
          </a:xfrm>
          <a:prstGeom prst="line">
            <a:avLst/>
          </a:prstGeom>
          <a:noFill/>
          <a:ln w="25400">
            <a:solidFill>
              <a:srgbClr val="0D9488"/>
            </a:solidFill>
            <a:prstDash val="solid"/>
          </a:ln>
        </p:spPr>
      </p:sp>
      <p:sp>
        <p:nvSpPr>
          <p:cNvPr id="29" name="Text 26"/>
          <p:cNvSpPr/>
          <p:nvPr/>
        </p:nvSpPr>
        <p:spPr>
          <a:xfrm>
            <a:off x="6601968" y="2258568"/>
            <a:ext cx="411480" cy="256032"/>
          </a:xfrm>
          <a:prstGeom prst="rect">
            <a:avLst/>
          </a:prstGeom>
          <a:noFill/>
          <a:ln/>
        </p:spPr>
        <p:txBody>
          <a:bodyPr wrap="square" lIns="0" tIns="0" rIns="0" bIns="0" rtlCol="0" anchor="ctr"/>
          <a:lstStyle/>
          <a:p>
            <a:pPr marL="0" indent="0" algn="ctr">
              <a:buNone/>
            </a:pPr>
            <a:r>
              <a:rPr lang="en-US" sz="1600" dirty="0">
                <a:solidFill>
                  <a:srgbClr val="0D9488"/>
                </a:solidFill>
              </a:rPr>
              <a:t>→</a:t>
            </a:r>
            <a:endParaRPr lang="en-US" sz="1600" dirty="0"/>
          </a:p>
        </p:txBody>
      </p:sp>
      <p:sp>
        <p:nvSpPr>
          <p:cNvPr id="30" name="Text 27"/>
          <p:cNvSpPr/>
          <p:nvPr/>
        </p:nvSpPr>
        <p:spPr>
          <a:xfrm>
            <a:off x="6583680" y="2532888"/>
            <a:ext cx="438912" cy="18288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HTTP</a:t>
            </a:r>
            <a:endParaRPr lang="en-US" sz="800" dirty="0"/>
          </a:p>
        </p:txBody>
      </p:sp>
      <p:sp>
        <p:nvSpPr>
          <p:cNvPr id="31" name="Shape 28"/>
          <p:cNvSpPr/>
          <p:nvPr/>
        </p:nvSpPr>
        <p:spPr>
          <a:xfrm>
            <a:off x="7022592" y="1664208"/>
            <a:ext cx="1572768" cy="1417320"/>
          </a:xfrm>
          <a:prstGeom prst="roundRect">
            <a:avLst>
              <a:gd name="adj" fmla="val 5806"/>
            </a:avLst>
          </a:prstGeom>
          <a:solidFill>
            <a:srgbClr val="042F2E"/>
          </a:solidFill>
          <a:ln/>
        </p:spPr>
      </p:sp>
      <p:sp>
        <p:nvSpPr>
          <p:cNvPr id="32" name="Text 29"/>
          <p:cNvSpPr/>
          <p:nvPr/>
        </p:nvSpPr>
        <p:spPr>
          <a:xfrm>
            <a:off x="7022592" y="1719072"/>
            <a:ext cx="1572768" cy="457200"/>
          </a:xfrm>
          <a:prstGeom prst="rect">
            <a:avLst/>
          </a:prstGeom>
          <a:noFill/>
          <a:ln/>
        </p:spPr>
        <p:txBody>
          <a:bodyPr wrap="square" lIns="0" tIns="0" rIns="0" bIns="0" rtlCol="0" anchor="ctr"/>
          <a:lstStyle/>
          <a:p>
            <a:pPr marL="0" indent="0" algn="ctr">
              <a:buNone/>
            </a:pPr>
            <a:r>
              <a:rPr lang="en-US" sz="1100" b="1" dirty="0">
                <a:solidFill>
                  <a:srgbClr val="14B8A6"/>
                </a:solidFill>
                <a:latin typeface="Courier New" pitchFamily="34" charset="0"/>
                <a:ea typeface="Courier New" pitchFamily="34" charset="-122"/>
                <a:cs typeface="Courier New" pitchFamily="34" charset="-120"/>
              </a:rPr>
              <a:t>FastAPI</a:t>
            </a:r>
            <a:endParaRPr lang="en-US" sz="1100" dirty="0"/>
          </a:p>
          <a:p>
            <a:pPr marL="0" indent="0" algn="ctr">
              <a:buNone/>
            </a:pPr>
            <a:r>
              <a:rPr lang="en-US" sz="1100" b="1" dirty="0">
                <a:solidFill>
                  <a:srgbClr val="14B8A6"/>
                </a:solidFill>
                <a:latin typeface="Courier New" pitchFamily="34" charset="0"/>
                <a:ea typeface="Courier New" pitchFamily="34" charset="-122"/>
                <a:cs typeface="Courier New" pitchFamily="34" charset="-120"/>
              </a:rPr>
              <a:t>Service</a:t>
            </a:r>
            <a:endParaRPr lang="en-US" sz="1100" dirty="0"/>
          </a:p>
        </p:txBody>
      </p:sp>
      <p:sp>
        <p:nvSpPr>
          <p:cNvPr id="33" name="Shape 30"/>
          <p:cNvSpPr/>
          <p:nvPr/>
        </p:nvSpPr>
        <p:spPr>
          <a:xfrm>
            <a:off x="7132320" y="2212848"/>
            <a:ext cx="1353312" cy="0"/>
          </a:xfrm>
          <a:prstGeom prst="line">
            <a:avLst/>
          </a:prstGeom>
          <a:noFill/>
          <a:ln w="12700">
            <a:solidFill>
              <a:srgbClr val="0F4035"/>
            </a:solidFill>
            <a:prstDash val="solid"/>
          </a:ln>
        </p:spPr>
      </p:sp>
      <p:sp>
        <p:nvSpPr>
          <p:cNvPr id="34" name="Text 31"/>
          <p:cNvSpPr/>
          <p:nvPr/>
        </p:nvSpPr>
        <p:spPr>
          <a:xfrm>
            <a:off x="7059168" y="2267712"/>
            <a:ext cx="1499616" cy="713232"/>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PyTorch / YOLO</a:t>
            </a:r>
            <a:endParaRPr lang="en-US" sz="900" dirty="0"/>
          </a:p>
          <a:p>
            <a:pPr marL="0" indent="0" algn="ctr">
              <a:buNone/>
            </a:pPr>
            <a:r>
              <a:rPr lang="en-US" sz="900" dirty="0">
                <a:solidFill>
                  <a:srgbClr val="94A3B8"/>
                </a:solidFill>
                <a:latin typeface="Calibri" pitchFamily="34" charset="0"/>
                <a:ea typeface="Calibri" pitchFamily="34" charset="-122"/>
                <a:cs typeface="Calibri" pitchFamily="34" charset="-120"/>
              </a:rPr>
              <a:t>GPU Inference</a:t>
            </a:r>
            <a:endParaRPr lang="en-US" sz="900" dirty="0"/>
          </a:p>
        </p:txBody>
      </p:sp>
      <p:pic>
        <p:nvPicPr>
          <p:cNvPr id="35" name="Image 1" descr="preencoded.png"/>
          <p:cNvPicPr>
            <a:picLocks noChangeAspect="1"/>
          </p:cNvPicPr>
          <p:nvPr/>
        </p:nvPicPr>
        <p:blipFill>
          <a:blip r:embed="rId4"/>
          <a:stretch>
            <a:fillRect/>
          </a:stretch>
        </p:blipFill>
        <p:spPr>
          <a:xfrm>
            <a:off x="4983480" y="3218688"/>
            <a:ext cx="502920" cy="502920"/>
          </a:xfrm>
          <a:prstGeom prst="rect">
            <a:avLst/>
          </a:prstGeom>
        </p:spPr>
      </p:pic>
      <p:sp>
        <p:nvSpPr>
          <p:cNvPr id="36" name="Text 32"/>
          <p:cNvSpPr/>
          <p:nvPr/>
        </p:nvSpPr>
        <p:spPr>
          <a:xfrm>
            <a:off x="5559552" y="3218688"/>
            <a:ext cx="3154680" cy="640080"/>
          </a:xfrm>
          <a:prstGeom prst="rect">
            <a:avLst/>
          </a:prstGeom>
          <a:noFill/>
          <a:ln/>
        </p:spPr>
        <p:txBody>
          <a:bodyPr wrap="square" lIns="0" tIns="0" rIns="0" bIns="0" rtlCol="0" anchor="ctr"/>
          <a:lstStyle/>
          <a:p>
            <a:pPr marL="0" indent="0">
              <a:buNone/>
            </a:pPr>
            <a:r>
              <a:rPr lang="en-US" sz="1100" dirty="0">
                <a:solidFill>
                  <a:srgbClr val="A7F3D0"/>
                </a:solidFill>
                <a:latin typeface="Calibri" pitchFamily="34" charset="0"/>
                <a:ea typeface="Calibri" pitchFamily="34" charset="-122"/>
                <a:cs typeface="Calibri" pitchFamily="34" charset="-120"/>
              </a:rPr>
              <a:t>Laravel stays fast. AI scales on its own.</a:t>
            </a:r>
            <a:endParaRPr lang="en-US" sz="1100" dirty="0"/>
          </a:p>
          <a:p>
            <a:pPr marL="0" indent="0">
              <a:buNone/>
            </a:pPr>
            <a:r>
              <a:rPr lang="en-US" sz="1100" dirty="0">
                <a:solidFill>
                  <a:srgbClr val="A7F3D0"/>
                </a:solidFill>
                <a:latin typeface="Calibri" pitchFamily="34" charset="0"/>
                <a:ea typeface="Calibri" pitchFamily="34" charset="-122"/>
                <a:cs typeface="Calibri" pitchFamily="34" charset="-120"/>
              </a:rPr>
              <a:t>Users never experience a freeze.</a:t>
            </a:r>
            <a:endParaRPr lang="en-US" sz="1100" dirty="0"/>
          </a:p>
        </p:txBody>
      </p:sp>
      <p:sp>
        <p:nvSpPr>
          <p:cNvPr id="37" name="Shape 33"/>
          <p:cNvSpPr/>
          <p:nvPr/>
        </p:nvSpPr>
        <p:spPr>
          <a:xfrm>
            <a:off x="4983480" y="4005072"/>
            <a:ext cx="3474720" cy="640080"/>
          </a:xfrm>
          <a:prstGeom prst="roundRect">
            <a:avLst>
              <a:gd name="adj" fmla="val 10000"/>
            </a:avLst>
          </a:prstGeom>
          <a:solidFill>
            <a:srgbClr val="052E16"/>
          </a:solidFill>
          <a:ln/>
        </p:spPr>
      </p:sp>
      <p:sp>
        <p:nvSpPr>
          <p:cNvPr id="38" name="Text 34"/>
          <p:cNvSpPr/>
          <p:nvPr/>
        </p:nvSpPr>
        <p:spPr>
          <a:xfrm>
            <a:off x="5029200" y="4005072"/>
            <a:ext cx="3383280" cy="640080"/>
          </a:xfrm>
          <a:prstGeom prst="rect">
            <a:avLst/>
          </a:prstGeom>
          <a:noFill/>
          <a:ln/>
        </p:spPr>
        <p:txBody>
          <a:bodyPr wrap="square" lIns="50800" tIns="50800" rIns="50800" bIns="50800" rtlCol="0" anchor="ctr"/>
          <a:lstStyle/>
          <a:p>
            <a:pPr marL="0" indent="0" algn="ctr">
              <a:buNone/>
            </a:pPr>
            <a:r>
              <a:rPr lang="en-US" sz="1050" dirty="0">
                <a:solidFill>
                  <a:srgbClr val="A7F3D0"/>
                </a:solidFill>
                <a:latin typeface="Calibri" pitchFamily="34" charset="0"/>
                <a:ea typeface="Calibri" pitchFamily="34" charset="-122"/>
                <a:cs typeface="Calibri" pitchFamily="34" charset="-120"/>
              </a:rPr>
              <a:t>Result: Each service fails and scales independently.</a:t>
            </a:r>
            <a:endParaRPr lang="en-US" sz="1050" dirty="0"/>
          </a:p>
          <a:p>
            <a:pPr marL="0" indent="0" algn="ctr">
              <a:buNone/>
            </a:pPr>
            <a:r>
              <a:rPr lang="en-US" sz="1050" dirty="0">
                <a:solidFill>
                  <a:srgbClr val="A7F3D0"/>
                </a:solidFill>
                <a:latin typeface="Calibri" pitchFamily="34" charset="0"/>
                <a:ea typeface="Calibri" pitchFamily="34" charset="-122"/>
                <a:cs typeface="Calibri" pitchFamily="34" charset="-120"/>
              </a:rPr>
              <a:t>The app stays alive even during peak AI load.</a:t>
            </a:r>
            <a:endParaRPr lang="en-US" sz="1050" dirty="0"/>
          </a:p>
        </p:txBody>
      </p:sp>
      <p:pic>
        <p:nvPicPr>
          <p:cNvPr id="39" name="Image 2" descr="preencoded.png"/>
          <p:cNvPicPr>
            <a:picLocks noChangeAspect="1"/>
          </p:cNvPicPr>
          <p:nvPr/>
        </p:nvPicPr>
        <p:blipFill>
          <a:blip r:embed="rId5"/>
          <a:stretch>
            <a:fillRect/>
          </a:stretch>
        </p:blipFill>
        <p:spPr>
          <a:xfrm>
            <a:off x="502920" y="4773168"/>
            <a:ext cx="292608" cy="292608"/>
          </a:xfrm>
          <a:prstGeom prst="rect">
            <a:avLst/>
          </a:prstGeom>
        </p:spPr>
      </p:pic>
      <p:sp>
        <p:nvSpPr>
          <p:cNvPr id="40" name="Text 35"/>
          <p:cNvSpPr/>
          <p:nvPr/>
        </p:nvSpPr>
        <p:spPr>
          <a:xfrm>
            <a:off x="868680" y="4754880"/>
            <a:ext cx="8046720" cy="320040"/>
          </a:xfrm>
          <a:prstGeom prst="rect">
            <a:avLst/>
          </a:prstGeom>
          <a:noFill/>
          <a:ln/>
        </p:spPr>
        <p:txBody>
          <a:bodyPr wrap="square" lIns="0" tIns="0" rIns="0" bIns="0" rtlCol="0" anchor="ctr"/>
          <a:lstStyle/>
          <a:p>
            <a:pPr marL="0" indent="0">
              <a:buNone/>
            </a:pPr>
            <a:r>
              <a:rPr lang="en-US" sz="1050" i="1" dirty="0">
                <a:solidFill>
                  <a:srgbClr val="FBBF24"/>
                </a:solidFill>
                <a:latin typeface="Calibri" pitchFamily="34" charset="0"/>
                <a:ea typeface="Calibri" pitchFamily="34" charset="-122"/>
                <a:cs typeface="Calibri" pitchFamily="34" charset="-120"/>
              </a:rPr>
              <a:t>Key Insight: Decoupling the AI into its own microservice is what makes SRIS production-ready — the web layer and the intelligence layer scale, fail, and deploy completely independently.</a:t>
            </a:r>
            <a:endParaRPr lang="en-US" sz="1050" dirty="0"/>
          </a:p>
        </p:txBody>
      </p:sp>
    </p:spTree>
    <p:extLst>
      <p:ext uri="{BB962C8B-B14F-4D97-AF65-F5344CB8AC3E}">
        <p14:creationId xmlns:p14="http://schemas.microsoft.com/office/powerpoint/2010/main" val="40789138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5 · BACKEND DEEP DIVE</a:t>
            </a:r>
            <a:endParaRPr lang="en-US" sz="900" dirty="0"/>
          </a:p>
        </p:txBody>
      </p:sp>
      <p:sp>
        <p:nvSpPr>
          <p:cNvPr id="4" name="Text 2"/>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Zero Perceived Lag</a:t>
            </a:r>
            <a:endParaRPr lang="en-US" sz="3000" dirty="0"/>
          </a:p>
        </p:txBody>
      </p:sp>
      <p:sp>
        <p:nvSpPr>
          <p:cNvPr id="5" name="Shape 3"/>
          <p:cNvSpPr/>
          <p:nvPr/>
        </p:nvSpPr>
        <p:spPr>
          <a:xfrm>
            <a:off x="457200" y="850392"/>
            <a:ext cx="1097280" cy="54864"/>
          </a:xfrm>
          <a:prstGeom prst="rect">
            <a:avLst/>
          </a:prstGeom>
          <a:solidFill>
            <a:srgbClr val="0D9488"/>
          </a:solidFill>
          <a:ln/>
        </p:spPr>
      </p:sp>
      <p:sp>
        <p:nvSpPr>
          <p:cNvPr id="6" name="Shape 4"/>
          <p:cNvSpPr/>
          <p:nvPr/>
        </p:nvSpPr>
        <p:spPr>
          <a:xfrm>
            <a:off x="457200" y="1188720"/>
            <a:ext cx="1920240" cy="914400"/>
          </a:xfrm>
          <a:prstGeom prst="roundRect">
            <a:avLst>
              <a:gd name="adj" fmla="val 10000"/>
            </a:avLst>
          </a:prstGeom>
          <a:solidFill>
            <a:srgbClr val="0B1C3F"/>
          </a:solidFill>
          <a:ln/>
        </p:spPr>
      </p:sp>
      <p:sp>
        <p:nvSpPr>
          <p:cNvPr id="7" name="Text 5"/>
          <p:cNvSpPr/>
          <p:nvPr/>
        </p:nvSpPr>
        <p:spPr>
          <a:xfrm>
            <a:off x="457200" y="1188720"/>
            <a:ext cx="1920240" cy="914400"/>
          </a:xfrm>
          <a:prstGeom prst="rect">
            <a:avLst/>
          </a:prstGeom>
          <a:noFill/>
          <a:ln/>
        </p:spPr>
        <p:txBody>
          <a:bodyPr wrap="square" lIns="50800" tIns="50800" rIns="50800" bIns="508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Video</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Uploaded</a:t>
            </a:r>
            <a:endParaRPr lang="en-US" sz="1200" dirty="0"/>
          </a:p>
        </p:txBody>
      </p:sp>
      <p:sp>
        <p:nvSpPr>
          <p:cNvPr id="8" name="Shape 6"/>
          <p:cNvSpPr/>
          <p:nvPr/>
        </p:nvSpPr>
        <p:spPr>
          <a:xfrm>
            <a:off x="2377440" y="1664208"/>
            <a:ext cx="182880" cy="0"/>
          </a:xfrm>
          <a:prstGeom prst="line">
            <a:avLst/>
          </a:prstGeom>
          <a:noFill/>
          <a:ln w="25400">
            <a:solidFill>
              <a:srgbClr val="0D9488"/>
            </a:solidFill>
            <a:prstDash val="solid"/>
          </a:ln>
        </p:spPr>
      </p:sp>
      <p:sp>
        <p:nvSpPr>
          <p:cNvPr id="9" name="Text 7"/>
          <p:cNvSpPr/>
          <p:nvPr/>
        </p:nvSpPr>
        <p:spPr>
          <a:xfrm>
            <a:off x="2350008" y="1536192"/>
            <a:ext cx="237744" cy="256032"/>
          </a:xfrm>
          <a:prstGeom prst="rect">
            <a:avLst/>
          </a:prstGeom>
          <a:noFill/>
          <a:ln/>
        </p:spPr>
        <p:txBody>
          <a:bodyPr wrap="square" lIns="0" tIns="0" rIns="0" bIns="0" rtlCol="0" anchor="ctr"/>
          <a:lstStyle/>
          <a:p>
            <a:pPr marL="0" indent="0" algn="ctr">
              <a:buNone/>
            </a:pPr>
            <a:r>
              <a:rPr lang="en-US" sz="1400" dirty="0">
                <a:solidFill>
                  <a:srgbClr val="0D9488"/>
                </a:solidFill>
              </a:rPr>
              <a:t>→</a:t>
            </a:r>
            <a:endParaRPr lang="en-US" sz="1400" dirty="0"/>
          </a:p>
        </p:txBody>
      </p:sp>
      <p:sp>
        <p:nvSpPr>
          <p:cNvPr id="10" name="Shape 8"/>
          <p:cNvSpPr/>
          <p:nvPr/>
        </p:nvSpPr>
        <p:spPr>
          <a:xfrm>
            <a:off x="2560320" y="1188720"/>
            <a:ext cx="1920240" cy="914400"/>
          </a:xfrm>
          <a:prstGeom prst="roundRect">
            <a:avLst>
              <a:gd name="adj" fmla="val 10000"/>
            </a:avLst>
          </a:prstGeom>
          <a:solidFill>
            <a:srgbClr val="0D9488"/>
          </a:solidFill>
          <a:ln/>
        </p:spPr>
      </p:sp>
      <p:sp>
        <p:nvSpPr>
          <p:cNvPr id="11" name="Text 9"/>
          <p:cNvSpPr/>
          <p:nvPr/>
        </p:nvSpPr>
        <p:spPr>
          <a:xfrm>
            <a:off x="2560320" y="1188720"/>
            <a:ext cx="1920240" cy="914400"/>
          </a:xfrm>
          <a:prstGeom prst="rect">
            <a:avLst/>
          </a:prstGeom>
          <a:noFill/>
          <a:ln/>
        </p:spPr>
        <p:txBody>
          <a:bodyPr wrap="square" lIns="50800" tIns="50800" rIns="50800" bIns="508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First Frame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Processed</a:t>
            </a:r>
            <a:endParaRPr lang="en-US" sz="1200" dirty="0"/>
          </a:p>
        </p:txBody>
      </p:sp>
      <p:sp>
        <p:nvSpPr>
          <p:cNvPr id="12" name="Shape 10"/>
          <p:cNvSpPr/>
          <p:nvPr/>
        </p:nvSpPr>
        <p:spPr>
          <a:xfrm>
            <a:off x="4480560" y="1664208"/>
            <a:ext cx="182880" cy="0"/>
          </a:xfrm>
          <a:prstGeom prst="line">
            <a:avLst/>
          </a:prstGeom>
          <a:noFill/>
          <a:ln w="25400">
            <a:solidFill>
              <a:srgbClr val="0D9488"/>
            </a:solidFill>
            <a:prstDash val="solid"/>
          </a:ln>
        </p:spPr>
      </p:sp>
      <p:sp>
        <p:nvSpPr>
          <p:cNvPr id="13" name="Text 11"/>
          <p:cNvSpPr/>
          <p:nvPr/>
        </p:nvSpPr>
        <p:spPr>
          <a:xfrm>
            <a:off x="4453128" y="1536192"/>
            <a:ext cx="237744" cy="256032"/>
          </a:xfrm>
          <a:prstGeom prst="rect">
            <a:avLst/>
          </a:prstGeom>
          <a:noFill/>
          <a:ln/>
        </p:spPr>
        <p:txBody>
          <a:bodyPr wrap="square" lIns="0" tIns="0" rIns="0" bIns="0" rtlCol="0" anchor="ctr"/>
          <a:lstStyle/>
          <a:p>
            <a:pPr marL="0" indent="0" algn="ctr">
              <a:buNone/>
            </a:pPr>
            <a:r>
              <a:rPr lang="en-US" sz="1400" dirty="0">
                <a:solidFill>
                  <a:srgbClr val="0D9488"/>
                </a:solidFill>
              </a:rPr>
              <a:t>→</a:t>
            </a:r>
            <a:endParaRPr lang="en-US" sz="1400" dirty="0"/>
          </a:p>
        </p:txBody>
      </p:sp>
      <p:sp>
        <p:nvSpPr>
          <p:cNvPr id="14" name="Shape 12"/>
          <p:cNvSpPr/>
          <p:nvPr/>
        </p:nvSpPr>
        <p:spPr>
          <a:xfrm>
            <a:off x="4663440" y="1188720"/>
            <a:ext cx="1920240" cy="914400"/>
          </a:xfrm>
          <a:prstGeom prst="roundRect">
            <a:avLst>
              <a:gd name="adj" fmla="val 10000"/>
            </a:avLst>
          </a:prstGeom>
          <a:solidFill>
            <a:srgbClr val="082A26"/>
          </a:solidFill>
          <a:ln/>
        </p:spPr>
      </p:sp>
      <p:sp>
        <p:nvSpPr>
          <p:cNvPr id="15" name="Text 13"/>
          <p:cNvSpPr/>
          <p:nvPr/>
        </p:nvSpPr>
        <p:spPr>
          <a:xfrm>
            <a:off x="4663440" y="1188720"/>
            <a:ext cx="1920240" cy="914400"/>
          </a:xfrm>
          <a:prstGeom prst="rect">
            <a:avLst/>
          </a:prstGeom>
          <a:noFill/>
          <a:ln/>
        </p:spPr>
        <p:txBody>
          <a:bodyPr wrap="square" lIns="50800" tIns="50800" rIns="50800" bIns="508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Dashboard</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Plays Video</a:t>
            </a:r>
            <a:endParaRPr lang="en-US" sz="1200" dirty="0"/>
          </a:p>
        </p:txBody>
      </p:sp>
      <p:sp>
        <p:nvSpPr>
          <p:cNvPr id="16" name="Shape 14"/>
          <p:cNvSpPr/>
          <p:nvPr/>
        </p:nvSpPr>
        <p:spPr>
          <a:xfrm>
            <a:off x="6583680" y="1664208"/>
            <a:ext cx="182880" cy="0"/>
          </a:xfrm>
          <a:prstGeom prst="line">
            <a:avLst/>
          </a:prstGeom>
          <a:noFill/>
          <a:ln w="25400">
            <a:solidFill>
              <a:srgbClr val="0D9488"/>
            </a:solidFill>
            <a:prstDash val="solid"/>
          </a:ln>
        </p:spPr>
      </p:sp>
      <p:sp>
        <p:nvSpPr>
          <p:cNvPr id="17" name="Text 15"/>
          <p:cNvSpPr/>
          <p:nvPr/>
        </p:nvSpPr>
        <p:spPr>
          <a:xfrm>
            <a:off x="6556248" y="1536192"/>
            <a:ext cx="237744" cy="256032"/>
          </a:xfrm>
          <a:prstGeom prst="rect">
            <a:avLst/>
          </a:prstGeom>
          <a:noFill/>
          <a:ln/>
        </p:spPr>
        <p:txBody>
          <a:bodyPr wrap="square" lIns="0" tIns="0" rIns="0" bIns="0" rtlCol="0" anchor="ctr"/>
          <a:lstStyle/>
          <a:p>
            <a:pPr marL="0" indent="0" algn="ctr">
              <a:buNone/>
            </a:pPr>
            <a:r>
              <a:rPr lang="en-US" sz="1400" dirty="0">
                <a:solidFill>
                  <a:srgbClr val="0D9488"/>
                </a:solidFill>
              </a:rPr>
              <a:t>→</a:t>
            </a:r>
            <a:endParaRPr lang="en-US" sz="1400" dirty="0"/>
          </a:p>
        </p:txBody>
      </p:sp>
      <p:sp>
        <p:nvSpPr>
          <p:cNvPr id="18" name="Shape 16"/>
          <p:cNvSpPr/>
          <p:nvPr/>
        </p:nvSpPr>
        <p:spPr>
          <a:xfrm>
            <a:off x="6766560" y="1188720"/>
            <a:ext cx="1920240" cy="914400"/>
          </a:xfrm>
          <a:prstGeom prst="roundRect">
            <a:avLst>
              <a:gd name="adj" fmla="val 10000"/>
            </a:avLst>
          </a:prstGeom>
          <a:solidFill>
            <a:srgbClr val="4A1D0A"/>
          </a:solidFill>
          <a:ln/>
        </p:spPr>
      </p:sp>
      <p:sp>
        <p:nvSpPr>
          <p:cNvPr id="19" name="Text 17"/>
          <p:cNvSpPr/>
          <p:nvPr/>
        </p:nvSpPr>
        <p:spPr>
          <a:xfrm>
            <a:off x="6766560" y="1188720"/>
            <a:ext cx="1920240" cy="914400"/>
          </a:xfrm>
          <a:prstGeom prst="rect">
            <a:avLst/>
          </a:prstGeom>
          <a:noFill/>
          <a:ln/>
        </p:spPr>
        <p:txBody>
          <a:bodyPr wrap="square" lIns="50800" tIns="50800" rIns="50800" bIns="508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AI Overlays</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Appear Live</a:t>
            </a:r>
            <a:endParaRPr lang="en-US" sz="1200" dirty="0"/>
          </a:p>
        </p:txBody>
      </p:sp>
      <p:sp>
        <p:nvSpPr>
          <p:cNvPr id="20" name="Shape 18"/>
          <p:cNvSpPr/>
          <p:nvPr/>
        </p:nvSpPr>
        <p:spPr>
          <a:xfrm>
            <a:off x="457200" y="2423160"/>
            <a:ext cx="8229600" cy="2423160"/>
          </a:xfrm>
          <a:prstGeom prst="roundRect">
            <a:avLst>
              <a:gd name="adj" fmla="val 3774"/>
            </a:avLst>
          </a:prstGeom>
          <a:solidFill>
            <a:srgbClr val="0E2140"/>
          </a:solidFill>
          <a:ln/>
          <a:effectLst>
            <a:outerShdw blurRad="127000" dist="25400" dir="2700000" algn="bl" rotWithShape="0">
              <a:srgbClr val="000000">
                <a:alpha val="12000"/>
              </a:srgbClr>
            </a:outerShdw>
          </a:effectLst>
        </p:spPr>
      </p:sp>
      <p:sp>
        <p:nvSpPr>
          <p:cNvPr id="21" name="Text 19"/>
          <p:cNvSpPr/>
          <p:nvPr/>
        </p:nvSpPr>
        <p:spPr>
          <a:xfrm>
            <a:off x="640080" y="2514600"/>
            <a:ext cx="786384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The NDJSON Advantage</a:t>
            </a:r>
            <a:endParaRPr lang="en-US" sz="1400" dirty="0"/>
          </a:p>
        </p:txBody>
      </p:sp>
      <p:sp>
        <p:nvSpPr>
          <p:cNvPr id="22" name="Text 20"/>
          <p:cNvSpPr/>
          <p:nvPr/>
        </p:nvSpPr>
        <p:spPr>
          <a:xfrm>
            <a:off x="640080" y="2971800"/>
            <a:ext cx="7863840" cy="178308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Because of NDJSON streaming, users don't wait for video processing to complete before seeing results</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The frontend dashboard begins playing video immediately and overlays AI bounding boxes dynamically across the screen in real-time</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The experience is exactly like a live surveillance feed — zero perceived lag, maximum operator confidence</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Even a 30-minute highway patrol video provides immediate AI insights from the first second</a:t>
            </a:r>
            <a:endParaRPr lang="en-US" sz="12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6 · DEVOPS &amp; SECURITY</a:t>
            </a:r>
            <a:endParaRPr lang="en-US" sz="900" dirty="0"/>
          </a:p>
        </p:txBody>
      </p:sp>
      <p:sp>
        <p:nvSpPr>
          <p:cNvPr id="4" name="Text 2"/>
          <p:cNvSpPr/>
          <p:nvPr/>
        </p:nvSpPr>
        <p:spPr>
          <a:xfrm>
            <a:off x="457200" y="201168"/>
            <a:ext cx="8229600" cy="548640"/>
          </a:xfrm>
          <a:prstGeom prst="rect">
            <a:avLst/>
          </a:prstGeom>
          <a:noFill/>
          <a:ln/>
        </p:spPr>
        <p:txBody>
          <a:bodyPr wrap="square" lIns="0" tIns="0" rIns="0" bIns="0" rtlCol="0" anchor="ctr"/>
          <a:lstStyle/>
          <a:p>
            <a:pPr marL="0" indent="0" algn="l">
              <a:buNone/>
            </a:pPr>
            <a:r>
              <a:rPr lang="en-US" sz="2800" b="1" dirty="0">
                <a:solidFill>
                  <a:srgbClr val="0B1C3F"/>
                </a:solidFill>
                <a:latin typeface="Cambria" pitchFamily="34" charset="0"/>
                <a:ea typeface="Cambria" pitchFamily="34" charset="-122"/>
                <a:cs typeface="Cambria" pitchFamily="34" charset="-120"/>
              </a:rPr>
              <a:t>Robust &amp; Protected Data Flow</a:t>
            </a:r>
            <a:endParaRPr lang="en-US" sz="2800" dirty="0"/>
          </a:p>
        </p:txBody>
      </p:sp>
      <p:sp>
        <p:nvSpPr>
          <p:cNvPr id="5" name="Shape 3"/>
          <p:cNvSpPr/>
          <p:nvPr/>
        </p:nvSpPr>
        <p:spPr>
          <a:xfrm>
            <a:off x="457200" y="795528"/>
            <a:ext cx="1097280" cy="54864"/>
          </a:xfrm>
          <a:prstGeom prst="rect">
            <a:avLst/>
          </a:prstGeom>
          <a:solidFill>
            <a:srgbClr val="0D9488"/>
          </a:solidFill>
          <a:ln/>
        </p:spPr>
      </p:sp>
      <p:sp>
        <p:nvSpPr>
          <p:cNvPr id="6" name="Shape 4"/>
          <p:cNvSpPr/>
          <p:nvPr/>
        </p:nvSpPr>
        <p:spPr>
          <a:xfrm>
            <a:off x="365760" y="1005840"/>
            <a:ext cx="4206240" cy="3749040"/>
          </a:xfrm>
          <a:prstGeom prst="roundRect">
            <a:avLst>
              <a:gd name="adj" fmla="val 2439"/>
            </a:avLst>
          </a:prstGeom>
          <a:solidFill>
            <a:srgbClr val="FFFFFF"/>
          </a:solidFill>
          <a:ln/>
          <a:effectLst>
            <a:outerShdw blurRad="127000" dist="25400" dir="2700000" algn="bl" rotWithShape="0">
              <a:srgbClr val="000000">
                <a:alpha val="12000"/>
              </a:srgbClr>
            </a:outerShdw>
          </a:effectLst>
        </p:spPr>
      </p:sp>
      <p:sp>
        <p:nvSpPr>
          <p:cNvPr id="7" name="Shape 5"/>
          <p:cNvSpPr/>
          <p:nvPr/>
        </p:nvSpPr>
        <p:spPr>
          <a:xfrm>
            <a:off x="1965960" y="1097280"/>
            <a:ext cx="960120" cy="960120"/>
          </a:xfrm>
          <a:prstGeom prst="line">
            <a:avLst/>
          </a:prstGeom>
          <a:solidFill>
            <a:srgbClr val="0B1C3F"/>
          </a:solidFill>
          <a:ln/>
        </p:spPr>
      </p:sp>
      <p:pic>
        <p:nvPicPr>
          <p:cNvPr id="8" name="Image 0" descr="preencoded.png"/>
          <p:cNvPicPr>
            <a:picLocks noChangeAspect="1"/>
          </p:cNvPicPr>
          <p:nvPr/>
        </p:nvPicPr>
        <p:blipFill>
          <a:blip r:embed="rId3"/>
          <a:stretch>
            <a:fillRect/>
          </a:stretch>
        </p:blipFill>
        <p:spPr>
          <a:xfrm>
            <a:off x="2057400" y="1188720"/>
            <a:ext cx="777240" cy="777240"/>
          </a:xfrm>
          <a:prstGeom prst="rect">
            <a:avLst/>
          </a:prstGeom>
        </p:spPr>
      </p:pic>
      <p:sp>
        <p:nvSpPr>
          <p:cNvPr id="9" name="Text 6"/>
          <p:cNvSpPr/>
          <p:nvPr/>
        </p:nvSpPr>
        <p:spPr>
          <a:xfrm>
            <a:off x="457200" y="2194560"/>
            <a:ext cx="4023360" cy="411480"/>
          </a:xfrm>
          <a:prstGeom prst="rect">
            <a:avLst/>
          </a:prstGeom>
          <a:noFill/>
          <a:ln/>
        </p:spPr>
        <p:txBody>
          <a:bodyPr wrap="square" lIns="0" tIns="0" rIns="0" bIns="0" rtlCol="0" anchor="ctr"/>
          <a:lstStyle/>
          <a:p>
            <a:pPr marL="0" indent="0" algn="ctr">
              <a:buNone/>
            </a:pPr>
            <a:r>
              <a:rPr lang="en-US" sz="1300" b="1" dirty="0">
                <a:solidFill>
                  <a:srgbClr val="0B1C3F"/>
                </a:solidFill>
                <a:latin typeface="Cambria" pitchFamily="34" charset="0"/>
                <a:ea typeface="Cambria" pitchFamily="34" charset="-122"/>
                <a:cs typeface="Cambria" pitchFamily="34" charset="-120"/>
              </a:rPr>
              <a:t>Database: MySQL 8</a:t>
            </a:r>
            <a:endParaRPr lang="en-US" sz="1300" dirty="0"/>
          </a:p>
        </p:txBody>
      </p:sp>
      <p:sp>
        <p:nvSpPr>
          <p:cNvPr id="10" name="Text 7"/>
          <p:cNvSpPr/>
          <p:nvPr/>
        </p:nvSpPr>
        <p:spPr>
          <a:xfrm>
            <a:off x="548640" y="2697480"/>
            <a:ext cx="3840480" cy="1965960"/>
          </a:xfrm>
          <a:prstGeom prst="rect">
            <a:avLst/>
          </a:prstGeom>
          <a:noFill/>
          <a:ln/>
        </p:spPr>
        <p:txBody>
          <a:bodyPr wrap="square" lIns="50800" tIns="50800" rIns="50800" bIns="50800" rtlCol="0" anchor="t"/>
          <a:lstStyle/>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Highly structured schema: sris_db</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Maps users to footage and inspection reports</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Indexed for fast historical query performance</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Full referential integrity with foreign key constraints</a:t>
            </a:r>
            <a:endParaRPr lang="en-US" sz="1100" dirty="0"/>
          </a:p>
        </p:txBody>
      </p:sp>
      <p:sp>
        <p:nvSpPr>
          <p:cNvPr id="11" name="Shape 8"/>
          <p:cNvSpPr/>
          <p:nvPr/>
        </p:nvSpPr>
        <p:spPr>
          <a:xfrm>
            <a:off x="4800600" y="1005840"/>
            <a:ext cx="4206240" cy="3749040"/>
          </a:xfrm>
          <a:prstGeom prst="roundRect">
            <a:avLst>
              <a:gd name="adj" fmla="val 2439"/>
            </a:avLst>
          </a:prstGeom>
          <a:solidFill>
            <a:srgbClr val="FFFFFF"/>
          </a:solidFill>
          <a:ln/>
          <a:effectLst>
            <a:outerShdw blurRad="127000" dist="25400" dir="2700000" algn="bl" rotWithShape="0">
              <a:srgbClr val="000000">
                <a:alpha val="12000"/>
              </a:srgbClr>
            </a:outerShdw>
          </a:effectLst>
        </p:spPr>
      </p:sp>
      <p:sp>
        <p:nvSpPr>
          <p:cNvPr id="12" name="Shape 9"/>
          <p:cNvSpPr/>
          <p:nvPr/>
        </p:nvSpPr>
        <p:spPr>
          <a:xfrm>
            <a:off x="6400800" y="1097280"/>
            <a:ext cx="960120" cy="960120"/>
          </a:xfrm>
          <a:prstGeom prst="line">
            <a:avLst/>
          </a:prstGeom>
          <a:solidFill>
            <a:srgbClr val="0D9488"/>
          </a:solidFill>
          <a:ln/>
        </p:spPr>
      </p:sp>
      <p:pic>
        <p:nvPicPr>
          <p:cNvPr id="13" name="Image 1" descr="preencoded.png"/>
          <p:cNvPicPr>
            <a:picLocks noChangeAspect="1"/>
          </p:cNvPicPr>
          <p:nvPr/>
        </p:nvPicPr>
        <p:blipFill>
          <a:blip r:embed="rId4"/>
          <a:stretch>
            <a:fillRect/>
          </a:stretch>
        </p:blipFill>
        <p:spPr>
          <a:xfrm>
            <a:off x="6492240" y="1188720"/>
            <a:ext cx="777240" cy="777240"/>
          </a:xfrm>
          <a:prstGeom prst="rect">
            <a:avLst/>
          </a:prstGeom>
        </p:spPr>
      </p:pic>
      <p:sp>
        <p:nvSpPr>
          <p:cNvPr id="14" name="Text 10"/>
          <p:cNvSpPr/>
          <p:nvPr/>
        </p:nvSpPr>
        <p:spPr>
          <a:xfrm>
            <a:off x="4892040" y="2194560"/>
            <a:ext cx="4023360" cy="411480"/>
          </a:xfrm>
          <a:prstGeom prst="rect">
            <a:avLst/>
          </a:prstGeom>
          <a:noFill/>
          <a:ln/>
        </p:spPr>
        <p:txBody>
          <a:bodyPr wrap="square" lIns="0" tIns="0" rIns="0" bIns="0" rtlCol="0" anchor="ctr"/>
          <a:lstStyle/>
          <a:p>
            <a:pPr marL="0" indent="0" algn="ctr">
              <a:buNone/>
            </a:pPr>
            <a:r>
              <a:rPr lang="en-US" sz="1300" b="1" dirty="0">
                <a:solidFill>
                  <a:srgbClr val="0B1C3F"/>
                </a:solidFill>
                <a:latin typeface="Cambria" pitchFamily="34" charset="0"/>
                <a:ea typeface="Cambria" pitchFamily="34" charset="-122"/>
                <a:cs typeface="Cambria" pitchFamily="34" charset="-120"/>
              </a:rPr>
              <a:t>Security: CORS</a:t>
            </a:r>
            <a:endParaRPr lang="en-US" sz="1300" dirty="0"/>
          </a:p>
        </p:txBody>
      </p:sp>
      <p:sp>
        <p:nvSpPr>
          <p:cNvPr id="15" name="Text 11"/>
          <p:cNvSpPr/>
          <p:nvPr/>
        </p:nvSpPr>
        <p:spPr>
          <a:xfrm>
            <a:off x="4983480" y="2697480"/>
            <a:ext cx="3840480" cy="1965960"/>
          </a:xfrm>
          <a:prstGeom prst="rect">
            <a:avLst/>
          </a:prstGeom>
          <a:noFill/>
          <a:ln/>
        </p:spPr>
        <p:txBody>
          <a:bodyPr wrap="square" lIns="50800" tIns="50800" rIns="50800" bIns="50800" rtlCol="0" anchor="t"/>
          <a:lstStyle/>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Strict Cross-Origin Resource Sharing middleware</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Only trusted origins can call the API</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Laravel frontend (port 80) securely communicates with FastAPI backend (port 8001)</a:t>
            </a:r>
            <a:endParaRPr lang="en-US" sz="1100" dirty="0"/>
          </a:p>
          <a:p>
            <a:pPr marL="342900" indent="-342900">
              <a:spcAft>
                <a:spcPts val="600"/>
              </a:spcAft>
              <a:buSzPct val="100000"/>
              <a:buChar char="•"/>
            </a:pPr>
            <a:r>
              <a:rPr lang="en-US" sz="1100" dirty="0">
                <a:solidFill>
                  <a:srgbClr val="334155"/>
                </a:solidFill>
                <a:latin typeface="Calibri" pitchFamily="34" charset="0"/>
                <a:ea typeface="Calibri" pitchFamily="34" charset="-122"/>
                <a:cs typeface="Calibri" pitchFamily="34" charset="-120"/>
              </a:rPr>
              <a:t>Prevents external hijacking and cross-site request forgery</a:t>
            </a:r>
            <a:endParaRPr lang="en-US" sz="11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2">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6 · DEVOPS</a:t>
            </a:r>
            <a:endParaRPr lang="en-US" sz="900" dirty="0"/>
          </a:p>
        </p:txBody>
      </p:sp>
      <p:sp>
        <p:nvSpPr>
          <p:cNvPr id="4" name="Text 2"/>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Solving the Deployment Nightmare</a:t>
            </a:r>
            <a:endParaRPr lang="en-US" sz="3000" dirty="0"/>
          </a:p>
        </p:txBody>
      </p:sp>
      <p:sp>
        <p:nvSpPr>
          <p:cNvPr id="5" name="Shape 3"/>
          <p:cNvSpPr/>
          <p:nvPr/>
        </p:nvSpPr>
        <p:spPr>
          <a:xfrm>
            <a:off x="457200" y="850392"/>
            <a:ext cx="1097280" cy="54864"/>
          </a:xfrm>
          <a:prstGeom prst="rect">
            <a:avLst/>
          </a:prstGeom>
          <a:solidFill>
            <a:srgbClr val="0D9488"/>
          </a:solidFill>
          <a:ln/>
        </p:spPr>
      </p:sp>
      <p:sp>
        <p:nvSpPr>
          <p:cNvPr id="6" name="Shape 4"/>
          <p:cNvSpPr/>
          <p:nvPr/>
        </p:nvSpPr>
        <p:spPr>
          <a:xfrm>
            <a:off x="365760" y="1005840"/>
            <a:ext cx="8412480" cy="822960"/>
          </a:xfrm>
          <a:prstGeom prst="roundRect">
            <a:avLst>
              <a:gd name="adj" fmla="val 11111"/>
            </a:avLst>
          </a:prstGeom>
          <a:solidFill>
            <a:srgbClr val="2D1010"/>
          </a:solidFill>
          <a:ln/>
          <a:effectLst>
            <a:outerShdw blurRad="127000" dist="25400" dir="2700000" algn="bl" rotWithShape="0">
              <a:srgbClr val="000000">
                <a:alpha val="12000"/>
              </a:srgbClr>
            </a:outerShdw>
          </a:effectLst>
        </p:spPr>
      </p:sp>
      <p:sp>
        <p:nvSpPr>
          <p:cNvPr id="7" name="Text 5"/>
          <p:cNvSpPr/>
          <p:nvPr/>
        </p:nvSpPr>
        <p:spPr>
          <a:xfrm>
            <a:off x="548640" y="1051560"/>
            <a:ext cx="8046720" cy="713232"/>
          </a:xfrm>
          <a:prstGeom prst="rect">
            <a:avLst/>
          </a:prstGeom>
          <a:noFill/>
          <a:ln/>
        </p:spPr>
        <p:txBody>
          <a:bodyPr wrap="square" lIns="50800" tIns="50800" rIns="50800" bIns="50800" rtlCol="0" anchor="ctr"/>
          <a:lstStyle/>
          <a:p>
            <a:pPr marL="0" indent="0">
              <a:buNone/>
            </a:pPr>
            <a:r>
              <a:rPr lang="en-US" sz="1200" dirty="0">
                <a:solidFill>
                  <a:srgbClr val="FCA5A5"/>
                </a:solidFill>
                <a:latin typeface="Calibri" pitchFamily="34" charset="0"/>
                <a:ea typeface="Calibri" pitchFamily="34" charset="-122"/>
                <a:cs typeface="Calibri" pitchFamily="34" charset="-120"/>
              </a:rPr>
              <a:t>Installing PHP, Python, PyTorch, Nginx, and MySQL manually on a server is a nightmare — version conflicts, platform differences, endless debugging.</a:t>
            </a:r>
            <a:endParaRPr lang="en-US" sz="1200" dirty="0"/>
          </a:p>
        </p:txBody>
      </p:sp>
      <p:sp>
        <p:nvSpPr>
          <p:cNvPr id="8" name="Shape 6"/>
          <p:cNvSpPr/>
          <p:nvPr/>
        </p:nvSpPr>
        <p:spPr>
          <a:xfrm>
            <a:off x="365760" y="1993392"/>
            <a:ext cx="8412480" cy="2816352"/>
          </a:xfrm>
          <a:prstGeom prst="roundRect">
            <a:avLst>
              <a:gd name="adj" fmla="val 3247"/>
            </a:avLst>
          </a:prstGeom>
          <a:solidFill>
            <a:srgbClr val="082A26"/>
          </a:solidFill>
          <a:ln/>
          <a:effectLst>
            <a:outerShdw blurRad="127000" dist="25400" dir="27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502920" y="2103120"/>
            <a:ext cx="1005840" cy="1005840"/>
          </a:xfrm>
          <a:prstGeom prst="rect">
            <a:avLst/>
          </a:prstGeom>
        </p:spPr>
      </p:pic>
      <p:sp>
        <p:nvSpPr>
          <p:cNvPr id="10" name="Text 7"/>
          <p:cNvSpPr/>
          <p:nvPr/>
        </p:nvSpPr>
        <p:spPr>
          <a:xfrm>
            <a:off x="1645920" y="2103120"/>
            <a:ext cx="694944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Docker Compose to the Rescue</a:t>
            </a:r>
            <a:endParaRPr lang="en-US" sz="1600" dirty="0"/>
          </a:p>
        </p:txBody>
      </p:sp>
      <p:sp>
        <p:nvSpPr>
          <p:cNvPr id="11" name="Text 8"/>
          <p:cNvSpPr/>
          <p:nvPr/>
        </p:nvSpPr>
        <p:spPr>
          <a:xfrm>
            <a:off x="1645920" y="2606040"/>
            <a:ext cx="6949440" cy="731520"/>
          </a:xfrm>
          <a:prstGeom prst="rect">
            <a:avLst/>
          </a:prstGeom>
          <a:noFill/>
          <a:ln/>
        </p:spPr>
        <p:txBody>
          <a:bodyPr wrap="square" lIns="50800" tIns="50800" rIns="50800" bIns="50800" rtlCol="0" anchor="ctr"/>
          <a:lstStyle/>
          <a:p>
            <a:pPr marL="0" indent="0">
              <a:buNone/>
            </a:pPr>
            <a:r>
              <a:rPr lang="en-US" sz="1200" dirty="0">
                <a:solidFill>
                  <a:srgbClr val="A7F3D0"/>
                </a:solidFill>
                <a:latin typeface="Calibri" pitchFamily="34" charset="0"/>
                <a:ea typeface="Calibri" pitchFamily="34" charset="-122"/>
                <a:cs typeface="Calibri" pitchFamily="34" charset="-120"/>
              </a:rPr>
              <a:t>We orchestrated the entire SRIS ecosystem using Docker Compose — guaranteeing that if it works on our local machines, it works exactly the same in production. One command launches the entire stack.</a:t>
            </a:r>
            <a:endParaRPr lang="en-US" sz="1200" dirty="0"/>
          </a:p>
        </p:txBody>
      </p:sp>
      <p:sp>
        <p:nvSpPr>
          <p:cNvPr id="12" name="Text 9"/>
          <p:cNvSpPr/>
          <p:nvPr/>
        </p:nvSpPr>
        <p:spPr>
          <a:xfrm>
            <a:off x="1645920" y="3429000"/>
            <a:ext cx="6949440" cy="1280160"/>
          </a:xfrm>
          <a:prstGeom prst="rect">
            <a:avLst/>
          </a:prstGeom>
          <a:noFill/>
          <a:ln/>
        </p:spPr>
        <p:txBody>
          <a:bodyPr wrap="square" lIns="50800" tIns="50800" rIns="50800" bIns="50800" rtlCol="0" anchor="t"/>
          <a:lstStyle/>
          <a:p>
            <a:pPr marL="342900" indent="-342900">
              <a:spcAft>
                <a:spcPts val="600"/>
              </a:spcAft>
              <a:buSzPct val="100000"/>
              <a:buChar char="•"/>
            </a:pPr>
            <a:r>
              <a:rPr lang="en-US" sz="1200" dirty="0">
                <a:solidFill>
                  <a:srgbClr val="A7F3D0"/>
                </a:solidFill>
                <a:latin typeface="Calibri" pitchFamily="34" charset="0"/>
                <a:ea typeface="Calibri" pitchFamily="34" charset="-122"/>
                <a:cs typeface="Calibri" pitchFamily="34" charset="-120"/>
              </a:rPr>
              <a:t>Environment parity: development, staging, and production are identical</a:t>
            </a:r>
            <a:endParaRPr lang="en-US" sz="1200" dirty="0"/>
          </a:p>
          <a:p>
            <a:pPr marL="342900" indent="-342900">
              <a:spcAft>
                <a:spcPts val="600"/>
              </a:spcAft>
              <a:buSzPct val="100000"/>
              <a:buChar char="•"/>
            </a:pPr>
            <a:r>
              <a:rPr lang="en-US" sz="1200" dirty="0">
                <a:solidFill>
                  <a:srgbClr val="A7F3D0"/>
                </a:solidFill>
                <a:latin typeface="Calibri" pitchFamily="34" charset="0"/>
                <a:ea typeface="Calibri" pitchFamily="34" charset="-122"/>
                <a:cs typeface="Calibri" pitchFamily="34" charset="-120"/>
              </a:rPr>
              <a:t>One-command deployment: docker-compose up --build brings the entire stack online</a:t>
            </a:r>
            <a:endParaRPr lang="en-US" sz="1200" dirty="0"/>
          </a:p>
          <a:p>
            <a:pPr marL="342900" indent="-342900">
              <a:spcAft>
                <a:spcPts val="600"/>
              </a:spcAft>
              <a:buSzPct val="100000"/>
              <a:buChar char="•"/>
            </a:pPr>
            <a:r>
              <a:rPr lang="en-US" sz="1200" dirty="0">
                <a:solidFill>
                  <a:srgbClr val="A7F3D0"/>
                </a:solidFill>
                <a:latin typeface="Calibri" pitchFamily="34" charset="0"/>
                <a:ea typeface="Calibri" pitchFamily="34" charset="-122"/>
                <a:cs typeface="Calibri" pitchFamily="34" charset="-120"/>
              </a:rPr>
              <a:t>Isolated dependencies: each service has its own environment — no conflicts between PHP and Python</a:t>
            </a:r>
            <a:endParaRPr lang="en-US" sz="12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6 · DEVOPS</a:t>
            </a:r>
            <a:endParaRPr lang="en-US" sz="900" dirty="0"/>
          </a:p>
        </p:txBody>
      </p:sp>
      <p:sp>
        <p:nvSpPr>
          <p:cNvPr id="4" name="Text 2"/>
          <p:cNvSpPr/>
          <p:nvPr/>
        </p:nvSpPr>
        <p:spPr>
          <a:xfrm>
            <a:off x="457200" y="201168"/>
            <a:ext cx="8229600" cy="548640"/>
          </a:xfrm>
          <a:prstGeom prst="rect">
            <a:avLst/>
          </a:prstGeom>
          <a:noFill/>
          <a:ln/>
        </p:spPr>
        <p:txBody>
          <a:bodyPr wrap="square" lIns="0" tIns="0" rIns="0" bIns="0" rtlCol="0" anchor="ctr"/>
          <a:lstStyle/>
          <a:p>
            <a:pPr marL="0" indent="0" algn="l">
              <a:buNone/>
            </a:pPr>
            <a:r>
              <a:rPr lang="en-US" sz="2800" b="1" dirty="0">
                <a:solidFill>
                  <a:srgbClr val="0B1C3F"/>
                </a:solidFill>
                <a:latin typeface="Cambria" pitchFamily="34" charset="0"/>
                <a:ea typeface="Cambria" pitchFamily="34" charset="-122"/>
                <a:cs typeface="Cambria" pitchFamily="34" charset="-120"/>
              </a:rPr>
              <a:t>Network Isolation</a:t>
            </a:r>
            <a:endParaRPr lang="en-US" sz="2800" dirty="0"/>
          </a:p>
        </p:txBody>
      </p:sp>
      <p:sp>
        <p:nvSpPr>
          <p:cNvPr id="5" name="Shape 3"/>
          <p:cNvSpPr/>
          <p:nvPr/>
        </p:nvSpPr>
        <p:spPr>
          <a:xfrm>
            <a:off x="457200" y="795528"/>
            <a:ext cx="1097280" cy="54864"/>
          </a:xfrm>
          <a:prstGeom prst="rect">
            <a:avLst/>
          </a:prstGeom>
          <a:solidFill>
            <a:srgbClr val="0D9488"/>
          </a:solidFill>
          <a:ln/>
        </p:spPr>
      </p:sp>
      <p:sp>
        <p:nvSpPr>
          <p:cNvPr id="6" name="Shape 4"/>
          <p:cNvSpPr/>
          <p:nvPr/>
        </p:nvSpPr>
        <p:spPr>
          <a:xfrm>
            <a:off x="320040" y="914400"/>
            <a:ext cx="8503920" cy="3611880"/>
          </a:xfrm>
          <a:prstGeom prst="roundRect">
            <a:avLst>
              <a:gd name="adj" fmla="val 3797"/>
            </a:avLst>
          </a:prstGeom>
          <a:solidFill>
            <a:srgbClr val="EFF6FF"/>
          </a:solidFill>
          <a:ln/>
        </p:spPr>
      </p:sp>
      <p:sp>
        <p:nvSpPr>
          <p:cNvPr id="7" name="Text 5"/>
          <p:cNvSpPr/>
          <p:nvPr/>
        </p:nvSpPr>
        <p:spPr>
          <a:xfrm>
            <a:off x="457200" y="987552"/>
            <a:ext cx="8229600" cy="228600"/>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app_network  (private bridge — database invisible from internet)</a:t>
            </a:r>
            <a:endParaRPr lang="en-US" sz="900" dirty="0"/>
          </a:p>
        </p:txBody>
      </p:sp>
      <p:sp>
        <p:nvSpPr>
          <p:cNvPr id="8" name="Shape 6"/>
          <p:cNvSpPr/>
          <p:nvPr/>
        </p:nvSpPr>
        <p:spPr>
          <a:xfrm>
            <a:off x="457200" y="1280160"/>
            <a:ext cx="2651760" cy="1234440"/>
          </a:xfrm>
          <a:prstGeom prst="roundRect">
            <a:avLst>
              <a:gd name="adj" fmla="val 7407"/>
            </a:avLst>
          </a:prstGeom>
          <a:solidFill>
            <a:srgbClr val="0B1C3F"/>
          </a:solidFill>
          <a:ln/>
          <a:effectLst>
            <a:outerShdw blurRad="127000" dist="25400" dir="27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548640" y="1536192"/>
            <a:ext cx="594360" cy="594360"/>
          </a:xfrm>
          <a:prstGeom prst="rect">
            <a:avLst/>
          </a:prstGeom>
        </p:spPr>
      </p:pic>
      <p:sp>
        <p:nvSpPr>
          <p:cNvPr id="10" name="Text 7"/>
          <p:cNvSpPr/>
          <p:nvPr/>
        </p:nvSpPr>
        <p:spPr>
          <a:xfrm>
            <a:off x="1234440" y="1389888"/>
            <a:ext cx="1783080" cy="36576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laravel_app</a:t>
            </a:r>
            <a:endParaRPr lang="en-US" sz="1100" dirty="0"/>
          </a:p>
        </p:txBody>
      </p:sp>
      <p:sp>
        <p:nvSpPr>
          <p:cNvPr id="11" name="Text 8"/>
          <p:cNvSpPr/>
          <p:nvPr/>
        </p:nvSpPr>
        <p:spPr>
          <a:xfrm>
            <a:off x="1234440" y="1783080"/>
            <a:ext cx="1783080" cy="64008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PHP Application</a:t>
            </a:r>
            <a:endParaRPr lang="en-US" sz="1000" dirty="0"/>
          </a:p>
        </p:txBody>
      </p:sp>
      <p:sp>
        <p:nvSpPr>
          <p:cNvPr id="12" name="Shape 9"/>
          <p:cNvSpPr/>
          <p:nvPr/>
        </p:nvSpPr>
        <p:spPr>
          <a:xfrm>
            <a:off x="3291840" y="1280160"/>
            <a:ext cx="2651760" cy="1234440"/>
          </a:xfrm>
          <a:prstGeom prst="roundRect">
            <a:avLst>
              <a:gd name="adj" fmla="val 7407"/>
            </a:avLst>
          </a:prstGeom>
          <a:solidFill>
            <a:srgbClr val="0D9488"/>
          </a:solidFill>
          <a:ln/>
          <a:effectLst>
            <a:outerShdw blurRad="127000" dist="25400" dir="2700000" algn="bl" rotWithShape="0">
              <a:srgbClr val="000000">
                <a:alpha val="12000"/>
              </a:srgbClr>
            </a:outerShdw>
          </a:effectLst>
        </p:spPr>
      </p:sp>
      <p:pic>
        <p:nvPicPr>
          <p:cNvPr id="13" name="Image 1" descr="preencoded.png"/>
          <p:cNvPicPr>
            <a:picLocks noChangeAspect="1"/>
          </p:cNvPicPr>
          <p:nvPr/>
        </p:nvPicPr>
        <p:blipFill>
          <a:blip r:embed="rId4"/>
          <a:stretch>
            <a:fillRect/>
          </a:stretch>
        </p:blipFill>
        <p:spPr>
          <a:xfrm>
            <a:off x="3383280" y="1536192"/>
            <a:ext cx="594360" cy="594360"/>
          </a:xfrm>
          <a:prstGeom prst="rect">
            <a:avLst/>
          </a:prstGeom>
        </p:spPr>
      </p:pic>
      <p:sp>
        <p:nvSpPr>
          <p:cNvPr id="14" name="Text 10"/>
          <p:cNvSpPr/>
          <p:nvPr/>
        </p:nvSpPr>
        <p:spPr>
          <a:xfrm>
            <a:off x="4069080" y="1389888"/>
            <a:ext cx="1783080" cy="36576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nginx_server</a:t>
            </a:r>
            <a:endParaRPr lang="en-US" sz="1100" dirty="0"/>
          </a:p>
        </p:txBody>
      </p:sp>
      <p:sp>
        <p:nvSpPr>
          <p:cNvPr id="15" name="Text 11"/>
          <p:cNvSpPr/>
          <p:nvPr/>
        </p:nvSpPr>
        <p:spPr>
          <a:xfrm>
            <a:off x="4069080" y="1783080"/>
            <a:ext cx="1783080" cy="64008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Reverse Proxy Router</a:t>
            </a:r>
            <a:endParaRPr lang="en-US" sz="1000" dirty="0"/>
          </a:p>
        </p:txBody>
      </p:sp>
      <p:sp>
        <p:nvSpPr>
          <p:cNvPr id="16" name="Shape 12"/>
          <p:cNvSpPr/>
          <p:nvPr/>
        </p:nvSpPr>
        <p:spPr>
          <a:xfrm>
            <a:off x="6126480" y="1280160"/>
            <a:ext cx="2651760" cy="1234440"/>
          </a:xfrm>
          <a:prstGeom prst="roundRect">
            <a:avLst>
              <a:gd name="adj" fmla="val 7407"/>
            </a:avLst>
          </a:prstGeom>
          <a:solidFill>
            <a:srgbClr val="082A26"/>
          </a:solidFill>
          <a:ln/>
          <a:effectLst>
            <a:outerShdw blurRad="127000" dist="25400" dir="2700000" algn="bl" rotWithShape="0">
              <a:srgbClr val="000000">
                <a:alpha val="12000"/>
              </a:srgbClr>
            </a:outerShdw>
          </a:effectLst>
        </p:spPr>
      </p:sp>
      <p:pic>
        <p:nvPicPr>
          <p:cNvPr id="17" name="Image 2" descr="preencoded.png"/>
          <p:cNvPicPr>
            <a:picLocks noChangeAspect="1"/>
          </p:cNvPicPr>
          <p:nvPr/>
        </p:nvPicPr>
        <p:blipFill>
          <a:blip r:embed="rId5"/>
          <a:stretch>
            <a:fillRect/>
          </a:stretch>
        </p:blipFill>
        <p:spPr>
          <a:xfrm>
            <a:off x="6217920" y="1536192"/>
            <a:ext cx="594360" cy="594360"/>
          </a:xfrm>
          <a:prstGeom prst="rect">
            <a:avLst/>
          </a:prstGeom>
        </p:spPr>
      </p:pic>
      <p:sp>
        <p:nvSpPr>
          <p:cNvPr id="18" name="Text 13"/>
          <p:cNvSpPr/>
          <p:nvPr/>
        </p:nvSpPr>
        <p:spPr>
          <a:xfrm>
            <a:off x="6903720" y="1389888"/>
            <a:ext cx="1783080" cy="36576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ml_service</a:t>
            </a:r>
            <a:endParaRPr lang="en-US" sz="1100" dirty="0"/>
          </a:p>
        </p:txBody>
      </p:sp>
      <p:sp>
        <p:nvSpPr>
          <p:cNvPr id="19" name="Text 14"/>
          <p:cNvSpPr/>
          <p:nvPr/>
        </p:nvSpPr>
        <p:spPr>
          <a:xfrm>
            <a:off x="6903720" y="1783080"/>
            <a:ext cx="1783080" cy="64008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Python / FastAPI</a:t>
            </a:r>
            <a:endParaRPr lang="en-US" sz="1000" dirty="0"/>
          </a:p>
        </p:txBody>
      </p:sp>
      <p:sp>
        <p:nvSpPr>
          <p:cNvPr id="20" name="Shape 15"/>
          <p:cNvSpPr/>
          <p:nvPr/>
        </p:nvSpPr>
        <p:spPr>
          <a:xfrm>
            <a:off x="457200" y="2697480"/>
            <a:ext cx="2651760" cy="1234440"/>
          </a:xfrm>
          <a:prstGeom prst="roundRect">
            <a:avLst>
              <a:gd name="adj" fmla="val 7407"/>
            </a:avLst>
          </a:prstGeom>
          <a:solidFill>
            <a:srgbClr val="2D1B4E"/>
          </a:solidFill>
          <a:ln/>
          <a:effectLst>
            <a:outerShdw blurRad="127000" dist="25400" dir="2700000" algn="bl" rotWithShape="0">
              <a:srgbClr val="000000">
                <a:alpha val="12000"/>
              </a:srgbClr>
            </a:outerShdw>
          </a:effectLst>
        </p:spPr>
      </p:sp>
      <p:pic>
        <p:nvPicPr>
          <p:cNvPr id="21" name="Image 3" descr="preencoded.png"/>
          <p:cNvPicPr>
            <a:picLocks noChangeAspect="1"/>
          </p:cNvPicPr>
          <p:nvPr/>
        </p:nvPicPr>
        <p:blipFill>
          <a:blip r:embed="rId6"/>
          <a:stretch>
            <a:fillRect/>
          </a:stretch>
        </p:blipFill>
        <p:spPr>
          <a:xfrm>
            <a:off x="548640" y="2953512"/>
            <a:ext cx="594360" cy="594360"/>
          </a:xfrm>
          <a:prstGeom prst="rect">
            <a:avLst/>
          </a:prstGeom>
        </p:spPr>
      </p:pic>
      <p:sp>
        <p:nvSpPr>
          <p:cNvPr id="22" name="Text 16"/>
          <p:cNvSpPr/>
          <p:nvPr/>
        </p:nvSpPr>
        <p:spPr>
          <a:xfrm>
            <a:off x="1234440" y="2807208"/>
            <a:ext cx="1783080" cy="36576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mysql_db</a:t>
            </a:r>
            <a:endParaRPr lang="en-US" sz="1100" dirty="0"/>
          </a:p>
        </p:txBody>
      </p:sp>
      <p:sp>
        <p:nvSpPr>
          <p:cNvPr id="23" name="Text 17"/>
          <p:cNvSpPr/>
          <p:nvPr/>
        </p:nvSpPr>
        <p:spPr>
          <a:xfrm>
            <a:off x="1234440" y="3200400"/>
            <a:ext cx="1783080" cy="64008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Persistent Storage via Docker Volumes</a:t>
            </a:r>
            <a:endParaRPr lang="en-US" sz="1000" dirty="0"/>
          </a:p>
        </p:txBody>
      </p:sp>
      <p:sp>
        <p:nvSpPr>
          <p:cNvPr id="24" name="Shape 18"/>
          <p:cNvSpPr/>
          <p:nvPr/>
        </p:nvSpPr>
        <p:spPr>
          <a:xfrm>
            <a:off x="3291840" y="2697480"/>
            <a:ext cx="2651760" cy="1234440"/>
          </a:xfrm>
          <a:prstGeom prst="roundRect">
            <a:avLst>
              <a:gd name="adj" fmla="val 7407"/>
            </a:avLst>
          </a:prstGeom>
          <a:solidFill>
            <a:srgbClr val="1A3040"/>
          </a:solidFill>
          <a:ln/>
          <a:effectLst>
            <a:outerShdw blurRad="127000" dist="25400" dir="2700000" algn="bl" rotWithShape="0">
              <a:srgbClr val="000000">
                <a:alpha val="12000"/>
              </a:srgbClr>
            </a:outerShdw>
          </a:effectLst>
        </p:spPr>
      </p:sp>
      <p:pic>
        <p:nvPicPr>
          <p:cNvPr id="25" name="Image 4" descr="preencoded.png"/>
          <p:cNvPicPr>
            <a:picLocks noChangeAspect="1"/>
          </p:cNvPicPr>
          <p:nvPr/>
        </p:nvPicPr>
        <p:blipFill>
          <a:blip r:embed="rId7"/>
          <a:stretch>
            <a:fillRect/>
          </a:stretch>
        </p:blipFill>
        <p:spPr>
          <a:xfrm>
            <a:off x="3383280" y="2953512"/>
            <a:ext cx="594360" cy="594360"/>
          </a:xfrm>
          <a:prstGeom prst="rect">
            <a:avLst/>
          </a:prstGeom>
        </p:spPr>
      </p:pic>
      <p:sp>
        <p:nvSpPr>
          <p:cNvPr id="26" name="Text 19"/>
          <p:cNvSpPr/>
          <p:nvPr/>
        </p:nvSpPr>
        <p:spPr>
          <a:xfrm>
            <a:off x="4069080" y="2807208"/>
            <a:ext cx="1783080" cy="36576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adminer_gui</a:t>
            </a:r>
            <a:endParaRPr lang="en-US" sz="1100" dirty="0"/>
          </a:p>
        </p:txBody>
      </p:sp>
      <p:sp>
        <p:nvSpPr>
          <p:cNvPr id="27" name="Text 20"/>
          <p:cNvSpPr/>
          <p:nvPr/>
        </p:nvSpPr>
        <p:spPr>
          <a:xfrm>
            <a:off x="4069080" y="3200400"/>
            <a:ext cx="1783080" cy="640080"/>
          </a:xfrm>
          <a:prstGeom prst="rect">
            <a:avLst/>
          </a:prstGeom>
          <a:noFill/>
          <a:ln/>
        </p:spPr>
        <p:txBody>
          <a:bodyPr wrap="square" lIns="0" tIns="0" rIns="0" bIns="0" rtlCol="0" anchor="t"/>
          <a:lstStyle/>
          <a:p>
            <a:pPr marL="0" indent="0">
              <a:buNone/>
            </a:pPr>
            <a:r>
              <a:rPr lang="en-US" sz="1000" dirty="0">
                <a:solidFill>
                  <a:srgbClr val="94A3B8"/>
                </a:solidFill>
                <a:latin typeface="Calibri" pitchFamily="34" charset="0"/>
                <a:ea typeface="Calibri" pitchFamily="34" charset="-122"/>
                <a:cs typeface="Calibri" pitchFamily="34" charset="-120"/>
              </a:rPr>
              <a:t>Admin Interface</a:t>
            </a:r>
            <a:endParaRPr lang="en-US" sz="1000" dirty="0"/>
          </a:p>
        </p:txBody>
      </p:sp>
      <p:sp>
        <p:nvSpPr>
          <p:cNvPr id="28" name="Text 21"/>
          <p:cNvSpPr/>
          <p:nvPr/>
        </p:nvSpPr>
        <p:spPr>
          <a:xfrm>
            <a:off x="457200" y="4681728"/>
            <a:ext cx="8229600" cy="347472"/>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All five containers communicate exclusively over a private internal bridge network. The database is completely invisible from the outside internet.</a:t>
            </a:r>
            <a:endParaRPr lang="en-US" sz="11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name="Slide 34">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457200" y="54864"/>
            <a:ext cx="2011680" cy="201168"/>
          </a:xfrm>
          <a:prstGeom prst="roundRect">
            <a:avLst>
              <a:gd name="adj" fmla="val 22727"/>
            </a:avLst>
          </a:prstGeom>
          <a:solidFill>
            <a:srgbClr val="0D9488"/>
          </a:solidFill>
          <a:ln/>
        </p:spPr>
      </p:sp>
      <p:sp>
        <p:nvSpPr>
          <p:cNvPr id="3" name="Text 1"/>
          <p:cNvSpPr/>
          <p:nvPr/>
        </p:nvSpPr>
        <p:spPr>
          <a:xfrm>
            <a:off x="457200" y="54864"/>
            <a:ext cx="2011680" cy="201168"/>
          </a:xfrm>
          <a:prstGeom prst="rect">
            <a:avLst/>
          </a:prstGeom>
          <a:noFill/>
          <a:ln/>
        </p:spPr>
        <p:txBody>
          <a:bodyPr wrap="square" lIns="0" tIns="0" rIns="0" bIns="0" rtlCol="0" anchor="ctr"/>
          <a:lstStyle/>
          <a:p>
            <a:pPr marL="0" indent="0" algn="ctr">
              <a:buNone/>
            </a:pPr>
            <a:r>
              <a:rPr lang="en-US" sz="900" b="1" dirty="0">
                <a:solidFill>
                  <a:srgbClr val="FFFFFF"/>
                </a:solidFill>
              </a:rPr>
              <a:t>PART 6 · CLOUD DEPLOYMENT</a:t>
            </a:r>
            <a:endParaRPr lang="en-US" sz="900" dirty="0"/>
          </a:p>
        </p:txBody>
      </p:sp>
      <p:sp>
        <p:nvSpPr>
          <p:cNvPr id="4" name="Text 2"/>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Primed for GCP Enterprise Deployment</a:t>
            </a:r>
            <a:endParaRPr lang="en-US" sz="3000" dirty="0"/>
          </a:p>
        </p:txBody>
      </p:sp>
      <p:sp>
        <p:nvSpPr>
          <p:cNvPr id="5" name="Shape 3"/>
          <p:cNvSpPr/>
          <p:nvPr/>
        </p:nvSpPr>
        <p:spPr>
          <a:xfrm>
            <a:off x="457200" y="850392"/>
            <a:ext cx="1097280" cy="54864"/>
          </a:xfrm>
          <a:prstGeom prst="rect">
            <a:avLst/>
          </a:prstGeom>
          <a:solidFill>
            <a:srgbClr val="0D9488"/>
          </a:solidFill>
          <a:ln/>
        </p:spPr>
      </p:sp>
      <p:sp>
        <p:nvSpPr>
          <p:cNvPr id="6" name="Shape 4"/>
          <p:cNvSpPr/>
          <p:nvPr/>
        </p:nvSpPr>
        <p:spPr>
          <a:xfrm>
            <a:off x="365760" y="1005840"/>
            <a:ext cx="8412480" cy="1143000"/>
          </a:xfrm>
          <a:prstGeom prst="roundRect">
            <a:avLst>
              <a:gd name="adj" fmla="val 8000"/>
            </a:avLst>
          </a:prstGeom>
          <a:solidFill>
            <a:srgbClr val="0E2140"/>
          </a:solidFill>
          <a:ln/>
          <a:effectLst>
            <a:outerShdw blurRad="127000" dist="25400" dir="2700000" algn="bl" rotWithShape="0">
              <a:srgbClr val="000000">
                <a:alpha val="12000"/>
              </a:srgbClr>
            </a:outerShdw>
          </a:effectLst>
        </p:spPr>
      </p:sp>
      <p:sp>
        <p:nvSpPr>
          <p:cNvPr id="7" name="Shape 5"/>
          <p:cNvSpPr/>
          <p:nvPr/>
        </p:nvSpPr>
        <p:spPr>
          <a:xfrm>
            <a:off x="457200" y="1115568"/>
            <a:ext cx="2286000" cy="868680"/>
          </a:xfrm>
          <a:prstGeom prst="roundRect">
            <a:avLst>
              <a:gd name="adj" fmla="val 8421"/>
            </a:avLst>
          </a:prstGeom>
          <a:solidFill>
            <a:srgbClr val="0D9488"/>
          </a:solidFill>
          <a:ln/>
        </p:spPr>
      </p:sp>
      <p:sp>
        <p:nvSpPr>
          <p:cNvPr id="8" name="Text 6"/>
          <p:cNvSpPr/>
          <p:nvPr/>
        </p:nvSpPr>
        <p:spPr>
          <a:xfrm>
            <a:off x="457200" y="1115568"/>
            <a:ext cx="2286000" cy="868680"/>
          </a:xfrm>
          <a:prstGeom prst="rect">
            <a:avLst/>
          </a:prstGeom>
          <a:noFill/>
          <a:ln/>
        </p:spPr>
        <p:txBody>
          <a:bodyPr wrap="square" lIns="50800" tIns="50800" rIns="50800" bIns="50800" rtlCol="0" anchor="ctr"/>
          <a:lstStyle/>
          <a:p>
            <a:pPr marL="0" indent="0" algn="ctr">
              <a:buNone/>
            </a:pPr>
            <a:r>
              <a:rPr lang="en-US" sz="1200" b="1" dirty="0">
                <a:solidFill>
                  <a:srgbClr val="0F172A"/>
                </a:solidFill>
                <a:latin typeface="Cambria" pitchFamily="34" charset="0"/>
                <a:ea typeface="Cambria" pitchFamily="34" charset="-122"/>
                <a:cs typeface="Cambria" pitchFamily="34" charset="-120"/>
              </a:rPr>
              <a:t>Cloud Run / GKE</a:t>
            </a:r>
            <a:endParaRPr lang="en-US" sz="1200" dirty="0"/>
          </a:p>
        </p:txBody>
      </p:sp>
      <p:sp>
        <p:nvSpPr>
          <p:cNvPr id="9" name="Text 7"/>
          <p:cNvSpPr/>
          <p:nvPr/>
        </p:nvSpPr>
        <p:spPr>
          <a:xfrm>
            <a:off x="2926080" y="1097280"/>
            <a:ext cx="5669280" cy="914400"/>
          </a:xfrm>
          <a:prstGeom prst="rect">
            <a:avLst/>
          </a:prstGeom>
          <a:noFill/>
          <a:ln/>
        </p:spPr>
        <p:txBody>
          <a:bodyPr wrap="square" lIns="50800" tIns="50800" rIns="50800" bIns="5080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The FastAPI container scales to zero to save costs, then instantly scales up utilizing Cloud GPUs during massive video upload spikes.</a:t>
            </a:r>
            <a:endParaRPr lang="en-US" sz="1200" dirty="0"/>
          </a:p>
        </p:txBody>
      </p:sp>
      <p:sp>
        <p:nvSpPr>
          <p:cNvPr id="10" name="Shape 8"/>
          <p:cNvSpPr/>
          <p:nvPr/>
        </p:nvSpPr>
        <p:spPr>
          <a:xfrm>
            <a:off x="365760" y="2331720"/>
            <a:ext cx="8412480" cy="1143000"/>
          </a:xfrm>
          <a:prstGeom prst="roundRect">
            <a:avLst>
              <a:gd name="adj" fmla="val 8000"/>
            </a:avLst>
          </a:prstGeom>
          <a:solidFill>
            <a:srgbClr val="0E2140"/>
          </a:solidFill>
          <a:ln/>
          <a:effectLst>
            <a:outerShdw blurRad="127000" dist="25400" dir="2700000" algn="bl" rotWithShape="0">
              <a:srgbClr val="000000">
                <a:alpha val="12000"/>
              </a:srgbClr>
            </a:outerShdw>
          </a:effectLst>
        </p:spPr>
      </p:sp>
      <p:sp>
        <p:nvSpPr>
          <p:cNvPr id="11" name="Shape 9"/>
          <p:cNvSpPr/>
          <p:nvPr/>
        </p:nvSpPr>
        <p:spPr>
          <a:xfrm>
            <a:off x="457200" y="2441448"/>
            <a:ext cx="2286000" cy="868680"/>
          </a:xfrm>
          <a:prstGeom prst="roundRect">
            <a:avLst>
              <a:gd name="adj" fmla="val 8421"/>
            </a:avLst>
          </a:prstGeom>
          <a:solidFill>
            <a:srgbClr val="FBBF24"/>
          </a:solidFill>
          <a:ln/>
        </p:spPr>
      </p:sp>
      <p:sp>
        <p:nvSpPr>
          <p:cNvPr id="12" name="Text 10"/>
          <p:cNvSpPr/>
          <p:nvPr/>
        </p:nvSpPr>
        <p:spPr>
          <a:xfrm>
            <a:off x="457200" y="2441448"/>
            <a:ext cx="2286000" cy="868680"/>
          </a:xfrm>
          <a:prstGeom prst="rect">
            <a:avLst/>
          </a:prstGeom>
          <a:noFill/>
          <a:ln/>
        </p:spPr>
        <p:txBody>
          <a:bodyPr wrap="square" lIns="50800" tIns="50800" rIns="50800" bIns="50800" rtlCol="0" anchor="ctr"/>
          <a:lstStyle/>
          <a:p>
            <a:pPr marL="0" indent="0" algn="ctr">
              <a:buNone/>
            </a:pPr>
            <a:r>
              <a:rPr lang="en-US" sz="1200" b="1" dirty="0">
                <a:solidFill>
                  <a:srgbClr val="0F172A"/>
                </a:solidFill>
                <a:latin typeface="Cambria" pitchFamily="34" charset="0"/>
                <a:ea typeface="Cambria" pitchFamily="34" charset="-122"/>
                <a:cs typeface="Cambria" pitchFamily="34" charset="-120"/>
              </a:rPr>
              <a:t>Google Cloud Storage (GCS)</a:t>
            </a:r>
            <a:endParaRPr lang="en-US" sz="1200" dirty="0"/>
          </a:p>
        </p:txBody>
      </p:sp>
      <p:sp>
        <p:nvSpPr>
          <p:cNvPr id="13" name="Text 11"/>
          <p:cNvSpPr/>
          <p:nvPr/>
        </p:nvSpPr>
        <p:spPr>
          <a:xfrm>
            <a:off x="2926080" y="2423160"/>
            <a:ext cx="5669280" cy="914400"/>
          </a:xfrm>
          <a:prstGeom prst="rect">
            <a:avLst/>
          </a:prstGeom>
          <a:noFill/>
          <a:ln/>
        </p:spPr>
        <p:txBody>
          <a:bodyPr wrap="square" lIns="50800" tIns="50800" rIns="50800" bIns="5080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Heavy video blobs are pushed to GCS buckets — removing storage bottlenecks from the application servers entirely.</a:t>
            </a:r>
            <a:endParaRPr lang="en-US" sz="1200" dirty="0"/>
          </a:p>
        </p:txBody>
      </p:sp>
      <p:sp>
        <p:nvSpPr>
          <p:cNvPr id="14" name="Shape 12"/>
          <p:cNvSpPr/>
          <p:nvPr/>
        </p:nvSpPr>
        <p:spPr>
          <a:xfrm>
            <a:off x="365760" y="3657600"/>
            <a:ext cx="8412480" cy="1143000"/>
          </a:xfrm>
          <a:prstGeom prst="roundRect">
            <a:avLst>
              <a:gd name="adj" fmla="val 8000"/>
            </a:avLst>
          </a:prstGeom>
          <a:solidFill>
            <a:srgbClr val="0E2140"/>
          </a:solidFill>
          <a:ln/>
          <a:effectLst>
            <a:outerShdw blurRad="127000" dist="25400" dir="2700000" algn="bl" rotWithShape="0">
              <a:srgbClr val="000000">
                <a:alpha val="12000"/>
              </a:srgbClr>
            </a:outerShdw>
          </a:effectLst>
        </p:spPr>
      </p:sp>
      <p:sp>
        <p:nvSpPr>
          <p:cNvPr id="15" name="Shape 13"/>
          <p:cNvSpPr/>
          <p:nvPr/>
        </p:nvSpPr>
        <p:spPr>
          <a:xfrm>
            <a:off x="457200" y="3767328"/>
            <a:ext cx="2286000" cy="868680"/>
          </a:xfrm>
          <a:prstGeom prst="roundRect">
            <a:avLst>
              <a:gd name="adj" fmla="val 8421"/>
            </a:avLst>
          </a:prstGeom>
          <a:solidFill>
            <a:srgbClr val="F97316"/>
          </a:solidFill>
          <a:ln/>
        </p:spPr>
      </p:sp>
      <p:sp>
        <p:nvSpPr>
          <p:cNvPr id="16" name="Text 14"/>
          <p:cNvSpPr/>
          <p:nvPr/>
        </p:nvSpPr>
        <p:spPr>
          <a:xfrm>
            <a:off x="457200" y="3767328"/>
            <a:ext cx="2286000" cy="868680"/>
          </a:xfrm>
          <a:prstGeom prst="rect">
            <a:avLst/>
          </a:prstGeom>
          <a:noFill/>
          <a:ln/>
        </p:spPr>
        <p:txBody>
          <a:bodyPr wrap="square" lIns="50800" tIns="50800" rIns="50800" bIns="50800" rtlCol="0" anchor="ctr"/>
          <a:lstStyle/>
          <a:p>
            <a:pPr marL="0" indent="0" algn="ctr">
              <a:buNone/>
            </a:pPr>
            <a:r>
              <a:rPr lang="en-US" sz="1200" b="1" dirty="0">
                <a:solidFill>
                  <a:srgbClr val="0F172A"/>
                </a:solidFill>
                <a:latin typeface="Cambria" pitchFamily="34" charset="0"/>
                <a:ea typeface="Cambria" pitchFamily="34" charset="-122"/>
                <a:cs typeface="Cambria" pitchFamily="34" charset="-120"/>
              </a:rPr>
              <a:t>Google Cloud SQL</a:t>
            </a:r>
            <a:endParaRPr lang="en-US" sz="1200" dirty="0"/>
          </a:p>
        </p:txBody>
      </p:sp>
      <p:sp>
        <p:nvSpPr>
          <p:cNvPr id="17" name="Text 15"/>
          <p:cNvSpPr/>
          <p:nvPr/>
        </p:nvSpPr>
        <p:spPr>
          <a:xfrm>
            <a:off x="2926080" y="3749040"/>
            <a:ext cx="5669280" cy="914400"/>
          </a:xfrm>
          <a:prstGeom prst="rect">
            <a:avLst/>
          </a:prstGeom>
          <a:noFill/>
          <a:ln/>
        </p:spPr>
        <p:txBody>
          <a:bodyPr wrap="square" lIns="50800" tIns="50800" rIns="50800" bIns="5080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Replaces the local MySQL container with a managed, enterprise-grade database offering automated backups and high availability.</a:t>
            </a:r>
            <a:endParaRPr lang="en-US" sz="1200" dirty="0"/>
          </a:p>
        </p:txBody>
      </p:sp>
      <p:pic>
        <p:nvPicPr>
          <p:cNvPr id="18" name="Image 0" descr="preencoded.png"/>
          <p:cNvPicPr>
            <a:picLocks noChangeAspect="1"/>
          </p:cNvPicPr>
          <p:nvPr/>
        </p:nvPicPr>
        <p:blipFill>
          <a:blip r:embed="rId3"/>
          <a:stretch>
            <a:fillRect/>
          </a:stretch>
        </p:blipFill>
        <p:spPr>
          <a:xfrm>
            <a:off x="7406640" y="4160520"/>
            <a:ext cx="1371600" cy="1005840"/>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35">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9488"/>
          </a:solidFill>
          <a:ln/>
        </p:spPr>
      </p:sp>
      <p:sp>
        <p:nvSpPr>
          <p:cNvPr id="4" name="Text 2"/>
          <p:cNvSpPr/>
          <p:nvPr/>
        </p:nvSpPr>
        <p:spPr>
          <a:xfrm>
            <a:off x="457200" y="201168"/>
            <a:ext cx="8229600" cy="65836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Future of Road Safety</a:t>
            </a:r>
            <a:endParaRPr lang="en-US" sz="3200" dirty="0"/>
          </a:p>
        </p:txBody>
      </p:sp>
      <p:sp>
        <p:nvSpPr>
          <p:cNvPr id="5" name="Shape 3"/>
          <p:cNvSpPr/>
          <p:nvPr/>
        </p:nvSpPr>
        <p:spPr>
          <a:xfrm>
            <a:off x="457200" y="877824"/>
            <a:ext cx="1280160" cy="54864"/>
          </a:xfrm>
          <a:prstGeom prst="rect">
            <a:avLst/>
          </a:prstGeom>
          <a:solidFill>
            <a:srgbClr val="0D9488"/>
          </a:solidFill>
          <a:ln/>
        </p:spPr>
      </p:sp>
      <p:sp>
        <p:nvSpPr>
          <p:cNvPr id="6" name="Shape 4"/>
          <p:cNvSpPr/>
          <p:nvPr/>
        </p:nvSpPr>
        <p:spPr>
          <a:xfrm>
            <a:off x="365760" y="1051560"/>
            <a:ext cx="8412480" cy="822960"/>
          </a:xfrm>
          <a:prstGeom prst="roundRect">
            <a:avLst>
              <a:gd name="adj" fmla="val 11111"/>
            </a:avLst>
          </a:prstGeom>
          <a:solidFill>
            <a:srgbClr val="0E2140"/>
          </a:solidFill>
          <a:ln/>
          <a:effectLst>
            <a:outerShdw blurRad="127000" dist="25400" dir="2700000" algn="bl" rotWithShape="0">
              <a:srgbClr val="000000">
                <a:alpha val="12000"/>
              </a:srgbClr>
            </a:outerShdw>
          </a:effectLst>
        </p:spPr>
      </p:sp>
      <p:sp>
        <p:nvSpPr>
          <p:cNvPr id="7" name="Text 5"/>
          <p:cNvSpPr/>
          <p:nvPr/>
        </p:nvSpPr>
        <p:spPr>
          <a:xfrm>
            <a:off x="548640" y="1097280"/>
            <a:ext cx="8046720" cy="685800"/>
          </a:xfrm>
          <a:prstGeom prst="rect">
            <a:avLst/>
          </a:prstGeom>
          <a:noFill/>
          <a:ln/>
        </p:spPr>
        <p:txBody>
          <a:bodyPr wrap="square" lIns="50800" tIns="50800" rIns="50800" bIns="50800" rtlCol="0" anchor="ctr"/>
          <a:lstStyle/>
          <a:p>
            <a:pPr marL="0" indent="0">
              <a:buNone/>
            </a:pPr>
            <a:r>
              <a:rPr lang="en-US" sz="1300" i="1" dirty="0">
                <a:solidFill>
                  <a:srgbClr val="14B8A6"/>
                </a:solidFill>
                <a:latin typeface="Calibri" pitchFamily="34" charset="0"/>
                <a:ea typeface="Calibri" pitchFamily="34" charset="-122"/>
                <a:cs typeface="Calibri" pitchFamily="34" charset="-120"/>
              </a:rPr>
              <a:t>SRIS transforms reactive infrastructure management into a proactive, intelligent, and cost-effective process — unifying 9 AI models into a single real-time ecosystem.</a:t>
            </a:r>
            <a:endParaRPr lang="en-US" sz="1300" dirty="0"/>
          </a:p>
        </p:txBody>
      </p:sp>
      <p:sp>
        <p:nvSpPr>
          <p:cNvPr id="8" name="Text 6"/>
          <p:cNvSpPr/>
          <p:nvPr/>
        </p:nvSpPr>
        <p:spPr>
          <a:xfrm>
            <a:off x="457200" y="2011680"/>
            <a:ext cx="8229600" cy="347472"/>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Future Roadmap</a:t>
            </a:r>
            <a:endParaRPr lang="en-US" sz="1600" dirty="0"/>
          </a:p>
        </p:txBody>
      </p:sp>
      <p:sp>
        <p:nvSpPr>
          <p:cNvPr id="9" name="Shape 7"/>
          <p:cNvSpPr/>
          <p:nvPr/>
        </p:nvSpPr>
        <p:spPr>
          <a:xfrm>
            <a:off x="457200" y="2468880"/>
            <a:ext cx="1005840" cy="384048"/>
          </a:xfrm>
          <a:prstGeom prst="roundRect">
            <a:avLst>
              <a:gd name="adj" fmla="val 14286"/>
            </a:avLst>
          </a:prstGeom>
          <a:solidFill>
            <a:srgbClr val="0D9488"/>
          </a:solidFill>
          <a:ln/>
        </p:spPr>
      </p:sp>
      <p:sp>
        <p:nvSpPr>
          <p:cNvPr id="10" name="Text 8"/>
          <p:cNvSpPr/>
          <p:nvPr/>
        </p:nvSpPr>
        <p:spPr>
          <a:xfrm>
            <a:off x="457200" y="2468880"/>
            <a:ext cx="1005840" cy="384048"/>
          </a:xfrm>
          <a:prstGeom prst="rect">
            <a:avLst/>
          </a:prstGeom>
          <a:noFill/>
          <a:ln/>
        </p:spPr>
        <p:txBody>
          <a:bodyPr wrap="square" lIns="0" tIns="0" rIns="0" bIns="0" rtlCol="0" anchor="ctr"/>
          <a:lstStyle/>
          <a:p>
            <a:pPr marL="0" indent="0" algn="ctr">
              <a:buNone/>
            </a:pPr>
            <a:r>
              <a:rPr lang="en-US" sz="1000" b="1" dirty="0">
                <a:solidFill>
                  <a:srgbClr val="0F172A"/>
                </a:solidFill>
                <a:latin typeface="Cambria" pitchFamily="34" charset="0"/>
                <a:ea typeface="Cambria" pitchFamily="34" charset="-122"/>
                <a:cs typeface="Cambria" pitchFamily="34" charset="-120"/>
              </a:rPr>
              <a:t>Phase 1</a:t>
            </a:r>
            <a:endParaRPr lang="en-US" sz="1000" dirty="0"/>
          </a:p>
        </p:txBody>
      </p:sp>
      <p:sp>
        <p:nvSpPr>
          <p:cNvPr id="11" name="Text 9"/>
          <p:cNvSpPr/>
          <p:nvPr/>
        </p:nvSpPr>
        <p:spPr>
          <a:xfrm>
            <a:off x="1600200" y="2468880"/>
            <a:ext cx="228600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Live City Camera Integration:</a:t>
            </a:r>
            <a:endParaRPr lang="en-US" sz="1100" dirty="0"/>
          </a:p>
        </p:txBody>
      </p:sp>
      <p:sp>
        <p:nvSpPr>
          <p:cNvPr id="12" name="Text 10"/>
          <p:cNvSpPr/>
          <p:nvPr/>
        </p:nvSpPr>
        <p:spPr>
          <a:xfrm>
            <a:off x="3931920" y="2468880"/>
            <a:ext cx="4754880" cy="384048"/>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RTSP feed support for direct connection to municipal CCTV networks — no video upload required.</a:t>
            </a:r>
            <a:endParaRPr lang="en-US" sz="1050" dirty="0"/>
          </a:p>
        </p:txBody>
      </p:sp>
      <p:sp>
        <p:nvSpPr>
          <p:cNvPr id="13" name="Shape 11"/>
          <p:cNvSpPr/>
          <p:nvPr/>
        </p:nvSpPr>
        <p:spPr>
          <a:xfrm>
            <a:off x="457200" y="2999232"/>
            <a:ext cx="1005840" cy="384048"/>
          </a:xfrm>
          <a:prstGeom prst="roundRect">
            <a:avLst>
              <a:gd name="adj" fmla="val 14286"/>
            </a:avLst>
          </a:prstGeom>
          <a:solidFill>
            <a:srgbClr val="0D9488"/>
          </a:solidFill>
          <a:ln/>
        </p:spPr>
      </p:sp>
      <p:sp>
        <p:nvSpPr>
          <p:cNvPr id="14" name="Text 12"/>
          <p:cNvSpPr/>
          <p:nvPr/>
        </p:nvSpPr>
        <p:spPr>
          <a:xfrm>
            <a:off x="457200" y="2999232"/>
            <a:ext cx="1005840" cy="384048"/>
          </a:xfrm>
          <a:prstGeom prst="rect">
            <a:avLst/>
          </a:prstGeom>
          <a:noFill/>
          <a:ln/>
        </p:spPr>
        <p:txBody>
          <a:bodyPr wrap="square" lIns="0" tIns="0" rIns="0" bIns="0" rtlCol="0" anchor="ctr"/>
          <a:lstStyle/>
          <a:p>
            <a:pPr marL="0" indent="0" algn="ctr">
              <a:buNone/>
            </a:pPr>
            <a:r>
              <a:rPr lang="en-US" sz="1000" b="1" dirty="0">
                <a:solidFill>
                  <a:srgbClr val="0F172A"/>
                </a:solidFill>
                <a:latin typeface="Cambria" pitchFamily="34" charset="0"/>
                <a:ea typeface="Cambria" pitchFamily="34" charset="-122"/>
                <a:cs typeface="Cambria" pitchFamily="34" charset="-120"/>
              </a:rPr>
              <a:t>Phase 2</a:t>
            </a:r>
            <a:endParaRPr lang="en-US" sz="1000" dirty="0"/>
          </a:p>
        </p:txBody>
      </p:sp>
      <p:sp>
        <p:nvSpPr>
          <p:cNvPr id="15" name="Text 13"/>
          <p:cNvSpPr/>
          <p:nvPr/>
        </p:nvSpPr>
        <p:spPr>
          <a:xfrm>
            <a:off x="1600200" y="2999232"/>
            <a:ext cx="228600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Edge Computing Deployment:</a:t>
            </a:r>
            <a:endParaRPr lang="en-US" sz="1100" dirty="0"/>
          </a:p>
        </p:txBody>
      </p:sp>
      <p:sp>
        <p:nvSpPr>
          <p:cNvPr id="16" name="Text 14"/>
          <p:cNvSpPr/>
          <p:nvPr/>
        </p:nvSpPr>
        <p:spPr>
          <a:xfrm>
            <a:off x="3931920" y="2999232"/>
            <a:ext cx="4754880" cy="384048"/>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Advanced edge-computing deployment on roadside hardware for sub-100ms latency detection.</a:t>
            </a:r>
            <a:endParaRPr lang="en-US" sz="1050" dirty="0"/>
          </a:p>
        </p:txBody>
      </p:sp>
      <p:sp>
        <p:nvSpPr>
          <p:cNvPr id="17" name="Shape 15"/>
          <p:cNvSpPr/>
          <p:nvPr/>
        </p:nvSpPr>
        <p:spPr>
          <a:xfrm>
            <a:off x="457200" y="3529584"/>
            <a:ext cx="1005840" cy="384048"/>
          </a:xfrm>
          <a:prstGeom prst="roundRect">
            <a:avLst>
              <a:gd name="adj" fmla="val 14286"/>
            </a:avLst>
          </a:prstGeom>
          <a:solidFill>
            <a:srgbClr val="0D9488"/>
          </a:solidFill>
          <a:ln/>
        </p:spPr>
      </p:sp>
      <p:sp>
        <p:nvSpPr>
          <p:cNvPr id="18" name="Text 16"/>
          <p:cNvSpPr/>
          <p:nvPr/>
        </p:nvSpPr>
        <p:spPr>
          <a:xfrm>
            <a:off x="457200" y="3529584"/>
            <a:ext cx="1005840" cy="384048"/>
          </a:xfrm>
          <a:prstGeom prst="rect">
            <a:avLst/>
          </a:prstGeom>
          <a:noFill/>
          <a:ln/>
        </p:spPr>
        <p:txBody>
          <a:bodyPr wrap="square" lIns="0" tIns="0" rIns="0" bIns="0" rtlCol="0" anchor="ctr"/>
          <a:lstStyle/>
          <a:p>
            <a:pPr marL="0" indent="0" algn="ctr">
              <a:buNone/>
            </a:pPr>
            <a:r>
              <a:rPr lang="en-US" sz="1000" b="1" dirty="0">
                <a:solidFill>
                  <a:srgbClr val="0F172A"/>
                </a:solidFill>
                <a:latin typeface="Cambria" pitchFamily="34" charset="0"/>
                <a:ea typeface="Cambria" pitchFamily="34" charset="-122"/>
                <a:cs typeface="Cambria" pitchFamily="34" charset="-120"/>
              </a:rPr>
              <a:t>Phase 3</a:t>
            </a:r>
            <a:endParaRPr lang="en-US" sz="1000" dirty="0"/>
          </a:p>
        </p:txBody>
      </p:sp>
      <p:sp>
        <p:nvSpPr>
          <p:cNvPr id="19" name="Text 17"/>
          <p:cNvSpPr/>
          <p:nvPr/>
        </p:nvSpPr>
        <p:spPr>
          <a:xfrm>
            <a:off x="1600200" y="3529584"/>
            <a:ext cx="228600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Emergency API Integration:</a:t>
            </a:r>
            <a:endParaRPr lang="en-US" sz="1100" dirty="0"/>
          </a:p>
        </p:txBody>
      </p:sp>
      <p:sp>
        <p:nvSpPr>
          <p:cNvPr id="20" name="Text 18"/>
          <p:cNvSpPr/>
          <p:nvPr/>
        </p:nvSpPr>
        <p:spPr>
          <a:xfrm>
            <a:off x="3931920" y="3529584"/>
            <a:ext cx="4754880" cy="384048"/>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Automated API hooks for direct emergency dispatcher integration — zero human relay required.</a:t>
            </a:r>
            <a:endParaRPr lang="en-US" sz="105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50042"/>
        </a:solidFill>
        <a:effectLst/>
      </p:bgPr>
    </p:bg>
    <p:spTree>
      <p:nvGrpSpPr>
        <p:cNvPr id="1" name=""/>
        <p:cNvGrpSpPr/>
        <p:nvPr/>
      </p:nvGrpSpPr>
      <p:grpSpPr>
        <a:xfrm>
          <a:off x="0" y="0"/>
          <a:ext cx="0" cy="0"/>
          <a:chOff x="0" y="0"/>
          <a:chExt cx="0" cy="0"/>
        </a:xfrm>
      </p:grpSpPr>
      <p:sp>
        <p:nvSpPr>
          <p:cNvPr id="26" name="Rectangle 25"/>
          <p:cNvSpPr/>
          <p:nvPr/>
        </p:nvSpPr>
        <p:spPr>
          <a:xfrm>
            <a:off x="1729273" y="2643674"/>
            <a:ext cx="4468160" cy="369332"/>
          </a:xfrm>
          <a:prstGeom prst="rect">
            <a:avLst/>
          </a:prstGeom>
        </p:spPr>
        <p:txBody>
          <a:bodyPr wrap="square">
            <a:spAutoFit/>
          </a:bodyPr>
          <a:lstStyle/>
          <a:p>
            <a:pPr algn="ctr"/>
            <a:r>
              <a:rPr lang="en-US" b="1" dirty="0" smtClean="0">
                <a:solidFill>
                  <a:srgbClr val="FBBF24"/>
                </a:solidFill>
                <a:latin typeface="Cambria" panose="02040503050406030204" pitchFamily="18" charset="0"/>
                <a:ea typeface="Cambria" panose="02040503050406030204" pitchFamily="18" charset="0"/>
                <a:cs typeface="Cambria" panose="02040503050406030204" pitchFamily="18" charset="0"/>
              </a:rPr>
              <a:t>Thank you for your time.  Any questions?</a:t>
            </a:r>
            <a:endParaRPr lang="en-US" dirty="0">
              <a:effectLst/>
            </a:endParaRPr>
          </a:p>
        </p:txBody>
      </p:sp>
      <p:sp>
        <p:nvSpPr>
          <p:cNvPr id="27" name="Rectangle 26"/>
          <p:cNvSpPr/>
          <p:nvPr/>
        </p:nvSpPr>
        <p:spPr>
          <a:xfrm>
            <a:off x="0" y="171061"/>
            <a:ext cx="1609883" cy="369332"/>
          </a:xfrm>
          <a:prstGeom prst="rect">
            <a:avLst/>
          </a:prstGeom>
        </p:spPr>
        <p:txBody>
          <a:bodyPr wrap="square">
            <a:spAutoFit/>
          </a:bodyPr>
          <a:lstStyle/>
          <a:p>
            <a:pPr algn="ctr"/>
            <a:r>
              <a:rPr lang="en-US" b="1" dirty="0" smtClean="0">
                <a:solidFill>
                  <a:srgbClr val="FBBF24"/>
                </a:solidFill>
                <a:latin typeface="Cambria" panose="02040503050406030204" pitchFamily="18" charset="0"/>
                <a:ea typeface="Cambria" panose="02040503050406030204" pitchFamily="18" charset="0"/>
                <a:cs typeface="Cambria" panose="02040503050406030204" pitchFamily="18" charset="0"/>
              </a:rPr>
              <a:t>Demo Video</a:t>
            </a:r>
            <a:endParaRPr lang="en-US" dirty="0">
              <a:effectLst/>
            </a:endParaRPr>
          </a:p>
        </p:txBody>
      </p:sp>
      <p:sp>
        <p:nvSpPr>
          <p:cNvPr id="28" name="Rectangle 27"/>
          <p:cNvSpPr/>
          <p:nvPr/>
        </p:nvSpPr>
        <p:spPr>
          <a:xfrm>
            <a:off x="152399" y="805543"/>
            <a:ext cx="4674637" cy="923330"/>
          </a:xfrm>
          <a:prstGeom prst="rect">
            <a:avLst/>
          </a:prstGeom>
        </p:spPr>
        <p:txBody>
          <a:bodyPr wrap="square">
            <a:spAutoFit/>
          </a:bodyPr>
          <a:lstStyle/>
          <a:p>
            <a:pPr algn="ctr"/>
            <a:r>
              <a:rPr lang="en-US" dirty="0">
                <a:hlinkClick r:id="rId3"/>
              </a:rPr>
              <a:t>https://</a:t>
            </a:r>
            <a:r>
              <a:rPr lang="en-US" dirty="0" smtClean="0">
                <a:hlinkClick r:id="rId3"/>
              </a:rPr>
              <a:t>drive.google.com/file/d/1DqW3HT1B8ZU6OsR59JP42z2np5i4WR5Z/view?usp=sharing</a:t>
            </a:r>
            <a:endParaRPr lang="en-US" dirty="0" smtClean="0"/>
          </a:p>
          <a:p>
            <a:pPr algn="ctr"/>
            <a:endParaRPr lang="en-US" dirty="0">
              <a:effectLst/>
            </a:endParaRPr>
          </a:p>
        </p:txBody>
      </p:sp>
    </p:spTree>
    <p:extLst>
      <p:ext uri="{BB962C8B-B14F-4D97-AF65-F5344CB8AC3E}">
        <p14:creationId xmlns:p14="http://schemas.microsoft.com/office/powerpoint/2010/main" val="29886519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4511</Words>
  <Application>Microsoft Office PowerPoint</Application>
  <PresentationFormat>On-screen Show (16:9)</PresentationFormat>
  <Paragraphs>539</Paragraphs>
  <Slides>39</Slides>
  <Notes>38</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Road Inspection System (SRIS)</dc:title>
  <dc:subject>PptxGenJS Presentation</dc:subject>
  <dc:creator>PptxGenJS</dc:creator>
  <cp:lastModifiedBy>mdr</cp:lastModifiedBy>
  <cp:revision>10</cp:revision>
  <dcterms:created xsi:type="dcterms:W3CDTF">2026-06-12T23:20:30Z</dcterms:created>
  <dcterms:modified xsi:type="dcterms:W3CDTF">2026-06-13T02:05:31Z</dcterms:modified>
</cp:coreProperties>
</file>